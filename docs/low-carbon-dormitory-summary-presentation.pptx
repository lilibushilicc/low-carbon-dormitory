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5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32120" y="0"/>
            <a:ext cx="3611880" cy="5143500"/>
          </a:xfrm>
          <a:prstGeom prst="rect">
            <a:avLst/>
          </a:prstGeom>
          <a:solidFill>
            <a:srgbClr val="DDEEDD"/>
          </a:solidFill>
          <a:ln w="6350">
            <a:solidFill>
              <a:srgbClr val="DDEE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97880" y="457200"/>
            <a:ext cx="356616" cy="627644"/>
          </a:xfrm>
          <a:prstGeom prst="ellipse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54791" y="542788"/>
            <a:ext cx="57059" cy="39227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0" y="457200"/>
            <a:ext cx="356616" cy="627644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97791" y="542788"/>
            <a:ext cx="57059" cy="39227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97880" y="1508760"/>
            <a:ext cx="356616" cy="627644"/>
          </a:xfrm>
          <a:prstGeom prst="ellipse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54791" y="1594348"/>
            <a:ext cx="57059" cy="39227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0" y="1508760"/>
            <a:ext cx="356616" cy="627644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97791" y="1594348"/>
            <a:ext cx="57059" cy="39227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97880" y="2560320"/>
            <a:ext cx="356616" cy="627644"/>
          </a:xfrm>
          <a:prstGeom prst="ellipse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54791" y="2645908"/>
            <a:ext cx="57059" cy="39227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0" y="2560320"/>
            <a:ext cx="356616" cy="627644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97791" y="2645908"/>
            <a:ext cx="57059" cy="39227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3611880"/>
            <a:ext cx="356616" cy="627644"/>
          </a:xfrm>
          <a:prstGeom prst="ellipse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54791" y="3697468"/>
            <a:ext cx="57059" cy="39227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0" y="3611880"/>
            <a:ext cx="356616" cy="627644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97791" y="3697468"/>
            <a:ext cx="57059" cy="39227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658368"/>
            <a:ext cx="164592" cy="2651760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80467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96112" y="144475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DDEE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项目总结汇报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96112" y="2057400"/>
            <a:ext cx="4343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宿舍水电账务 | 低碳积分 | 排行看板 | 奖励兑换 | 管理配置</a:t>
            </a:r>
            <a:endParaRPr lang="en-US" sz="1280" dirty="0"/>
          </a:p>
        </p:txBody>
      </p:sp>
      <p:sp>
        <p:nvSpPr>
          <p:cNvPr id="24" name="Shape 22"/>
          <p:cNvSpPr/>
          <p:nvPr/>
        </p:nvSpPr>
        <p:spPr>
          <a:xfrm>
            <a:off x="896112" y="2880360"/>
            <a:ext cx="749808" cy="256032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32688" y="2944368"/>
            <a:ext cx="6766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764792" y="2880360"/>
            <a:ext cx="1143000" cy="256032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01368" y="2944368"/>
            <a:ext cx="10698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063240" y="2880360"/>
            <a:ext cx="1060704" cy="256032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9816" y="2944368"/>
            <a:ext cx="98755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279392" y="2880360"/>
            <a:ext cx="822960" cy="256032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15968" y="2944368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96112" y="429768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DEE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2026-05-13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项目定位：从缴费系统升级为低碳运营系统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94360" y="1060704"/>
            <a:ext cx="233172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60704"/>
            <a:ext cx="2331720" cy="42062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2070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学生侧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95528" y="1874520"/>
            <a:ext cx="18745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查询、缴费、历史、积分、兑换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83280" y="1060704"/>
            <a:ext cx="233172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060704"/>
            <a:ext cx="2331720" cy="420624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2070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84448" y="1874520"/>
            <a:ext cx="18745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规则、学生、奖励、扣费、总览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060704"/>
            <a:ext cx="233172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060704"/>
            <a:ext cx="2331720" cy="420624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12070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低碳运营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73368" y="1874520"/>
            <a:ext cx="18745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费用数据转化为碳排、排行和激励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58368" y="4059936"/>
            <a:ext cx="7818120" cy="292608"/>
          </a:xfrm>
          <a:prstGeom prst="rect">
            <a:avLst/>
          </a:prstGeom>
          <a:solidFill>
            <a:srgbClr val="DDEEDD"/>
          </a:solidFill>
          <a:ln w="6350">
            <a:solidFill>
              <a:srgbClr val="DDEE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142232"/>
            <a:ext cx="7315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核心价值：让宿舍能耗从“可查询”进一步变成“可管理、可比较、可激励”。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502920" y="47183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8321040" y="4645152"/>
            <a:ext cx="329184" cy="219456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21040" y="469087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总体架构：前后端分层，交付目录清晰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58368" y="1060704"/>
            <a:ext cx="2267712" cy="2743200"/>
          </a:xfrm>
          <a:prstGeom prst="rect">
            <a:avLst/>
          </a:prstGeom>
          <a:solidFill>
            <a:srgbClr val="F5FB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060704"/>
            <a:ext cx="2267712" cy="42062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207008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前端应用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68680" y="1737360"/>
            <a:ext cx="310896" cy="310896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8105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07592" y="176479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68680" y="2084832"/>
            <a:ext cx="310896" cy="310896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1579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07592" y="2112264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/ Vue Router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2432304"/>
            <a:ext cx="310896" cy="310896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50545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07592" y="24597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 / Axios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68680" y="2779776"/>
            <a:ext cx="310896" cy="310896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85292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07592" y="28072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 / Ant Design Vue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3127248"/>
            <a:ext cx="310896" cy="310896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20040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07592" y="315468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ECharts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47288" y="1060704"/>
            <a:ext cx="2267712" cy="2743200"/>
          </a:xfrm>
          <a:prstGeom prst="rect">
            <a:avLst/>
          </a:prstGeom>
          <a:solidFill>
            <a:srgbClr val="F5FB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47288" y="1060704"/>
            <a:ext cx="2267712" cy="420624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93592" y="1207008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后端服务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0" y="1737360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18105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6512" y="176479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3.4.4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57600" y="2084832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1579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096512" y="2112264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17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0" y="2432304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250545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096512" y="24597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MyBatis-Plus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57600" y="2779776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285292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096512" y="28072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0" y="3127248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20040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96512" y="3154680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MockMvc / JUnit 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36208" y="1060704"/>
            <a:ext cx="2267712" cy="2743200"/>
          </a:xfrm>
          <a:prstGeom prst="rect">
            <a:avLst/>
          </a:prstGeom>
          <a:solidFill>
            <a:srgbClr val="FFF4D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6208" y="1060704"/>
            <a:ext cx="2267712" cy="420624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1207008"/>
            <a:ext cx="13716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数据与交付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446520" y="1737360"/>
            <a:ext cx="310896" cy="310896"/>
          </a:xfrm>
          <a:prstGeom prst="ellipse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18105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85432" y="176479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46520" y="2084832"/>
            <a:ext cx="310896" cy="310896"/>
          </a:xfrm>
          <a:prstGeom prst="ellipse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21579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885432" y="2112264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 项目文档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46520" y="2432304"/>
            <a:ext cx="310896" cy="310896"/>
          </a:xfrm>
          <a:prstGeom prst="ellipse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46520" y="250545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885432" y="2459736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log/ 运行与构建日志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46520" y="2779776"/>
            <a:ext cx="310896" cy="310896"/>
          </a:xfrm>
          <a:prstGeom prst="ellipse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46520" y="285292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885432" y="2807208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release/package/ 发布包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02920" y="47183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8321040" y="4645152"/>
            <a:ext cx="329184" cy="219456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21040" y="469087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核心功能地图：查询、支付、结算、激励闭环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977640" y="1828800"/>
            <a:ext cx="1188720" cy="1188720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24528" y="217627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96012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960120"/>
            <a:ext cx="128016" cy="512064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14300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登录注册</a:t>
            </a:r>
            <a:endParaRPr lang="en-US" sz="920" dirty="0"/>
          </a:p>
        </p:txBody>
      </p:sp>
      <p:sp>
        <p:nvSpPr>
          <p:cNvPr id="8" name="Shape 6"/>
          <p:cNvSpPr/>
          <p:nvPr/>
        </p:nvSpPr>
        <p:spPr>
          <a:xfrm>
            <a:off x="2331720" y="68580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685800"/>
            <a:ext cx="128016" cy="512064"/>
          </a:xfrm>
          <a:prstGeom prst="rect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51176" y="86868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水电查询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5532120" y="68580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32120" y="685800"/>
            <a:ext cx="128016" cy="512064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51576" y="86868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缴费历史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315200" y="96012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0" y="960120"/>
            <a:ext cx="128016" cy="51206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34656" y="114300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低碳看板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22960" y="324612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3246120"/>
            <a:ext cx="128016" cy="51206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2416" y="342900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规则配置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2514600" y="352044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3520440"/>
            <a:ext cx="128016" cy="512064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34056" y="370332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奖励兑换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5532120" y="352044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32120" y="3520440"/>
            <a:ext cx="128016" cy="512064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51576" y="370332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学生管理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315200" y="3246120"/>
            <a:ext cx="11430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3246120"/>
            <a:ext cx="128016" cy="512064"/>
          </a:xfrm>
          <a:prstGeom prst="rect">
            <a:avLst/>
          </a:prstGeom>
          <a:solidFill>
            <a:srgbClr val="B85042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34656" y="3429000"/>
            <a:ext cx="74980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宿舍扣费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005840" y="4361688"/>
            <a:ext cx="7132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业务围绕“数据进入 - 账务变化 - 积分结算 - 行为激励 - 管理配置”展开。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502920" y="47183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8321040" y="4645152"/>
            <a:ext cx="329184" cy="219456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0" y="469087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水电与支付链路：从余额到账单再到积分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21792" y="1243584"/>
            <a:ext cx="1664208" cy="2148840"/>
          </a:xfrm>
          <a:prstGeom prst="rect">
            <a:avLst/>
          </a:prstGeom>
          <a:solidFill>
            <a:srgbClr val="F5FB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463040"/>
            <a:ext cx="310896" cy="310896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53619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190195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查询余额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86384" y="23042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余额、单价、可用量、扣费时间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04872" y="2139696"/>
            <a:ext cx="310896" cy="310896"/>
          </a:xfrm>
          <a:prstGeom prst="chevron">
            <a:avLst/>
          </a:prstGeom>
          <a:solidFill>
            <a:srgbClr val="DDEEDD"/>
          </a:solidFill>
          <a:ln w="12700">
            <a:solidFill>
              <a:srgbClr val="DDEE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9192" y="1243584"/>
            <a:ext cx="1664208" cy="2148840"/>
          </a:xfrm>
          <a:prstGeom prst="rect">
            <a:avLst/>
          </a:prstGeom>
          <a:solidFill>
            <a:srgbClr val="F7F5E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43784" y="1463040"/>
            <a:ext cx="310896" cy="310896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3784" y="153619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43784" y="190195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创建订单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843784" y="23042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选择费用类型、金额和支付方式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62272" y="2139696"/>
            <a:ext cx="310896" cy="310896"/>
          </a:xfrm>
          <a:prstGeom prst="chevron">
            <a:avLst/>
          </a:prstGeom>
          <a:solidFill>
            <a:srgbClr val="DDEEDD"/>
          </a:solidFill>
          <a:ln w="12700">
            <a:solidFill>
              <a:srgbClr val="DDEE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6592" y="1243584"/>
            <a:ext cx="1664208" cy="2148840"/>
          </a:xfrm>
          <a:prstGeom prst="rect">
            <a:avLst/>
          </a:prstGeom>
          <a:solidFill>
            <a:srgbClr val="F5FB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01184" y="1463040"/>
            <a:ext cx="310896" cy="310896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53619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01184" y="190195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支付成功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01184" y="23042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更新余额并写入费用流水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19672" y="2139696"/>
            <a:ext cx="310896" cy="310896"/>
          </a:xfrm>
          <a:prstGeom prst="chevron">
            <a:avLst/>
          </a:prstGeom>
          <a:solidFill>
            <a:srgbClr val="DDEEDD"/>
          </a:solidFill>
          <a:ln w="12700">
            <a:solidFill>
              <a:srgbClr val="DDEE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1243584"/>
            <a:ext cx="1664208" cy="2148840"/>
          </a:xfrm>
          <a:prstGeom prst="rect">
            <a:avLst/>
          </a:prstGeom>
          <a:solidFill>
            <a:srgbClr val="F7F5E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58584" y="1463040"/>
            <a:ext cx="310896" cy="310896"/>
          </a:xfrm>
          <a:prstGeom prst="ellipse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58584" y="153619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58584" y="1901952"/>
            <a:ext cx="1152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积分结算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58584" y="230428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同步个人积分和宿舍周期积分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5800" y="3977640"/>
            <a:ext cx="7772400" cy="32918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4078224"/>
            <a:ext cx="7223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桌面端和移动端复用业务链路，移动端通过 stuNum / dormId / source 参数保持跳转闭环。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502920" y="47183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8321040" y="4645152"/>
            <a:ext cx="329184" cy="219456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21040" y="469087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低碳看板与奖励：把费用数据转化为行为激励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13232" y="1060704"/>
            <a:ext cx="3566160" cy="30540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864608" y="1060704"/>
            <a:ext cx="3566160" cy="30540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060704"/>
            <a:ext cx="3566160" cy="42062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07008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低碳看板</a:t>
            </a:r>
            <a:endParaRPr lang="en-US" sz="1280" dirty="0"/>
          </a:p>
        </p:txBody>
      </p:sp>
      <p:sp>
        <p:nvSpPr>
          <p:cNvPr id="7" name="Shape 5"/>
          <p:cNvSpPr/>
          <p:nvPr/>
        </p:nvSpPr>
        <p:spPr>
          <a:xfrm>
            <a:off x="960120" y="1810512"/>
            <a:ext cx="621792" cy="621792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057400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用量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47672" y="1810512"/>
            <a:ext cx="621792" cy="621792"/>
          </a:xfrm>
          <a:prstGeom prst="ellipse">
            <a:avLst/>
          </a:prstGeom>
          <a:solidFill>
            <a:srgbClr val="DDEEDD"/>
          </a:solidFill>
          <a:ln w="6350">
            <a:solidFill>
              <a:srgbClr val="DDEE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20824" y="2057400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碳排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35224" y="1810512"/>
            <a:ext cx="621792" cy="621792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08376" y="2057400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60120" y="2560320"/>
            <a:ext cx="621792" cy="621792"/>
          </a:xfrm>
          <a:prstGeom prst="ellipse">
            <a:avLst/>
          </a:prstGeom>
          <a:solidFill>
            <a:srgbClr val="DDEEDD"/>
          </a:solidFill>
          <a:ln w="6350">
            <a:solidFill>
              <a:srgbClr val="DDEE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2807208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47672" y="2560320"/>
            <a:ext cx="621792" cy="621792"/>
          </a:xfrm>
          <a:prstGeom prst="ellipse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0824" y="2807208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935224" y="2560320"/>
            <a:ext cx="621792" cy="621792"/>
          </a:xfrm>
          <a:prstGeom prst="ellipse">
            <a:avLst/>
          </a:prstGeom>
          <a:solidFill>
            <a:srgbClr val="DDEEDD"/>
          </a:solidFill>
          <a:ln w="6350">
            <a:solidFill>
              <a:srgbClr val="DDEE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08376" y="2807208"/>
            <a:ext cx="47548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87552" y="3511296"/>
            <a:ext cx="2907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费用历史、水电单价和低碳规则共同生成个人看板与宿舍总览。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4864608" y="1060704"/>
            <a:ext cx="3566160" cy="420624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1207008"/>
            <a:ext cx="1188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奖励兑换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5349240" y="1783080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185623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88152" y="1810512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当前个人积分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49240" y="2130552"/>
            <a:ext cx="310896" cy="310896"/>
          </a:xfrm>
          <a:prstGeom prst="ellipse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20370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88152" y="2157984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可兑换差距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49240" y="2478024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255117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88152" y="2505456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奖励列表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49240" y="2825496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49240" y="2898648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88152" y="2852928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兑换记录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49240" y="3172968"/>
            <a:ext cx="310896" cy="31089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24612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88152" y="3200400"/>
            <a:ext cx="2167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库存维护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7183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321040" y="4645152"/>
            <a:ext cx="329184" cy="219456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1040" y="469087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移动端嵌入链路：外部 App WebView 直达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13232" y="987552"/>
            <a:ext cx="1261872" cy="2331720"/>
          </a:xfrm>
          <a:prstGeom prst="rect">
            <a:avLst/>
          </a:prstGeom>
          <a:solidFill>
            <a:srgbClr val="1F293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207008"/>
            <a:ext cx="1042416" cy="1792224"/>
          </a:xfrm>
          <a:prstGeom prst="rect">
            <a:avLst/>
          </a:prstGeom>
          <a:solidFill>
            <a:srgbClr val="F5FBF7"/>
          </a:solidFill>
          <a:ln w="6350">
            <a:solidFill>
              <a:srgbClr val="F5FB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23113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/water-electricity-antd</a:t>
            </a:r>
            <a:endParaRPr lang="en-US" sz="640" dirty="0"/>
          </a:p>
        </p:txBody>
      </p:sp>
      <p:sp>
        <p:nvSpPr>
          <p:cNvPr id="7" name="Shape 5"/>
          <p:cNvSpPr/>
          <p:nvPr/>
        </p:nvSpPr>
        <p:spPr>
          <a:xfrm>
            <a:off x="2139696" y="1993392"/>
            <a:ext cx="329184" cy="329184"/>
          </a:xfrm>
          <a:prstGeom prst="chevron">
            <a:avLst/>
          </a:prstGeom>
          <a:solidFill>
            <a:srgbClr val="DDEEDD"/>
          </a:solidFill>
          <a:ln w="12700">
            <a:solidFill>
              <a:srgbClr val="DDEE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987552"/>
            <a:ext cx="1261872" cy="2331720"/>
          </a:xfrm>
          <a:prstGeom prst="rect">
            <a:avLst/>
          </a:prstGeom>
          <a:solidFill>
            <a:srgbClr val="1F293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1207008"/>
            <a:ext cx="1042416" cy="1792224"/>
          </a:xfrm>
          <a:prstGeom prst="rect">
            <a:avLst/>
          </a:prstGeom>
          <a:solidFill>
            <a:srgbClr val="F5FBF7"/>
          </a:solidFill>
          <a:ln w="6350">
            <a:solidFill>
              <a:srgbClr val="F5FB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16916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缴费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223113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/pay-up-antd</a:t>
            </a:r>
            <a:endParaRPr lang="en-US" sz="640" dirty="0"/>
          </a:p>
        </p:txBody>
      </p:sp>
      <p:sp>
        <p:nvSpPr>
          <p:cNvPr id="12" name="Shape 10"/>
          <p:cNvSpPr/>
          <p:nvPr/>
        </p:nvSpPr>
        <p:spPr>
          <a:xfrm>
            <a:off x="4169664" y="1993392"/>
            <a:ext cx="329184" cy="329184"/>
          </a:xfrm>
          <a:prstGeom prst="chevron">
            <a:avLst/>
          </a:prstGeom>
          <a:solidFill>
            <a:srgbClr val="DDEEDD"/>
          </a:solidFill>
          <a:ln w="12700">
            <a:solidFill>
              <a:srgbClr val="DDEE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73168" y="987552"/>
            <a:ext cx="1261872" cy="2331720"/>
          </a:xfrm>
          <a:prstGeom prst="rect">
            <a:avLst/>
          </a:prstGeom>
          <a:solidFill>
            <a:srgbClr val="1F293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82896" y="1207008"/>
            <a:ext cx="1042416" cy="1792224"/>
          </a:xfrm>
          <a:prstGeom prst="rect">
            <a:avLst/>
          </a:prstGeom>
          <a:solidFill>
            <a:srgbClr val="F5FBF7"/>
          </a:solidFill>
          <a:ln w="6350">
            <a:solidFill>
              <a:srgbClr val="F5FB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65776" y="16916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56048" y="223113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/history-fee-antd</a:t>
            </a:r>
            <a:endParaRPr lang="en-US" sz="640" dirty="0"/>
          </a:p>
        </p:txBody>
      </p:sp>
      <p:sp>
        <p:nvSpPr>
          <p:cNvPr id="17" name="Shape 15"/>
          <p:cNvSpPr/>
          <p:nvPr/>
        </p:nvSpPr>
        <p:spPr>
          <a:xfrm>
            <a:off x="6199632" y="1993392"/>
            <a:ext cx="329184" cy="329184"/>
          </a:xfrm>
          <a:prstGeom prst="chevron">
            <a:avLst/>
          </a:prstGeom>
          <a:solidFill>
            <a:srgbClr val="DDEEDD"/>
          </a:solidFill>
          <a:ln w="12700">
            <a:solidFill>
              <a:srgbClr val="DDEE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03136" y="987552"/>
            <a:ext cx="1261872" cy="2331720"/>
          </a:xfrm>
          <a:prstGeom prst="rect">
            <a:avLst/>
          </a:prstGeom>
          <a:solidFill>
            <a:srgbClr val="1F2937"/>
          </a:solidFill>
          <a:ln w="6350">
            <a:solidFill>
              <a:srgbClr val="1F29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2864" y="1207008"/>
            <a:ext cx="1042416" cy="1792224"/>
          </a:xfrm>
          <a:prstGeom prst="rect">
            <a:avLst/>
          </a:prstGeom>
          <a:solidFill>
            <a:srgbClr val="FFF4D6"/>
          </a:solidFill>
          <a:ln w="6350">
            <a:solidFill>
              <a:srgbClr val="FFF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95744" y="169164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86016" y="223113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64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/reward-exchange-antd</a:t>
            </a:r>
            <a:endParaRPr lang="en-US" sz="640" dirty="0"/>
          </a:p>
        </p:txBody>
      </p:sp>
      <p:sp>
        <p:nvSpPr>
          <p:cNvPr id="22" name="Shape 20"/>
          <p:cNvSpPr/>
          <p:nvPr/>
        </p:nvSpPr>
        <p:spPr>
          <a:xfrm>
            <a:off x="822960" y="3877056"/>
            <a:ext cx="7498080" cy="384048"/>
          </a:xfrm>
          <a:prstGeom prst="rect">
            <a:avLst/>
          </a:prstGeom>
          <a:solidFill>
            <a:srgbClr val="DDEEDD"/>
          </a:solidFill>
          <a:ln w="6350">
            <a:solidFill>
              <a:srgbClr val="DDEE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995928"/>
            <a:ext cx="70408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关键参数：stuNum、dormId、source=utility-mobile；奖励页静态资源基址为 /reward-exchange-antd/。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502920" y="47183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321040" y="4645152"/>
            <a:ext cx="329184" cy="219456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469087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权限边界：前端守卫与后端拦截分开看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85800" y="987552"/>
            <a:ext cx="1828800" cy="51206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8952" y="1161288"/>
            <a:ext cx="1682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</a:t>
            </a:r>
            <a:endParaRPr lang="en-US" sz="1020" dirty="0"/>
          </a:p>
        </p:txBody>
      </p:sp>
      <p:sp>
        <p:nvSpPr>
          <p:cNvPr id="5" name="Shape 3"/>
          <p:cNvSpPr/>
          <p:nvPr/>
        </p:nvSpPr>
        <p:spPr>
          <a:xfrm>
            <a:off x="2514600" y="987552"/>
            <a:ext cx="1920240" cy="51206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87752" y="1161288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434840" y="987552"/>
            <a:ext cx="4069080" cy="512064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07992" y="1161288"/>
            <a:ext cx="3922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685800" y="1572768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746504"/>
            <a:ext cx="1682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/admin/**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514600" y="1572768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746504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 token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4434840" y="1572768"/>
            <a:ext cx="4069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07992" y="1746504"/>
            <a:ext cx="3922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后端统一拦截，/admin/login 例外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85800" y="2157984"/>
            <a:ext cx="1828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2331720"/>
            <a:ext cx="1682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/public/student/**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514600" y="2157984"/>
            <a:ext cx="19202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2331720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公开接口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4434840" y="2157984"/>
            <a:ext cx="40690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331720"/>
            <a:ext cx="3922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明确公开的低碳看板查询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685800" y="2743200"/>
            <a:ext cx="1828800" cy="512064"/>
          </a:xfrm>
          <a:prstGeom prst="rect">
            <a:avLst/>
          </a:prstGeom>
          <a:solidFill>
            <a:srgbClr val="FFF4D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2916936"/>
            <a:ext cx="16824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/student/**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2514600" y="2743200"/>
            <a:ext cx="1920240" cy="512064"/>
          </a:xfrm>
          <a:prstGeom prst="rect">
            <a:avLst/>
          </a:prstGeom>
          <a:solidFill>
            <a:srgbClr val="FFF4D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87752" y="2916936"/>
            <a:ext cx="17739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未统一拦截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434840" y="2743200"/>
            <a:ext cx="4069080" cy="512064"/>
          </a:xfrm>
          <a:prstGeom prst="rect">
            <a:avLst/>
          </a:prstGeom>
          <a:solidFill>
            <a:srgbClr val="FFF4D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2916936"/>
            <a:ext cx="3922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多数接口依赖 stuNum 或 dormId 定位数据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685800" y="3730752"/>
            <a:ext cx="7818120" cy="457200"/>
          </a:xfrm>
          <a:prstGeom prst="rect">
            <a:avLst/>
          </a:prstGeom>
          <a:solidFill>
            <a:srgbClr val="B85042"/>
          </a:solidFill>
          <a:ln w="6350">
            <a:solidFill>
              <a:srgbClr val="B850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3877056"/>
            <a:ext cx="722376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风险提示：前端页面需要登录不等于后端接口真实受保护，学生接口鉴权边界应优先收敛。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502920" y="47183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321040" y="4645152"/>
            <a:ext cx="329184" cy="219456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1040" y="469087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部署与交付：目录职责明确，产物统一整理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152144"/>
            <a:ext cx="1600200" cy="2011680"/>
          </a:xfrm>
          <a:prstGeom prst="rect">
            <a:avLst/>
          </a:prstGeom>
          <a:solidFill>
            <a:srgbClr val="F5FB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152144"/>
            <a:ext cx="1600200" cy="438912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07592"/>
            <a:ext cx="1234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6384" y="1901952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low-carbon-dormitory-vue/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low-carbon-dormitory-spring/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697480" y="1152144"/>
            <a:ext cx="1600200" cy="2011680"/>
          </a:xfrm>
          <a:prstGeom prst="rect">
            <a:avLst/>
          </a:prstGeom>
          <a:solidFill>
            <a:srgbClr val="F5FB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97480" y="1152144"/>
            <a:ext cx="1600200" cy="438912"/>
          </a:xfrm>
          <a:prstGeom prst="rect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307592"/>
            <a:ext cx="1234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843784" y="1901952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功能、架构、部署说明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754880" y="1152144"/>
            <a:ext cx="1600200" cy="2011680"/>
          </a:xfrm>
          <a:prstGeom prst="rect">
            <a:avLst/>
          </a:prstGeom>
          <a:solidFill>
            <a:srgbClr val="FFF4D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152144"/>
            <a:ext cx="1600200" cy="438912"/>
          </a:xfrm>
          <a:prstGeom prst="rect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307592"/>
            <a:ext cx="1234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1184" y="1901952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log/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运行与构建排查记录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812280" y="1152144"/>
            <a:ext cx="1600200" cy="2011680"/>
          </a:xfrm>
          <a:prstGeom prst="rect">
            <a:avLst/>
          </a:prstGeom>
          <a:solidFill>
            <a:srgbClr val="F5FBF7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12280" y="1152144"/>
            <a:ext cx="1600200" cy="438912"/>
          </a:xfrm>
          <a:prstGeom prst="rect">
            <a:avLst/>
          </a:prstGeom>
          <a:solidFill>
            <a:srgbClr val="344E41"/>
          </a:solidFill>
          <a:ln w="6350">
            <a:solidFill>
              <a:srgbClr val="344E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307592"/>
            <a:ext cx="12344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58584" y="1901952"/>
            <a:ext cx="13075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release/package/</a:t>
            </a:r>
            <a:endParaRPr lang="en-US" sz="880" dirty="0"/>
          </a:p>
          <a:p>
            <a:pPr algn="ctr"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release/docker/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60120" y="4169664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6170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打包前清理本次相关日志；前端 dist 与后端 jar 最终整理到 release/package/，不长期保留在源码目录。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502920" y="471830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低碳宿舍管理系统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321040" y="4645152"/>
            <a:ext cx="329184" cy="219456"/>
          </a:xfrm>
          <a:prstGeom prst="rect">
            <a:avLst/>
          </a:prstGeom>
          <a:solidFill>
            <a:srgbClr val="245B3E"/>
          </a:solidFill>
          <a:ln w="6350">
            <a:solidFill>
              <a:srgbClr val="245B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0" y="4690872"/>
            <a:ext cx="329184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5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8001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后续优化方向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024128"/>
            <a:ext cx="310896" cy="310896"/>
          </a:xfrm>
          <a:prstGeom prst="ellipse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298448" y="105156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鉴权收敛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578608" y="1060704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E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明确公开、学生、管理员接口边界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822960" y="1737360"/>
            <a:ext cx="310896" cy="310896"/>
          </a:xfrm>
          <a:prstGeom prst="ellipse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10512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98448" y="176479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支付正式化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578608" y="1773936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E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补齐验签、幂等、订单状态与异常补偿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822960" y="2450592"/>
            <a:ext cx="310896" cy="310896"/>
          </a:xfrm>
          <a:prstGeom prst="ellipse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2374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98448" y="247802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体验统一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578608" y="2487168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E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维护桌面端与移动端组件风格一致性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822960" y="3163824"/>
            <a:ext cx="310896" cy="310896"/>
          </a:xfrm>
          <a:prstGeom prst="ellipse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36976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98448" y="319125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发布回归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578608" y="3200400"/>
            <a:ext cx="4846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DDEE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验证静态资源基址、WebView 直达和代理配置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6309360" y="384048"/>
            <a:ext cx="2194560" cy="4069080"/>
          </a:xfrm>
          <a:prstGeom prst="rect">
            <a:avLst/>
          </a:prstGeom>
          <a:solidFill>
            <a:srgbClr val="DDEEDD"/>
          </a:solidFill>
          <a:ln w="6350">
            <a:solidFill>
              <a:srgbClr val="DDEE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76872" y="914400"/>
            <a:ext cx="548640" cy="965606"/>
          </a:xfrm>
          <a:prstGeom prst="ellipse">
            <a:avLst/>
          </a:prstGeom>
          <a:solidFill>
            <a:srgbClr val="2A7F7F"/>
          </a:solidFill>
          <a:ln w="6350">
            <a:solidFill>
              <a:srgbClr val="2A7F7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18274" y="1046074"/>
            <a:ext cx="87782" cy="603504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33488" y="2057400"/>
            <a:ext cx="457200" cy="804672"/>
          </a:xfrm>
          <a:prstGeom prst="ellipse">
            <a:avLst/>
          </a:prstGeom>
          <a:solidFill>
            <a:srgbClr val="8BB174"/>
          </a:solidFill>
          <a:ln w="6350">
            <a:solidFill>
              <a:srgbClr val="8BB1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34656" y="2167128"/>
            <a:ext cx="73152" cy="5029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93992" y="2971800"/>
            <a:ext cx="411480" cy="724205"/>
          </a:xfrm>
          <a:prstGeom prst="ellipse">
            <a:avLst/>
          </a:prstGeom>
          <a:solidFill>
            <a:srgbClr val="F4B740"/>
          </a:solidFill>
          <a:ln w="6350">
            <a:solidFill>
              <a:srgbClr val="F4B7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75043" y="3070555"/>
            <a:ext cx="65837" cy="452628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3950208"/>
            <a:ext cx="1234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5B3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10528" y="426110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以账务数据为基础，用低碳积分和奖励机制形成宿舍节能运营闭环。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low-carbon-dormitory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低碳宿舍管理系统总结汇报</dc:title>
  <dc:subject>低碳宿舍管理系统总结</dc:subject>
  <dc:creator>Codex</dc:creator>
  <cp:lastModifiedBy>Codex</cp:lastModifiedBy>
  <cp:revision>1</cp:revision>
  <dcterms:created xsi:type="dcterms:W3CDTF">2026-05-13T12:51:13Z</dcterms:created>
  <dcterms:modified xsi:type="dcterms:W3CDTF">2026-05-13T12:51:13Z</dcterms:modified>
</cp:coreProperties>
</file>