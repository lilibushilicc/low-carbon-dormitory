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7"/>
  </p:notesMasterIdLst>
  <p:handoutMasterIdLst>
    <p:handoutMasterId r:id="rId28"/>
  </p:handoutMasterIdLst>
  <p:sldIdLst>
    <p:sldId id="359" r:id="rId3"/>
    <p:sldId id="369" r:id="rId4"/>
    <p:sldId id="360" r:id="rId5"/>
    <p:sldId id="271" r:id="rId6"/>
    <p:sldId id="300" r:id="rId7"/>
    <p:sldId id="375" r:id="rId8"/>
    <p:sldId id="273" r:id="rId9"/>
    <p:sldId id="275" r:id="rId10"/>
    <p:sldId id="287" r:id="rId11"/>
    <p:sldId id="370" r:id="rId12"/>
    <p:sldId id="286" r:id="rId13"/>
    <p:sldId id="267" r:id="rId14"/>
    <p:sldId id="268" r:id="rId15"/>
    <p:sldId id="269" r:id="rId16"/>
    <p:sldId id="282" r:id="rId17"/>
    <p:sldId id="371" r:id="rId18"/>
    <p:sldId id="261" r:id="rId19"/>
    <p:sldId id="283" r:id="rId20"/>
    <p:sldId id="372" r:id="rId21"/>
    <p:sldId id="276" r:id="rId22"/>
    <p:sldId id="280" r:id="rId23"/>
    <p:sldId id="373" r:id="rId24"/>
    <p:sldId id="277" r:id="rId25"/>
    <p:sldId id="374"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C4A8"/>
    <a:srgbClr val="74C5A8"/>
    <a:srgbClr val="384E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6331" autoAdjust="0"/>
  </p:normalViewPr>
  <p:slideViewPr>
    <p:cSldViewPr snapToGrid="0">
      <p:cViewPr varScale="1">
        <p:scale>
          <a:sx n="88" d="100"/>
          <a:sy n="88" d="100"/>
        </p:scale>
        <p:origin x="252"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33643-7337-4ACA-B69A-D7B7F8767690}"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16CD8-904B-4CAF-995A-838CCBBE7C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66711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7</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37482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33263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588EDA8-AA38-4EC8-A4A2-C9E52DD3CCD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F1C2-5536-32D7-3FBC-503AE8C8EB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C119D-A936-D32C-AC77-616AED533C1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6900155-F6AB-1A26-973D-E7DE9CD7707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8BD390-7F81-9C2D-56D5-DF940FC6CEE8}"/>
              </a:ext>
            </a:extLst>
          </p:cNvPr>
          <p:cNvSpPr>
            <a:spLocks noGrp="1"/>
          </p:cNvSpPr>
          <p:nvPr>
            <p:ph type="sldNum" sz="quarter" idx="10"/>
          </p:nvPr>
        </p:nvSpPr>
        <p:spPr/>
        <p:txBody>
          <a:bodyPr/>
          <a:lstStyle/>
          <a:p>
            <a:fld id="{5588EDA8-AA38-4EC8-A4A2-C9E52DD3CCD9}" type="slidenum">
              <a:rPr lang="zh-CN" altLang="en-US" smtClean="0"/>
              <a:t>6</a:t>
            </a:fld>
            <a:endParaRPr lang="zh-CN" altLang="en-US"/>
          </a:p>
        </p:txBody>
      </p:sp>
    </p:spTree>
    <p:extLst>
      <p:ext uri="{BB962C8B-B14F-4D97-AF65-F5344CB8AC3E}">
        <p14:creationId xmlns:p14="http://schemas.microsoft.com/office/powerpoint/2010/main" val="1219061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97833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63834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768606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558836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5590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www.1ppt.com/moban/"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41A977B-AE8F-2E0D-F4DB-E44D4C6A318E}"/>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4"/>
              </a:rPr>
              <a:t>PPT</a:t>
            </a:r>
            <a:r>
              <a:rPr lang="zh-CN" altLang="en-US" sz="100" dirty="0">
                <a:solidFill>
                  <a:prstClr val="black"/>
                </a:solidFill>
                <a:latin typeface="微软雅黑" panose="020B0503020204020204" pitchFamily="34" charset="-122"/>
                <a:ea typeface="微软雅黑" panose="020B0503020204020204" pitchFamily="34" charset="-122"/>
                <a:hlinkClick r:id="rId4"/>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709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775779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47274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81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3FDDC-B8F1-43D3-B348-BC11AB90E5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497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902988" y="1714605"/>
            <a:ext cx="5698800"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noProof="0" dirty="0">
                <a:solidFill>
                  <a:schemeClr val="tx1">
                    <a:lumMod val="85000"/>
                    <a:lumOff val="15000"/>
                  </a:schemeClr>
                </a:solidFill>
                <a:latin typeface="思源黑体 HW Bold" panose="020B0800000000000000" pitchFamily="34" charset="-122"/>
                <a:ea typeface="思源黑体 HW Bold" panose="020B0800000000000000" pitchFamily="34" charset="-122"/>
                <a:cs typeface="+mn-ea"/>
                <a:sym typeface="+mn-lt"/>
              </a:rPr>
              <a:t>绿色低碳智行系统</a:t>
            </a:r>
            <a:endParaRPr kumimoji="1" lang="zh-CN" altLang="en-US" sz="44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endParaRPr>
          </a:p>
        </p:txBody>
      </p: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442674"/>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汇报人：</a:t>
            </a: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A29654F8-88F8-4DCC-D270-A5478C4F0565}"/>
              </a:ext>
            </a:extLst>
          </p:cNvPr>
          <p:cNvSpPr txBox="1"/>
          <p:nvPr/>
        </p:nvSpPr>
        <p:spPr>
          <a:xfrm>
            <a:off x="6098762" y="2604104"/>
            <a:ext cx="5503026" cy="646331"/>
          </a:xfrm>
          <a:prstGeom prst="rect">
            <a:avLst/>
          </a:prstGeom>
          <a:noFill/>
        </p:spPr>
        <p:txBody>
          <a:bodyPr wrap="square" rtlCol="0">
            <a:spAutoFit/>
          </a:bodyPr>
          <a:lstStyle/>
          <a:p>
            <a:pPr algn="r"/>
            <a:r>
              <a:rPr lang="zh-CN" altLang="en-US" dirty="0"/>
              <a:t>聚焦宿舍水电、餐厅餐损与低碳出行，打造校园低碳</a:t>
            </a:r>
            <a:r>
              <a:rPr lang="en-US" altLang="zh-CN" dirty="0"/>
              <a:t>                  </a:t>
            </a:r>
            <a:r>
              <a:rPr lang="zh-CN" altLang="en-US" dirty="0"/>
              <a:t>行为管理与积分激励平台</a:t>
            </a:r>
          </a:p>
        </p:txBody>
      </p:sp>
      <p:sp>
        <p:nvSpPr>
          <p:cNvPr id="3" name="文本框 2">
            <a:extLst>
              <a:ext uri="{FF2B5EF4-FFF2-40B4-BE49-F238E27FC236}">
                <a16:creationId xmlns:a16="http://schemas.microsoft.com/office/drawing/2014/main" id="{B8C75F45-0D76-E3C5-8277-705B4E34E795}"/>
              </a:ext>
            </a:extLst>
          </p:cNvPr>
          <p:cNvSpPr txBox="1"/>
          <p:nvPr/>
        </p:nvSpPr>
        <p:spPr>
          <a:xfrm>
            <a:off x="6417426" y="3409787"/>
            <a:ext cx="5309062" cy="1015663"/>
          </a:xfrm>
          <a:prstGeom prst="rect">
            <a:avLst/>
          </a:prstGeom>
          <a:noFill/>
        </p:spPr>
        <p:txBody>
          <a:bodyPr wrap="square" rtlCol="0">
            <a:spAutoFit/>
          </a:bodyPr>
          <a:lstStyle/>
          <a:p>
            <a:r>
              <a:rPr lang="en-US" altLang="zh-CN" sz="1400" dirty="0"/>
              <a:t>Focus on dormitory water and electricity, restaurant meal damage and low-carbon travel to create a campus low-carbon behavior management and points incentive platform</a:t>
            </a:r>
          </a:p>
          <a:p>
            <a:endParaRPr lang="zh-CN" altLang="en-US" dirty="0"/>
          </a:p>
        </p:txBody>
      </p:sp>
    </p:spTree>
    <p:extLst>
      <p:ext uri="{BB962C8B-B14F-4D97-AF65-F5344CB8AC3E}">
        <p14:creationId xmlns:p14="http://schemas.microsoft.com/office/powerpoint/2010/main" val="2078068261"/>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par>
                                <p:cTn id="49" presetID="22" presetClass="entr" presetSubtype="2"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right)">
                                      <p:cBhvr>
                                        <p:cTn id="51" dur="500"/>
                                        <p:tgtEl>
                                          <p:spTgt spid="32"/>
                                        </p:tgtEl>
                                      </p:cBhvr>
                                    </p:animEffect>
                                  </p:childTnLst>
                                </p:cTn>
                              </p:par>
                            </p:childTnLst>
                          </p:cTn>
                        </p:par>
                        <p:par>
                          <p:cTn id="52" fill="hold">
                            <p:stCondLst>
                              <p:cond delay="2000"/>
                            </p:stCondLst>
                            <p:childTnLst>
                              <p:par>
                                <p:cTn id="53" presetID="53" presetClass="entr" presetSubtype="16"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ppt_w</p:attrName>
                                        </p:attrNameLst>
                                      </p:cBhvr>
                                      <p:tavLst>
                                        <p:tav tm="0">
                                          <p:val>
                                            <p:fltVal val="0"/>
                                          </p:val>
                                        </p:tav>
                                        <p:tav tm="100000">
                                          <p:val>
                                            <p:strVal val="#ppt_w"/>
                                          </p:val>
                                        </p:tav>
                                      </p:tavLst>
                                    </p:anim>
                                    <p:anim calcmode="lin" valueType="num">
                                      <p:cBhvr>
                                        <p:cTn id="56" dur="500" fill="hold"/>
                                        <p:tgtEl>
                                          <p:spTgt spid="29"/>
                                        </p:tgtEl>
                                        <p:attrNameLst>
                                          <p:attrName>ppt_h</p:attrName>
                                        </p:attrNameLst>
                                      </p:cBhvr>
                                      <p:tavLst>
                                        <p:tav tm="0">
                                          <p:val>
                                            <p:fltVal val="0"/>
                                          </p:val>
                                        </p:tav>
                                        <p:tav tm="100000">
                                          <p:val>
                                            <p:strVal val="#ppt_h"/>
                                          </p:val>
                                        </p:tav>
                                      </p:tavLst>
                                    </p:anim>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9" grpId="0"/>
      <p:bldP spid="33" grpId="0" animBg="1"/>
      <p:bldP spid="2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227">
            <a:extLst>
              <a:ext uri="{FF2B5EF4-FFF2-40B4-BE49-F238E27FC236}">
                <a16:creationId xmlns:a16="http://schemas.microsoft.com/office/drawing/2014/main" id="{F1CF15B8-4180-F143-BB06-894410B7194F}"/>
              </a:ext>
            </a:extLst>
          </p:cNvPr>
          <p:cNvSpPr/>
          <p:nvPr/>
        </p:nvSpPr>
        <p:spPr>
          <a:xfrm>
            <a:off x="5784488" y="1332627"/>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a:t>
            </a:r>
            <a:r>
              <a:rPr kumimoji="1" lang="zh-CN" altLang="en-US" dirty="0">
                <a:solidFill>
                  <a:schemeClr val="tx1"/>
                </a:solidFill>
                <a:latin typeface="微软雅黑" panose="020B0503020204020204" pitchFamily="34" charset="-122"/>
                <a:ea typeface="微软雅黑" panose="020B0503020204020204" pitchFamily="34" charset="-122"/>
                <a:cs typeface="+mn-ea"/>
                <a:sym typeface="+mn-lt"/>
              </a:rPr>
              <a:t>概述</a:t>
            </a:r>
            <a:r>
              <a:rPr kumimoji="1" lang="zh-CN" altLang="en-US" dirty="0">
                <a:solidFill>
                  <a:prstClr val="white"/>
                </a:solidFill>
                <a:latin typeface="微软雅黑" panose="020B0503020204020204" pitchFamily="34" charset="-122"/>
                <a:ea typeface="微软雅黑" panose="020B0503020204020204" pitchFamily="34" charset="-122"/>
                <a:cs typeface="+mn-ea"/>
                <a:sym typeface="+mn-lt"/>
              </a:rPr>
              <a:t>概述项目项目</a:t>
            </a: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6" name="圆角矩形 7">
            <a:extLst>
              <a:ext uri="{FF2B5EF4-FFF2-40B4-BE49-F238E27FC236}">
                <a16:creationId xmlns:a16="http://schemas.microsoft.com/office/drawing/2014/main" id="{85790778-0FF6-4001-B61D-2D2D6888D3D6}"/>
              </a:ext>
            </a:extLst>
          </p:cNvPr>
          <p:cNvSpPr/>
          <p:nvPr/>
        </p:nvSpPr>
        <p:spPr>
          <a:xfrm flipH="1">
            <a:off x="4652100" y="1355853"/>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0" name="圆角矩形 21">
            <a:extLst>
              <a:ext uri="{FF2B5EF4-FFF2-40B4-BE49-F238E27FC236}">
                <a16:creationId xmlns:a16="http://schemas.microsoft.com/office/drawing/2014/main" id="{00BC23FC-8393-4F29-B452-8A0B2D3E2830}"/>
              </a:ext>
            </a:extLst>
          </p:cNvPr>
          <p:cNvSpPr/>
          <p:nvPr/>
        </p:nvSpPr>
        <p:spPr>
          <a:xfrm rot="18900000" flipH="1">
            <a:off x="1645695" y="-2496882"/>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2A128FC0-0C1F-46D4-999A-3E5536C845DC}"/>
              </a:ext>
            </a:extLst>
          </p:cNvPr>
          <p:cNvSpPr txBox="1"/>
          <p:nvPr/>
        </p:nvSpPr>
        <p:spPr>
          <a:xfrm>
            <a:off x="2209110" y="1386412"/>
            <a:ext cx="1015663" cy="3871829"/>
          </a:xfrm>
          <a:prstGeom prst="rect">
            <a:avLst/>
          </a:prstGeom>
          <a:noFill/>
        </p:spPr>
        <p:txBody>
          <a:bodyPr vert="eaVert" wrap="none" rtlCol="0">
            <a:spAutoFit/>
          </a:bodyPr>
          <a:lstStyle/>
          <a:p>
            <a:r>
              <a:rPr lang="en-US" altLang="zh-CN" sz="5400" b="1">
                <a:solidFill>
                  <a:schemeClr val="tx1">
                    <a:lumMod val="65000"/>
                    <a:lumOff val="35000"/>
                  </a:schemeClr>
                </a:solidFill>
                <a:latin typeface="思源黑体 CN Heavy" panose="020B0A00000000000000" pitchFamily="34" charset="-122"/>
                <a:ea typeface="思源黑体 CN Heavy" panose="020B0A00000000000000" pitchFamily="34" charset="-122"/>
              </a:rPr>
              <a:t>CONTENTS</a:t>
            </a:r>
            <a:endParaRPr lang="zh-CN" altLang="en-US" sz="5400" b="1">
              <a:solidFill>
                <a:schemeClr val="tx1">
                  <a:lumMod val="65000"/>
                  <a:lumOff val="35000"/>
                </a:schemeClr>
              </a:solidFill>
              <a:latin typeface="思源黑体 CN Heavy" panose="020B0A00000000000000" pitchFamily="34" charset="-122"/>
              <a:ea typeface="思源黑体 CN Heavy" panose="020B0A00000000000000" pitchFamily="34" charset="-122"/>
            </a:endParaRPr>
          </a:p>
        </p:txBody>
      </p:sp>
      <p:sp>
        <p:nvSpPr>
          <p:cNvPr id="6" name="文本框 5">
            <a:extLst>
              <a:ext uri="{FF2B5EF4-FFF2-40B4-BE49-F238E27FC236}">
                <a16:creationId xmlns:a16="http://schemas.microsoft.com/office/drawing/2014/main" id="{D73DB2A5-D673-364A-A772-A541B1143161}"/>
              </a:ext>
            </a:extLst>
          </p:cNvPr>
          <p:cNvSpPr txBox="1"/>
          <p:nvPr/>
        </p:nvSpPr>
        <p:spPr>
          <a:xfrm>
            <a:off x="4635677" y="1386412"/>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01</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圆角矩形 7">
            <a:extLst>
              <a:ext uri="{FF2B5EF4-FFF2-40B4-BE49-F238E27FC236}">
                <a16:creationId xmlns:a16="http://schemas.microsoft.com/office/drawing/2014/main" id="{06D8B0E6-6497-43C3-A54D-665FC4118517}"/>
              </a:ext>
            </a:extLst>
          </p:cNvPr>
          <p:cNvSpPr/>
          <p:nvPr/>
        </p:nvSpPr>
        <p:spPr>
          <a:xfrm flipH="1">
            <a:off x="4652100" y="2222632"/>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3" name="文本框 32">
            <a:extLst>
              <a:ext uri="{FF2B5EF4-FFF2-40B4-BE49-F238E27FC236}">
                <a16:creationId xmlns:a16="http://schemas.microsoft.com/office/drawing/2014/main" id="{7D942238-6C6C-44C5-B88C-D0A9256244E5}"/>
              </a:ext>
            </a:extLst>
          </p:cNvPr>
          <p:cNvSpPr txBox="1"/>
          <p:nvPr/>
        </p:nvSpPr>
        <p:spPr>
          <a:xfrm>
            <a:off x="4618572" y="2245430"/>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02</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圆角矩形 7">
            <a:extLst>
              <a:ext uri="{FF2B5EF4-FFF2-40B4-BE49-F238E27FC236}">
                <a16:creationId xmlns:a16="http://schemas.microsoft.com/office/drawing/2014/main" id="{14F93967-D77C-4836-A01E-079EC956FA65}"/>
              </a:ext>
            </a:extLst>
          </p:cNvPr>
          <p:cNvSpPr/>
          <p:nvPr/>
        </p:nvSpPr>
        <p:spPr>
          <a:xfrm flipH="1">
            <a:off x="4652099" y="308941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文本框 36">
            <a:extLst>
              <a:ext uri="{FF2B5EF4-FFF2-40B4-BE49-F238E27FC236}">
                <a16:creationId xmlns:a16="http://schemas.microsoft.com/office/drawing/2014/main" id="{4F80B0C9-CAD0-4223-80FA-FE9C9221AEA8}"/>
              </a:ext>
            </a:extLst>
          </p:cNvPr>
          <p:cNvSpPr txBox="1"/>
          <p:nvPr/>
        </p:nvSpPr>
        <p:spPr>
          <a:xfrm>
            <a:off x="4635677" y="3100283"/>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03</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圆角矩形 7">
            <a:extLst>
              <a:ext uri="{FF2B5EF4-FFF2-40B4-BE49-F238E27FC236}">
                <a16:creationId xmlns:a16="http://schemas.microsoft.com/office/drawing/2014/main" id="{3789824D-99D9-4E50-86EA-B141AC6A15E2}"/>
              </a:ext>
            </a:extLst>
          </p:cNvPr>
          <p:cNvSpPr/>
          <p:nvPr/>
        </p:nvSpPr>
        <p:spPr>
          <a:xfrm flipH="1">
            <a:off x="4652099" y="3956190"/>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3" name="文本框 42">
            <a:extLst>
              <a:ext uri="{FF2B5EF4-FFF2-40B4-BE49-F238E27FC236}">
                <a16:creationId xmlns:a16="http://schemas.microsoft.com/office/drawing/2014/main" id="{49CFB226-EAB1-4683-8E0A-C25F947FE869}"/>
              </a:ext>
            </a:extLst>
          </p:cNvPr>
          <p:cNvSpPr txBox="1"/>
          <p:nvPr/>
        </p:nvSpPr>
        <p:spPr>
          <a:xfrm>
            <a:off x="4635677" y="3979226"/>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04</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圆角矩形 7">
            <a:extLst>
              <a:ext uri="{FF2B5EF4-FFF2-40B4-BE49-F238E27FC236}">
                <a16:creationId xmlns:a16="http://schemas.microsoft.com/office/drawing/2014/main" id="{4328065E-FEDD-4251-9B56-4122C77937D6}"/>
              </a:ext>
            </a:extLst>
          </p:cNvPr>
          <p:cNvSpPr/>
          <p:nvPr/>
        </p:nvSpPr>
        <p:spPr>
          <a:xfrm flipH="1">
            <a:off x="4657747" y="479905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5" name="文本框 44">
            <a:extLst>
              <a:ext uri="{FF2B5EF4-FFF2-40B4-BE49-F238E27FC236}">
                <a16:creationId xmlns:a16="http://schemas.microsoft.com/office/drawing/2014/main" id="{40715963-E11B-4EC8-A67F-59ED201C7C21}"/>
              </a:ext>
            </a:extLst>
          </p:cNvPr>
          <p:cNvSpPr txBox="1"/>
          <p:nvPr/>
        </p:nvSpPr>
        <p:spPr>
          <a:xfrm>
            <a:off x="4652099" y="4843761"/>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05</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46" name="组合 45">
            <a:extLst>
              <a:ext uri="{FF2B5EF4-FFF2-40B4-BE49-F238E27FC236}">
                <a16:creationId xmlns:a16="http://schemas.microsoft.com/office/drawing/2014/main" id="{0DF92CF3-108A-43B8-B25E-259423EC01F1}"/>
              </a:ext>
            </a:extLst>
          </p:cNvPr>
          <p:cNvGrpSpPr/>
          <p:nvPr/>
        </p:nvGrpSpPr>
        <p:grpSpPr>
          <a:xfrm rot="10800000">
            <a:off x="-1984431" y="497205"/>
            <a:ext cx="3830221" cy="5863590"/>
            <a:chOff x="3717994" y="411408"/>
            <a:chExt cx="4170152" cy="6281292"/>
          </a:xfrm>
        </p:grpSpPr>
        <p:grpSp>
          <p:nvGrpSpPr>
            <p:cNvPr id="47" name="组合 46">
              <a:extLst>
                <a:ext uri="{FF2B5EF4-FFF2-40B4-BE49-F238E27FC236}">
                  <a16:creationId xmlns:a16="http://schemas.microsoft.com/office/drawing/2014/main" id="{2E5AB0AA-4495-4E58-B66A-7E1650E99F39}"/>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51" name="圆角矩形 23">
                <a:extLst>
                  <a:ext uri="{FF2B5EF4-FFF2-40B4-BE49-F238E27FC236}">
                    <a16:creationId xmlns:a16="http://schemas.microsoft.com/office/drawing/2014/main" id="{EDE30D0C-329B-44AC-8F5C-3FE4BE0B814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2" name="圆角矩形 24">
                <a:extLst>
                  <a:ext uri="{FF2B5EF4-FFF2-40B4-BE49-F238E27FC236}">
                    <a16:creationId xmlns:a16="http://schemas.microsoft.com/office/drawing/2014/main" id="{63B65C99-D312-4E7E-BE5E-8F3A5B600FBB}"/>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48" name="圆角矩形 22">
              <a:extLst>
                <a:ext uri="{FF2B5EF4-FFF2-40B4-BE49-F238E27FC236}">
                  <a16:creationId xmlns:a16="http://schemas.microsoft.com/office/drawing/2014/main" id="{947FF931-F89D-4F86-9901-11EF5A963443}"/>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9" name="圆角矩形 20">
              <a:extLst>
                <a:ext uri="{FF2B5EF4-FFF2-40B4-BE49-F238E27FC236}">
                  <a16:creationId xmlns:a16="http://schemas.microsoft.com/office/drawing/2014/main" id="{8AA6E668-2D46-4C8B-AC59-EE479F542899}"/>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0" name="圆角矩形 15">
              <a:extLst>
                <a:ext uri="{FF2B5EF4-FFF2-40B4-BE49-F238E27FC236}">
                  <a16:creationId xmlns:a16="http://schemas.microsoft.com/office/drawing/2014/main" id="{68F13946-2FBF-4D4C-98E5-A0192F57D07C}"/>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3" name="圆角矩形 227">
            <a:extLst>
              <a:ext uri="{FF2B5EF4-FFF2-40B4-BE49-F238E27FC236}">
                <a16:creationId xmlns:a16="http://schemas.microsoft.com/office/drawing/2014/main" id="{5ECEAEB9-F3B5-4D59-B2C2-3B88805802D3}"/>
              </a:ext>
            </a:extLst>
          </p:cNvPr>
          <p:cNvSpPr/>
          <p:nvPr/>
        </p:nvSpPr>
        <p:spPr>
          <a:xfrm>
            <a:off x="5641006" y="2282089"/>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5530F974-F47D-4A49-976E-B09ADC9B3C94}"/>
              </a:ext>
            </a:extLst>
          </p:cNvPr>
          <p:cNvSpPr txBox="1"/>
          <p:nvPr/>
        </p:nvSpPr>
        <p:spPr>
          <a:xfrm>
            <a:off x="5998205" y="2280077"/>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5" name="圆角矩形 227">
            <a:extLst>
              <a:ext uri="{FF2B5EF4-FFF2-40B4-BE49-F238E27FC236}">
                <a16:creationId xmlns:a16="http://schemas.microsoft.com/office/drawing/2014/main" id="{FD646DBC-37B0-4E0B-8B11-EDDA6656679B}"/>
              </a:ext>
            </a:extLst>
          </p:cNvPr>
          <p:cNvSpPr/>
          <p:nvPr/>
        </p:nvSpPr>
        <p:spPr>
          <a:xfrm>
            <a:off x="5641006" y="3142049"/>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6" name="文本框 55">
            <a:extLst>
              <a:ext uri="{FF2B5EF4-FFF2-40B4-BE49-F238E27FC236}">
                <a16:creationId xmlns:a16="http://schemas.microsoft.com/office/drawing/2014/main" id="{EBB740D6-DDD9-49F2-BAA3-EDFACD201EBB}"/>
              </a:ext>
            </a:extLst>
          </p:cNvPr>
          <p:cNvSpPr txBox="1"/>
          <p:nvPr/>
        </p:nvSpPr>
        <p:spPr>
          <a:xfrm>
            <a:off x="5998205" y="3020944"/>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7" name="圆角矩形 227">
            <a:extLst>
              <a:ext uri="{FF2B5EF4-FFF2-40B4-BE49-F238E27FC236}">
                <a16:creationId xmlns:a16="http://schemas.microsoft.com/office/drawing/2014/main" id="{5D9A7E30-407D-4B84-8091-18DF978D64F9}"/>
              </a:ext>
            </a:extLst>
          </p:cNvPr>
          <p:cNvSpPr/>
          <p:nvPr/>
        </p:nvSpPr>
        <p:spPr>
          <a:xfrm>
            <a:off x="5641006" y="4014040"/>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D7DC13FA-5847-45E2-A576-9D6DA1D40071}"/>
              </a:ext>
            </a:extLst>
          </p:cNvPr>
          <p:cNvSpPr txBox="1"/>
          <p:nvPr/>
        </p:nvSpPr>
        <p:spPr>
          <a:xfrm>
            <a:off x="5998205" y="3892935"/>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9" name="圆角矩形 227">
            <a:extLst>
              <a:ext uri="{FF2B5EF4-FFF2-40B4-BE49-F238E27FC236}">
                <a16:creationId xmlns:a16="http://schemas.microsoft.com/office/drawing/2014/main" id="{A564D55F-4570-4014-AD64-861D88FA1F59}"/>
              </a:ext>
            </a:extLst>
          </p:cNvPr>
          <p:cNvSpPr/>
          <p:nvPr/>
        </p:nvSpPr>
        <p:spPr>
          <a:xfrm>
            <a:off x="5641006" y="4843761"/>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0" name="文本框 59">
            <a:extLst>
              <a:ext uri="{FF2B5EF4-FFF2-40B4-BE49-F238E27FC236}">
                <a16:creationId xmlns:a16="http://schemas.microsoft.com/office/drawing/2014/main" id="{AC2706E0-0237-4551-9819-50707A3C5D34}"/>
              </a:ext>
            </a:extLst>
          </p:cNvPr>
          <p:cNvSpPr txBox="1"/>
          <p:nvPr/>
        </p:nvSpPr>
        <p:spPr>
          <a:xfrm>
            <a:off x="5998205" y="4722656"/>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4" name="TextBox 3">
            <a:extLst>
              <a:ext uri="{FF2B5EF4-FFF2-40B4-BE49-F238E27FC236}">
                <a16:creationId xmlns:a16="http://schemas.microsoft.com/office/drawing/2014/main" id="{B42E4EFC-9A6B-98D9-CE1C-A3FF0E148590}"/>
              </a:ext>
            </a:extLst>
          </p:cNvPr>
          <p:cNvSpPr txBox="1"/>
          <p:nvPr/>
        </p:nvSpPr>
        <p:spPr>
          <a:xfrm>
            <a:off x="7931" y="24076"/>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934442"/>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down)">
                                      <p:cBhvr>
                                        <p:cTn id="10" dur="500"/>
                                        <p:tgtEl>
                                          <p:spTgt spid="3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wipe(down)">
                                      <p:cBhvr>
                                        <p:cTn id="34" dur="500"/>
                                        <p:tgtEl>
                                          <p:spTgt spid="43"/>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down)">
                                      <p:cBhvr>
                                        <p:cTn id="37" dur="500"/>
                                        <p:tgtEl>
                                          <p:spTgt spid="4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down)">
                                      <p:cBhvr>
                                        <p:cTn id="40" dur="500"/>
                                        <p:tgtEl>
                                          <p:spTgt spid="45"/>
                                        </p:tgtEl>
                                      </p:cBhvr>
                                    </p:animEffect>
                                  </p:childTnLst>
                                </p:cTn>
                              </p:par>
                              <p:par>
                                <p:cTn id="41" presetID="22" presetClass="entr" presetSubtype="4"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wipe(down)">
                                      <p:cBhvr>
                                        <p:cTn id="43" dur="500"/>
                                        <p:tgtEl>
                                          <p:spTgt spid="4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wipe(down)">
                                      <p:cBhvr>
                                        <p:cTn id="46" dur="500"/>
                                        <p:tgtEl>
                                          <p:spTgt spid="54"/>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wipe(down)">
                                      <p:cBhvr>
                                        <p:cTn id="49" dur="500"/>
                                        <p:tgtEl>
                                          <p:spTgt spid="5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wipe(down)">
                                      <p:cBhvr>
                                        <p:cTn id="52" dur="500"/>
                                        <p:tgtEl>
                                          <p:spTgt spid="5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wipe(down)">
                                      <p:cBhvr>
                                        <p:cTn id="55" dur="500"/>
                                        <p:tgtEl>
                                          <p:spTgt spid="55"/>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down)">
                                      <p:cBhvr>
                                        <p:cTn id="58" dur="500"/>
                                        <p:tgtEl>
                                          <p:spTgt spid="58"/>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wipe(down)">
                                      <p:cBhvr>
                                        <p:cTn id="61" dur="500"/>
                                        <p:tgtEl>
                                          <p:spTgt spid="5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wipe(down)">
                                      <p:cBhvr>
                                        <p:cTn id="64" dur="500"/>
                                        <p:tgtEl>
                                          <p:spTgt spid="60"/>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down)">
                                      <p:cBhvr>
                                        <p:cTn id="6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6" grpId="0" animBg="1"/>
      <p:bldP spid="40" grpId="0" animBg="1"/>
      <p:bldP spid="6" grpId="0"/>
      <p:bldP spid="32" grpId="0" animBg="1"/>
      <p:bldP spid="33" grpId="0"/>
      <p:bldP spid="35" grpId="0" animBg="1"/>
      <p:bldP spid="37" grpId="0"/>
      <p:bldP spid="38" grpId="0" animBg="1"/>
      <p:bldP spid="43" grpId="0"/>
      <p:bldP spid="44" grpId="0" animBg="1"/>
      <p:bldP spid="45" grpId="0"/>
      <p:bldP spid="53" grpId="0" animBg="1"/>
      <p:bldP spid="54" grpId="0"/>
      <p:bldP spid="55" grpId="0" animBg="1"/>
      <p:bldP spid="56" grpId="0"/>
      <p:bldP spid="57" grpId="0" animBg="1"/>
      <p:bldP spid="58" grpId="0"/>
      <p:bldP spid="59" grpId="0" animBg="1"/>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9" name="文本框 48">
            <a:extLst>
              <a:ext uri="{FF2B5EF4-FFF2-40B4-BE49-F238E27FC236}">
                <a16:creationId xmlns:a16="http://schemas.microsoft.com/office/drawing/2014/main" id="{8D017C34-5119-41AB-9741-1458F36713DC}"/>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01</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69332"/>
          </a:xfrm>
          <a:prstGeom prst="rect">
            <a:avLst/>
          </a:prstGeom>
          <a:noFill/>
        </p:spPr>
        <p:txBody>
          <a:bodyPr wrap="square" rtlCol="0">
            <a:spAutoFit/>
          </a:bodyPr>
          <a:lstStyle/>
          <a:p>
            <a:pPr algn="ctr"/>
            <a:r>
              <a:rPr lang="en-US" altLang="zh-CN" dirty="0"/>
              <a:t>Project overview</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93707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par>
                          <p:cTn id="39" fill="hold">
                            <p:stCondLst>
                              <p:cond delay="1000"/>
                            </p:stCondLst>
                            <p:childTnLst>
                              <p:par>
                                <p:cTn id="40" presetID="16" presetClass="entr" presetSubtype="37"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arn(outVertical)">
                                      <p:cBhvr>
                                        <p:cTn id="42" dur="500"/>
                                        <p:tgtEl>
                                          <p:spTgt spid="49"/>
                                        </p:tgtEl>
                                      </p:cBhvr>
                                    </p:animEffect>
                                  </p:childTnLst>
                                </p:cTn>
                              </p:par>
                              <p:par>
                                <p:cTn id="43" presetID="16" presetClass="entr" presetSubtype="37"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barn(outVertical)">
                                      <p:cBhvr>
                                        <p:cTn id="45" dur="500"/>
                                        <p:tgtEl>
                                          <p:spTgt spid="52"/>
                                        </p:tgtEl>
                                      </p:cBhvr>
                                    </p:animEffect>
                                  </p:childTnLst>
                                </p:cTn>
                              </p:par>
                              <p:par>
                                <p:cTn id="46" presetID="16" presetClass="entr" presetSubtype="37"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barn(outVertical)">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barn(inVertical)">
                                      <p:cBhvr>
                                        <p:cTn id="53" dur="500"/>
                                        <p:tgtEl>
                                          <p:spTgt spid="50"/>
                                        </p:tgtEl>
                                      </p:cBhvr>
                                    </p:animEffect>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49" grpId="0"/>
      <p:bldP spid="50" grpId="0"/>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295467" y="2734250"/>
            <a:ext cx="1897933" cy="1897933"/>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022736" y="1842101"/>
            <a:ext cx="3795144" cy="3795144"/>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576054" y="1880761"/>
            <a:ext cx="831871" cy="831871"/>
            <a:chOff x="304800" y="673100"/>
            <a:chExt cx="4000500" cy="4000500"/>
          </a:xfrm>
          <a:effectLst>
            <a:outerShdw blurRad="317500" dist="1905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0" name="椭圆 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1</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7302785" y="3267281"/>
            <a:ext cx="831871" cy="831871"/>
            <a:chOff x="304800" y="673100"/>
            <a:chExt cx="4000500" cy="4000500"/>
          </a:xfrm>
          <a:effectLst>
            <a:outerShdw blurRad="317500" dist="1905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2</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576054" y="4722545"/>
            <a:ext cx="831871" cy="831871"/>
            <a:chOff x="304800" y="673100"/>
            <a:chExt cx="4000500" cy="4000500"/>
          </a:xfrm>
          <a:effectLst>
            <a:outerShdw blurRad="317500" dist="1905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6" name="椭圆 1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3</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17" name="TextBox 15"/>
          <p:cNvSpPr txBox="1"/>
          <p:nvPr/>
        </p:nvSpPr>
        <p:spPr>
          <a:xfrm>
            <a:off x="1902995" y="3478160"/>
            <a:ext cx="682879" cy="410112"/>
          </a:xfrm>
          <a:prstGeom prst="rect">
            <a:avLst/>
          </a:prstGeom>
          <a:noFill/>
        </p:spPr>
        <p:txBody>
          <a:bodyPr wrap="none" lIns="0" tIns="0" rIns="0" bIns="0" rtlCol="0">
            <a:spAutoFit/>
          </a:bodyPr>
          <a:lstStyle/>
          <a:p>
            <a:pPr algn="ctr"/>
            <a:r>
              <a:rPr lang="zh-CN" altLang="en-US" sz="2665" b="1" dirty="0">
                <a:solidFill>
                  <a:schemeClr val="bg1"/>
                </a:solidFill>
                <a:latin typeface="微软雅黑" panose="020B0503020204020204" pitchFamily="34" charset="-122"/>
                <a:ea typeface="微软雅黑" panose="020B0503020204020204" pitchFamily="34" charset="-122"/>
              </a:rPr>
              <a:t>项目</a:t>
            </a:r>
          </a:p>
        </p:txBody>
      </p:sp>
      <p:sp>
        <p:nvSpPr>
          <p:cNvPr id="19" name="TextBox 17"/>
          <p:cNvSpPr txBox="1"/>
          <p:nvPr/>
        </p:nvSpPr>
        <p:spPr>
          <a:xfrm>
            <a:off x="8275701" y="3751581"/>
            <a:ext cx="2934117" cy="495136"/>
          </a:xfrm>
          <a:prstGeom prst="rect">
            <a:avLst/>
          </a:prstGeom>
          <a:noFill/>
        </p:spPr>
        <p:txBody>
          <a:bodyPr wrap="square" lIns="0" tIns="0" rIns="0" bIns="0"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记录餐厅浪费数据，统计餐损情况，结合积分机制减少食物浪费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TextBox 18"/>
          <p:cNvSpPr txBox="1"/>
          <p:nvPr/>
        </p:nvSpPr>
        <p:spPr>
          <a:xfrm>
            <a:off x="7718720" y="5206237"/>
            <a:ext cx="2934117" cy="495136"/>
          </a:xfrm>
          <a:prstGeom prst="rect">
            <a:avLst/>
          </a:prstGeom>
          <a:noFill/>
        </p:spPr>
        <p:txBody>
          <a:bodyPr wrap="square" lIns="0" tIns="0" rIns="0" bIns="0"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记录步行、骑行、公交等绿色出行方式，计算低碳积分并形成激励</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TextBox 19"/>
          <p:cNvSpPr txBox="1"/>
          <p:nvPr/>
        </p:nvSpPr>
        <p:spPr>
          <a:xfrm>
            <a:off x="4480689" y="3474643"/>
            <a:ext cx="2846581" cy="342401"/>
          </a:xfrm>
          <a:prstGeom prst="rect">
            <a:avLst/>
          </a:prstGeom>
          <a:noFill/>
        </p:spPr>
        <p:txBody>
          <a:bodyPr wrap="square" lIns="0" tIns="0" rIns="0" bIns="0" rtlCol="0">
            <a:spAutoFit/>
          </a:bodyPr>
          <a:lstStyle/>
          <a:p>
            <a:pPr>
              <a:lnSpc>
                <a:spcPct val="12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绿色低碳校园管理系统</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Half Frame 12"/>
          <p:cNvSpPr/>
          <p:nvPr/>
        </p:nvSpPr>
        <p:spPr>
          <a:xfrm rot="8097294">
            <a:off x="3238279" y="3426036"/>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23" name="Text Box 4"/>
          <p:cNvSpPr txBox="1">
            <a:spLocks noChangeArrowheads="1"/>
          </p:cNvSpPr>
          <p:nvPr/>
        </p:nvSpPr>
        <p:spPr bwMode="auto">
          <a:xfrm>
            <a:off x="781532" y="270516"/>
            <a:ext cx="29546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dirty="0"/>
              <a:t>绿色低碳校园系统项目介绍</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Half Frame 12">
            <a:extLst>
              <a:ext uri="{FF2B5EF4-FFF2-40B4-BE49-F238E27FC236}">
                <a16:creationId xmlns:a16="http://schemas.microsoft.com/office/drawing/2014/main" id="{75F95102-6A56-B840-AEBA-571446A6BC0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 name="直线连接符 3">
            <a:extLst>
              <a:ext uri="{FF2B5EF4-FFF2-40B4-BE49-F238E27FC236}">
                <a16:creationId xmlns:a16="http://schemas.microsoft.com/office/drawing/2014/main" id="{524C6864-7D8E-184F-B935-CAB0CCE30526}"/>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88BD9B3-B748-7AB2-E6E4-B570CD407294}"/>
              </a:ext>
            </a:extLst>
          </p:cNvPr>
          <p:cNvSpPr txBox="1"/>
          <p:nvPr/>
        </p:nvSpPr>
        <p:spPr>
          <a:xfrm>
            <a:off x="7615306" y="2282746"/>
            <a:ext cx="3361219" cy="800219"/>
          </a:xfrm>
          <a:prstGeom prst="rect">
            <a:avLst/>
          </a:prstGeom>
          <a:noFill/>
        </p:spPr>
        <p:txBody>
          <a:bodyPr wrap="squar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记录宿舍水电使用、余额缴费、用量统计，提升学生节水节电意识。 </a:t>
            </a:r>
            <a:br>
              <a:rPr lang="zh-CN" altLang="en-US" dirty="0"/>
            </a:br>
            <a:endParaRPr lang="zh-CN" altLang="en-US" dirty="0"/>
          </a:p>
        </p:txBody>
      </p:sp>
      <p:sp>
        <p:nvSpPr>
          <p:cNvPr id="26" name="文本框 25">
            <a:extLst>
              <a:ext uri="{FF2B5EF4-FFF2-40B4-BE49-F238E27FC236}">
                <a16:creationId xmlns:a16="http://schemas.microsoft.com/office/drawing/2014/main" id="{972941F7-63A3-A9C9-7317-05ED5C2E9760}"/>
              </a:ext>
            </a:extLst>
          </p:cNvPr>
          <p:cNvSpPr txBox="1"/>
          <p:nvPr/>
        </p:nvSpPr>
        <p:spPr>
          <a:xfrm>
            <a:off x="7718720" y="1736696"/>
            <a:ext cx="2777376" cy="369332"/>
          </a:xfrm>
          <a:prstGeom prst="rect">
            <a:avLst/>
          </a:prstGeom>
          <a:noFill/>
        </p:spPr>
        <p:txBody>
          <a:bodyPr wrap="square" rtlCol="0">
            <a:spAutoFit/>
          </a:bodyPr>
          <a:lstStyle/>
          <a:p>
            <a:r>
              <a:rPr lang="zh-CN" altLang="en-US" dirty="0"/>
              <a:t>校园水电低碳管理</a:t>
            </a:r>
          </a:p>
        </p:txBody>
      </p:sp>
      <p:sp>
        <p:nvSpPr>
          <p:cNvPr id="27" name="文本框 26">
            <a:extLst>
              <a:ext uri="{FF2B5EF4-FFF2-40B4-BE49-F238E27FC236}">
                <a16:creationId xmlns:a16="http://schemas.microsoft.com/office/drawing/2014/main" id="{7CE2F7B2-3403-ECFC-4423-C42F5DA7E4D1}"/>
              </a:ext>
            </a:extLst>
          </p:cNvPr>
          <p:cNvSpPr txBox="1"/>
          <p:nvPr/>
        </p:nvSpPr>
        <p:spPr>
          <a:xfrm>
            <a:off x="8275701" y="3267281"/>
            <a:ext cx="2739398" cy="369332"/>
          </a:xfrm>
          <a:prstGeom prst="rect">
            <a:avLst/>
          </a:prstGeom>
          <a:noFill/>
        </p:spPr>
        <p:txBody>
          <a:bodyPr wrap="square" rtlCol="0">
            <a:spAutoFit/>
          </a:bodyPr>
          <a:lstStyle/>
          <a:p>
            <a:r>
              <a:rPr lang="zh-CN" altLang="en-US" dirty="0"/>
              <a:t>餐厅残损管理</a:t>
            </a:r>
          </a:p>
        </p:txBody>
      </p:sp>
      <p:sp>
        <p:nvSpPr>
          <p:cNvPr id="28" name="文本框 27">
            <a:extLst>
              <a:ext uri="{FF2B5EF4-FFF2-40B4-BE49-F238E27FC236}">
                <a16:creationId xmlns:a16="http://schemas.microsoft.com/office/drawing/2014/main" id="{304D1AEC-7519-A2FF-78D1-31203C759B41}"/>
              </a:ext>
            </a:extLst>
          </p:cNvPr>
          <p:cNvSpPr txBox="1"/>
          <p:nvPr/>
        </p:nvSpPr>
        <p:spPr>
          <a:xfrm>
            <a:off x="7881257" y="4740701"/>
            <a:ext cx="2771580" cy="369332"/>
          </a:xfrm>
          <a:prstGeom prst="rect">
            <a:avLst/>
          </a:prstGeom>
          <a:noFill/>
        </p:spPr>
        <p:txBody>
          <a:bodyPr wrap="square" rtlCol="0">
            <a:spAutoFit/>
          </a:bodyPr>
          <a:lstStyle/>
          <a:p>
            <a:r>
              <a:rPr lang="zh-CN" altLang="en-US" dirty="0"/>
              <a:t>低碳出行管理</a:t>
            </a:r>
          </a:p>
        </p:txBody>
      </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14:presetBounceEnd="44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4000">
                                          <p:cBhvr additive="base">
                                            <p:cTn id="7" dur="1000" fill="hold"/>
                                            <p:tgtEl>
                                              <p:spTgt spid="3"/>
                                            </p:tgtEl>
                                            <p:attrNameLst>
                                              <p:attrName>ppt_x</p:attrName>
                                            </p:attrNameLst>
                                          </p:cBhvr>
                                          <p:tavLst>
                                            <p:tav tm="0">
                                              <p:val>
                                                <p:strVal val="0-#ppt_w/2"/>
                                              </p:val>
                                            </p:tav>
                                            <p:tav tm="100000">
                                              <p:val>
                                                <p:strVal val="#ppt_x"/>
                                              </p:val>
                                            </p:tav>
                                          </p:tavLst>
                                        </p:anim>
                                        <p:anim calcmode="lin" valueType="num" p14:bounceEnd="44000">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14:presetBounceEnd="4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44000">
                                          <p:cBhvr additive="base">
                                            <p:cTn id="22" dur="10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14:presetBounceEnd="55000">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14:bounceEnd="55000">
                                          <p:cBhvr additive="base">
                                            <p:cTn id="31" dur="1600" fill="hold"/>
                                            <p:tgtEl>
                                              <p:spTgt spid="8"/>
                                            </p:tgtEl>
                                            <p:attrNameLst>
                                              <p:attrName>ppt_x</p:attrName>
                                            </p:attrNameLst>
                                          </p:cBhvr>
                                          <p:tavLst>
                                            <p:tav tm="0">
                                              <p:val>
                                                <p:strVal val="1+#ppt_w/2"/>
                                              </p:val>
                                            </p:tav>
                                            <p:tav tm="100000">
                                              <p:val>
                                                <p:strVal val="#ppt_x"/>
                                              </p:val>
                                            </p:tav>
                                          </p:tavLst>
                                        </p:anim>
                                        <p:anim calcmode="lin" valueType="num" p14:bounceEnd="55000">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14:presetBounceEnd="55000">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14:bounceEnd="55000">
                                          <p:cBhvr additive="base">
                                            <p:cTn id="35" dur="1600" fill="hold"/>
                                            <p:tgtEl>
                                              <p:spTgt spid="11"/>
                                            </p:tgtEl>
                                            <p:attrNameLst>
                                              <p:attrName>ppt_x</p:attrName>
                                            </p:attrNameLst>
                                          </p:cBhvr>
                                          <p:tavLst>
                                            <p:tav tm="0">
                                              <p:val>
                                                <p:strVal val="1+#ppt_w/2"/>
                                              </p:val>
                                            </p:tav>
                                            <p:tav tm="100000">
                                              <p:val>
                                                <p:strVal val="#ppt_x"/>
                                              </p:val>
                                            </p:tav>
                                          </p:tavLst>
                                        </p:anim>
                                        <p:anim calcmode="lin" valueType="num" p14:bounceEnd="55000">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14:presetBounceEnd="55000">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14:bounceEnd="55000">
                                          <p:cBhvr additive="base">
                                            <p:cTn id="39" dur="1600" fill="hold"/>
                                            <p:tgtEl>
                                              <p:spTgt spid="14"/>
                                            </p:tgtEl>
                                            <p:attrNameLst>
                                              <p:attrName>ppt_x</p:attrName>
                                            </p:attrNameLst>
                                          </p:cBhvr>
                                          <p:tavLst>
                                            <p:tav tm="0">
                                              <p:val>
                                                <p:strVal val="1+#ppt_w/2"/>
                                              </p:val>
                                            </p:tav>
                                            <p:tav tm="100000">
                                              <p:val>
                                                <p:strVal val="#ppt_x"/>
                                              </p:val>
                                            </p:tav>
                                          </p:tavLst>
                                        </p:anim>
                                        <p:anim calcmode="lin" valueType="num" p14:bounceEnd="55000">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14:presetBounceEnd="81000">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14:bounceEnd="81000">
                                          <p:cBhvr additive="base">
                                            <p:cTn id="49" dur="1000" fill="hold"/>
                                            <p:tgtEl>
                                              <p:spTgt spid="23"/>
                                            </p:tgtEl>
                                            <p:attrNameLst>
                                              <p:attrName>ppt_x</p:attrName>
                                            </p:attrNameLst>
                                          </p:cBhvr>
                                          <p:tavLst>
                                            <p:tav tm="0">
                                              <p:val>
                                                <p:strVal val="#ppt_x"/>
                                              </p:val>
                                            </p:tav>
                                            <p:tav tm="100000">
                                              <p:val>
                                                <p:strVal val="#ppt_x"/>
                                              </p:val>
                                            </p:tav>
                                          </p:tavLst>
                                        </p:anim>
                                        <p:anim calcmode="lin" valueType="num" p14:bounceEnd="81000">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600" fill="hold"/>
                                            <p:tgtEl>
                                              <p:spTgt spid="8"/>
                                            </p:tgtEl>
                                            <p:attrNameLst>
                                              <p:attrName>ppt_x</p:attrName>
                                            </p:attrNameLst>
                                          </p:cBhvr>
                                          <p:tavLst>
                                            <p:tav tm="0">
                                              <p:val>
                                                <p:strVal val="1+#ppt_w/2"/>
                                              </p:val>
                                            </p:tav>
                                            <p:tav tm="100000">
                                              <p:val>
                                                <p:strVal val="#ppt_x"/>
                                              </p:val>
                                            </p:tav>
                                          </p:tavLst>
                                        </p:anim>
                                        <p:anim calcmode="lin" valueType="num">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600" fill="hold"/>
                                            <p:tgtEl>
                                              <p:spTgt spid="11"/>
                                            </p:tgtEl>
                                            <p:attrNameLst>
                                              <p:attrName>ppt_x</p:attrName>
                                            </p:attrNameLst>
                                          </p:cBhvr>
                                          <p:tavLst>
                                            <p:tav tm="0">
                                              <p:val>
                                                <p:strVal val="1+#ppt_w/2"/>
                                              </p:val>
                                            </p:tav>
                                            <p:tav tm="100000">
                                              <p:val>
                                                <p:strVal val="#ppt_x"/>
                                              </p:val>
                                            </p:tav>
                                          </p:tavLst>
                                        </p:anim>
                                        <p:anim calcmode="lin" valueType="num">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1600" fill="hold"/>
                                            <p:tgtEl>
                                              <p:spTgt spid="14"/>
                                            </p:tgtEl>
                                            <p:attrNameLst>
                                              <p:attrName>ppt_x</p:attrName>
                                            </p:attrNameLst>
                                          </p:cBhvr>
                                          <p:tavLst>
                                            <p:tav tm="0">
                                              <p:val>
                                                <p:strVal val="1+#ppt_w/2"/>
                                              </p:val>
                                            </p:tav>
                                            <p:tav tm="100000">
                                              <p:val>
                                                <p:strVal val="#ppt_x"/>
                                              </p:val>
                                            </p:tav>
                                          </p:tavLst>
                                        </p:anim>
                                        <p:anim calcmode="lin" valueType="num">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1000" fill="hold"/>
                                            <p:tgtEl>
                                              <p:spTgt spid="23"/>
                                            </p:tgtEl>
                                            <p:attrNameLst>
                                              <p:attrName>ppt_x</p:attrName>
                                            </p:attrNameLst>
                                          </p:cBhvr>
                                          <p:tavLst>
                                            <p:tav tm="0">
                                              <p:val>
                                                <p:strVal val="#ppt_x"/>
                                              </p:val>
                                            </p:tav>
                                            <p:tav tm="100000">
                                              <p:val>
                                                <p:strVal val="#ppt_x"/>
                                              </p:val>
                                            </p:tav>
                                          </p:tavLst>
                                        </p:anim>
                                        <p:anim calcmode="lin" valueType="num">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矩形 30"/>
          <p:cNvSpPr>
            <a:spLocks noChangeArrowheads="1"/>
          </p:cNvSpPr>
          <p:nvPr/>
        </p:nvSpPr>
        <p:spPr bwMode="auto">
          <a:xfrm>
            <a:off x="3471456" y="5222704"/>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p:cNvSpPr/>
          <p:nvPr/>
        </p:nvSpPr>
        <p:spPr>
          <a:xfrm flipV="1">
            <a:off x="1842462" y="4890758"/>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sp>
        <p:nvSpPr>
          <p:cNvPr id="127" name="Text Box 4">
            <a:extLst>
              <a:ext uri="{FF2B5EF4-FFF2-40B4-BE49-F238E27FC236}">
                <a16:creationId xmlns:a16="http://schemas.microsoft.com/office/drawing/2014/main" id="{E11DF5D5-1F03-6E4D-9E8D-844EA5AADF85}"/>
              </a:ext>
            </a:extLst>
          </p:cNvPr>
          <p:cNvSpPr txBox="1">
            <a:spLocks noChangeArrowheads="1"/>
          </p:cNvSpPr>
          <p:nvPr/>
        </p:nvSpPr>
        <p:spPr bwMode="auto">
          <a:xfrm>
            <a:off x="781532" y="270516"/>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前景项目</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6C59780B-D01D-B144-9643-5F356CB4C4A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F83145E-945D-BB4B-B856-4A3ECB973B7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8944272-6F4C-38F8-097C-F75DA4CA4DA0}"/>
              </a:ext>
            </a:extLst>
          </p:cNvPr>
          <p:cNvSpPr txBox="1"/>
          <p:nvPr/>
        </p:nvSpPr>
        <p:spPr>
          <a:xfrm>
            <a:off x="1208312" y="1006040"/>
            <a:ext cx="3624943" cy="622809"/>
          </a:xfrm>
          <a:prstGeom prst="rect">
            <a:avLst/>
          </a:prstGeom>
          <a:noFill/>
        </p:spPr>
        <p:txBody>
          <a:bodyPr wrap="square" rtlCol="0">
            <a:spAutoFit/>
          </a:bodyPr>
          <a:lstStyle/>
          <a:p>
            <a:endParaRPr lang="zh-CN" altLang="en-US" dirty="0"/>
          </a:p>
        </p:txBody>
      </p:sp>
      <p:sp>
        <p:nvSpPr>
          <p:cNvPr id="27" name="文本框 26">
            <a:extLst>
              <a:ext uri="{FF2B5EF4-FFF2-40B4-BE49-F238E27FC236}">
                <a16:creationId xmlns:a16="http://schemas.microsoft.com/office/drawing/2014/main" id="{71085416-678E-D3CD-44CD-57EF2F725E6F}"/>
              </a:ext>
            </a:extLst>
          </p:cNvPr>
          <p:cNvSpPr txBox="1"/>
          <p:nvPr/>
        </p:nvSpPr>
        <p:spPr>
          <a:xfrm>
            <a:off x="1208312" y="939837"/>
            <a:ext cx="3624943" cy="622809"/>
          </a:xfrm>
          <a:prstGeom prst="rect">
            <a:avLst/>
          </a:prstGeom>
          <a:noFill/>
        </p:spPr>
        <p:txBody>
          <a:bodyPr wrap="square" rtlCol="0">
            <a:spAutoFit/>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up)">
                                          <p:cBhvr>
                                            <p:cTn id="7" dur="500"/>
                                            <p:tgtEl>
                                              <p:spTgt spid="1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fade">
                                          <p:cBhvr>
                                            <p:cTn id="11" dur="500"/>
                                            <p:tgtEl>
                                              <p:spTgt spid="114"/>
                                            </p:tgtEl>
                                          </p:cBhvr>
                                        </p:animEffect>
                                      </p:childTnLst>
                                    </p:cTn>
                                  </p:par>
                                  <p:par>
                                    <p:cTn id="12" presetID="2" presetClass="entr" presetSubtype="1" fill="hold" grpId="0" nodeType="withEffect" p14:presetBounceEnd="81000">
                                      <p:stCondLst>
                                        <p:cond delay="0"/>
                                      </p:stCondLst>
                                      <p:childTnLst>
                                        <p:set>
                                          <p:cBhvr>
                                            <p:cTn id="13" dur="1" fill="hold">
                                              <p:stCondLst>
                                                <p:cond delay="0"/>
                                              </p:stCondLst>
                                            </p:cTn>
                                            <p:tgtEl>
                                              <p:spTgt spid="127"/>
                                            </p:tgtEl>
                                            <p:attrNameLst>
                                              <p:attrName>style.visibility</p:attrName>
                                            </p:attrNameLst>
                                          </p:cBhvr>
                                          <p:to>
                                            <p:strVal val="visible"/>
                                          </p:to>
                                        </p:set>
                                        <p:anim calcmode="lin" valueType="num" p14:bounceEnd="81000">
                                          <p:cBhvr additive="base">
                                            <p:cTn id="14"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15" dur="1000" fill="hold"/>
                                            <p:tgtEl>
                                              <p:spTgt spid="127"/>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wipe(left)">
                                          <p:cBhvr>
                                            <p:cTn id="19"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up)">
                                          <p:cBhvr>
                                            <p:cTn id="7" dur="500"/>
                                            <p:tgtEl>
                                              <p:spTgt spid="1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fade">
                                          <p:cBhvr>
                                            <p:cTn id="11" dur="500"/>
                                            <p:tgtEl>
                                              <p:spTgt spid="114"/>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127"/>
                                            </p:tgtEl>
                                            <p:attrNameLst>
                                              <p:attrName>style.visibility</p:attrName>
                                            </p:attrNameLst>
                                          </p:cBhvr>
                                          <p:to>
                                            <p:strVal val="visible"/>
                                          </p:to>
                                        </p:set>
                                        <p:anim calcmode="lin" valueType="num">
                                          <p:cBhvr additive="base">
                                            <p:cTn id="14" dur="1000" fill="hold"/>
                                            <p:tgtEl>
                                              <p:spTgt spid="127"/>
                                            </p:tgtEl>
                                            <p:attrNameLst>
                                              <p:attrName>ppt_x</p:attrName>
                                            </p:attrNameLst>
                                          </p:cBhvr>
                                          <p:tavLst>
                                            <p:tav tm="0">
                                              <p:val>
                                                <p:strVal val="#ppt_x"/>
                                              </p:val>
                                            </p:tav>
                                            <p:tav tm="100000">
                                              <p:val>
                                                <p:strVal val="#ppt_x"/>
                                              </p:val>
                                            </p:tav>
                                          </p:tavLst>
                                        </p:anim>
                                        <p:anim calcmode="lin" valueType="num">
                                          <p:cBhvr additive="base">
                                            <p:cTn id="15" dur="1000" fill="hold"/>
                                            <p:tgtEl>
                                              <p:spTgt spid="127"/>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wipe(left)">
                                          <p:cBhvr>
                                            <p:cTn id="19"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605F2-BB19-1706-64F7-67E68FAAE78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05C21EB-1EB8-200E-C995-9889DC02FC74}"/>
              </a:ext>
            </a:extLst>
          </p:cNvPr>
          <p:cNvGrpSpPr/>
          <p:nvPr/>
        </p:nvGrpSpPr>
        <p:grpSpPr>
          <a:xfrm>
            <a:off x="2015875" y="1558812"/>
            <a:ext cx="1460314" cy="1460842"/>
            <a:chOff x="2127615" y="1872580"/>
            <a:chExt cx="1686798" cy="1687408"/>
          </a:xfrm>
        </p:grpSpPr>
        <p:grpSp>
          <p:nvGrpSpPr>
            <p:cNvPr id="6" name="组合 5">
              <a:extLst>
                <a:ext uri="{FF2B5EF4-FFF2-40B4-BE49-F238E27FC236}">
                  <a16:creationId xmlns:a16="http://schemas.microsoft.com/office/drawing/2014/main" id="{A4F46025-D73F-A941-CEB9-3B1CCF9295B5}"/>
                </a:ext>
              </a:extLst>
            </p:cNvPr>
            <p:cNvGrpSpPr/>
            <p:nvPr/>
          </p:nvGrpSpPr>
          <p:grpSpPr>
            <a:xfrm>
              <a:off x="2127615" y="1872580"/>
              <a:ext cx="1686798" cy="1687408"/>
              <a:chOff x="4345444" y="2542859"/>
              <a:chExt cx="1810550" cy="1811205"/>
            </a:xfrm>
          </p:grpSpPr>
          <p:grpSp>
            <p:nvGrpSpPr>
              <p:cNvPr id="7" name="组合 6">
                <a:extLst>
                  <a:ext uri="{FF2B5EF4-FFF2-40B4-BE49-F238E27FC236}">
                    <a16:creationId xmlns:a16="http://schemas.microsoft.com/office/drawing/2014/main" id="{26B2723C-898C-5EC2-13E4-F8A87AFD7FA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 name="同心圆 8">
                  <a:extLst>
                    <a:ext uri="{FF2B5EF4-FFF2-40B4-BE49-F238E27FC236}">
                      <a16:creationId xmlns:a16="http://schemas.microsoft.com/office/drawing/2014/main" id="{282664DE-121C-26D4-FB77-6411721FB4C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椭圆 9">
                  <a:extLst>
                    <a:ext uri="{FF2B5EF4-FFF2-40B4-BE49-F238E27FC236}">
                      <a16:creationId xmlns:a16="http://schemas.microsoft.com/office/drawing/2014/main" id="{708DC640-0630-B2B3-C0D7-439E8259B8DA}"/>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8" name="椭圆 7">
                <a:extLst>
                  <a:ext uri="{FF2B5EF4-FFF2-40B4-BE49-F238E27FC236}">
                    <a16:creationId xmlns:a16="http://schemas.microsoft.com/office/drawing/2014/main" id="{D2A31B0F-AA3A-844F-A79F-FA7CF754EA22}"/>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3" name="组合 112">
              <a:extLst>
                <a:ext uri="{FF2B5EF4-FFF2-40B4-BE49-F238E27FC236}">
                  <a16:creationId xmlns:a16="http://schemas.microsoft.com/office/drawing/2014/main" id="{AD66D722-3BD8-8189-CA08-7C111A156616}"/>
                </a:ext>
              </a:extLst>
            </p:cNvPr>
            <p:cNvGrpSpPr/>
            <p:nvPr/>
          </p:nvGrpSpPr>
          <p:grpSpPr>
            <a:xfrm>
              <a:off x="2656089" y="2395063"/>
              <a:ext cx="584048" cy="589248"/>
              <a:chOff x="2885248" y="1508265"/>
              <a:chExt cx="391152" cy="394635"/>
            </a:xfrm>
          </p:grpSpPr>
          <p:sp>
            <p:nvSpPr>
              <p:cNvPr id="74" name="Freeform 42">
                <a:extLst>
                  <a:ext uri="{FF2B5EF4-FFF2-40B4-BE49-F238E27FC236}">
                    <a16:creationId xmlns:a16="http://schemas.microsoft.com/office/drawing/2014/main" id="{0B5040F8-E154-069C-26B5-E77FD798EA43}"/>
                  </a:ext>
                </a:extLst>
              </p:cNvPr>
              <p:cNvSpPr>
                <a:spLocks noEditPoints="1" noChangeArrowheads="1"/>
              </p:cNvSpPr>
              <p:nvPr/>
            </p:nvSpPr>
            <p:spPr bwMode="auto">
              <a:xfrm>
                <a:off x="2885248" y="1508265"/>
                <a:ext cx="391152" cy="394635"/>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5" name="Freeform 43">
                <a:extLst>
                  <a:ext uri="{FF2B5EF4-FFF2-40B4-BE49-F238E27FC236}">
                    <a16:creationId xmlns:a16="http://schemas.microsoft.com/office/drawing/2014/main" id="{2ADB26D2-44A8-8896-3E88-9838042C41B0}"/>
                  </a:ext>
                </a:extLst>
              </p:cNvPr>
              <p:cNvSpPr>
                <a:spLocks noChangeArrowheads="1"/>
              </p:cNvSpPr>
              <p:nvPr/>
            </p:nvSpPr>
            <p:spPr bwMode="auto">
              <a:xfrm>
                <a:off x="2989718" y="1603270"/>
                <a:ext cx="136053" cy="194881"/>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3" name="组合 2">
            <a:extLst>
              <a:ext uri="{FF2B5EF4-FFF2-40B4-BE49-F238E27FC236}">
                <a16:creationId xmlns:a16="http://schemas.microsoft.com/office/drawing/2014/main" id="{40D1FEDA-440A-2761-57C2-33CFFC373688}"/>
              </a:ext>
            </a:extLst>
          </p:cNvPr>
          <p:cNvGrpSpPr/>
          <p:nvPr/>
        </p:nvGrpSpPr>
        <p:grpSpPr>
          <a:xfrm>
            <a:off x="4313785" y="1558812"/>
            <a:ext cx="1460314" cy="1460842"/>
            <a:chOff x="4781914" y="1872580"/>
            <a:chExt cx="1686798" cy="1687408"/>
          </a:xfrm>
        </p:grpSpPr>
        <p:grpSp>
          <p:nvGrpSpPr>
            <p:cNvPr id="14" name="组合 13">
              <a:extLst>
                <a:ext uri="{FF2B5EF4-FFF2-40B4-BE49-F238E27FC236}">
                  <a16:creationId xmlns:a16="http://schemas.microsoft.com/office/drawing/2014/main" id="{484A9342-4D12-CA47-4E3E-E8521939E45E}"/>
                </a:ext>
              </a:extLst>
            </p:cNvPr>
            <p:cNvGrpSpPr/>
            <p:nvPr/>
          </p:nvGrpSpPr>
          <p:grpSpPr>
            <a:xfrm>
              <a:off x="4781914" y="1872580"/>
              <a:ext cx="1686798" cy="1687408"/>
              <a:chOff x="4345444" y="2542859"/>
              <a:chExt cx="1810550" cy="1811205"/>
            </a:xfrm>
          </p:grpSpPr>
          <p:grpSp>
            <p:nvGrpSpPr>
              <p:cNvPr id="15" name="组合 14">
                <a:extLst>
                  <a:ext uri="{FF2B5EF4-FFF2-40B4-BE49-F238E27FC236}">
                    <a16:creationId xmlns:a16="http://schemas.microsoft.com/office/drawing/2014/main" id="{F3F9650E-03CE-DB4B-C620-D061F2A046DD}"/>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17" name="同心圆 16">
                  <a:extLst>
                    <a:ext uri="{FF2B5EF4-FFF2-40B4-BE49-F238E27FC236}">
                      <a16:creationId xmlns:a16="http://schemas.microsoft.com/office/drawing/2014/main" id="{13F5477D-9AD2-5DF5-F95D-E20322DC5CF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椭圆 17">
                  <a:extLst>
                    <a:ext uri="{FF2B5EF4-FFF2-40B4-BE49-F238E27FC236}">
                      <a16:creationId xmlns:a16="http://schemas.microsoft.com/office/drawing/2014/main" id="{B7A659F7-216C-F9E2-190E-9E1C178070DC}"/>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16" name="椭圆 15">
                <a:extLst>
                  <a:ext uri="{FF2B5EF4-FFF2-40B4-BE49-F238E27FC236}">
                    <a16:creationId xmlns:a16="http://schemas.microsoft.com/office/drawing/2014/main" id="{FE8A8782-08E6-239F-B577-C1F919644F2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2" name="组合 111">
              <a:extLst>
                <a:ext uri="{FF2B5EF4-FFF2-40B4-BE49-F238E27FC236}">
                  <a16:creationId xmlns:a16="http://schemas.microsoft.com/office/drawing/2014/main" id="{60108356-C4FF-4A30-8B68-1EB6CF97F373}"/>
                </a:ext>
              </a:extLst>
            </p:cNvPr>
            <p:cNvGrpSpPr/>
            <p:nvPr/>
          </p:nvGrpSpPr>
          <p:grpSpPr>
            <a:xfrm>
              <a:off x="5335816" y="2401324"/>
              <a:ext cx="711677" cy="620265"/>
              <a:chOff x="5263769" y="1554660"/>
              <a:chExt cx="379547" cy="330796"/>
            </a:xfrm>
          </p:grpSpPr>
          <p:sp>
            <p:nvSpPr>
              <p:cNvPr id="77" name="Freeform 110">
                <a:extLst>
                  <a:ext uri="{FF2B5EF4-FFF2-40B4-BE49-F238E27FC236}">
                    <a16:creationId xmlns:a16="http://schemas.microsoft.com/office/drawing/2014/main" id="{26B5D13C-5A11-11AD-6BE2-D4048847CBE5}"/>
                  </a:ext>
                </a:extLst>
              </p:cNvPr>
              <p:cNvSpPr>
                <a:spLocks noChangeArrowheads="1"/>
              </p:cNvSpPr>
              <p:nvPr/>
            </p:nvSpPr>
            <p:spPr bwMode="auto">
              <a:xfrm>
                <a:off x="5516800" y="1654385"/>
                <a:ext cx="99754" cy="99726"/>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8" name="Freeform 111">
                <a:extLst>
                  <a:ext uri="{FF2B5EF4-FFF2-40B4-BE49-F238E27FC236}">
                    <a16:creationId xmlns:a16="http://schemas.microsoft.com/office/drawing/2014/main" id="{699B3557-E1FF-30F9-81BF-9BB180CD686A}"/>
                  </a:ext>
                </a:extLst>
              </p:cNvPr>
              <p:cNvSpPr>
                <a:spLocks noChangeArrowheads="1"/>
              </p:cNvSpPr>
              <p:nvPr/>
            </p:nvSpPr>
            <p:spPr bwMode="auto">
              <a:xfrm>
                <a:off x="5494902" y="1627629"/>
                <a:ext cx="107051" cy="111887"/>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9" name="Freeform 112">
                <a:extLst>
                  <a:ext uri="{FF2B5EF4-FFF2-40B4-BE49-F238E27FC236}">
                    <a16:creationId xmlns:a16="http://schemas.microsoft.com/office/drawing/2014/main" id="{A9CB4B82-5196-94C0-B137-9E434D27B0B7}"/>
                  </a:ext>
                </a:extLst>
              </p:cNvPr>
              <p:cNvSpPr>
                <a:spLocks noChangeArrowheads="1"/>
              </p:cNvSpPr>
              <p:nvPr/>
            </p:nvSpPr>
            <p:spPr bwMode="auto">
              <a:xfrm>
                <a:off x="5475438" y="1613035"/>
                <a:ext cx="102186" cy="102158"/>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0" name="Freeform 113">
                <a:extLst>
                  <a:ext uri="{FF2B5EF4-FFF2-40B4-BE49-F238E27FC236}">
                    <a16:creationId xmlns:a16="http://schemas.microsoft.com/office/drawing/2014/main" id="{D549CB5C-914C-4B7D-29C1-03AAC6F8F1C0}"/>
                  </a:ext>
                </a:extLst>
              </p:cNvPr>
              <p:cNvSpPr>
                <a:spLocks noChangeArrowheads="1"/>
              </p:cNvSpPr>
              <p:nvPr/>
            </p:nvSpPr>
            <p:spPr bwMode="auto">
              <a:xfrm>
                <a:off x="5448676" y="1712761"/>
                <a:ext cx="68124" cy="68105"/>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1" name="Freeform 114">
                <a:extLst>
                  <a:ext uri="{FF2B5EF4-FFF2-40B4-BE49-F238E27FC236}">
                    <a16:creationId xmlns:a16="http://schemas.microsoft.com/office/drawing/2014/main" id="{4915C80C-A740-1C63-80F7-25551B2D871C}"/>
                  </a:ext>
                </a:extLst>
              </p:cNvPr>
              <p:cNvSpPr>
                <a:spLocks noChangeArrowheads="1"/>
              </p:cNvSpPr>
              <p:nvPr/>
            </p:nvSpPr>
            <p:spPr bwMode="auto">
              <a:xfrm>
                <a:off x="5431645" y="1768704"/>
                <a:ext cx="34062" cy="31621"/>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2" name="Freeform 115">
                <a:extLst>
                  <a:ext uri="{FF2B5EF4-FFF2-40B4-BE49-F238E27FC236}">
                    <a16:creationId xmlns:a16="http://schemas.microsoft.com/office/drawing/2014/main" id="{A12B3DB3-8A31-6A37-49EA-D081A1F7CEA1}"/>
                  </a:ext>
                </a:extLst>
              </p:cNvPr>
              <p:cNvSpPr>
                <a:spLocks noChangeArrowheads="1"/>
              </p:cNvSpPr>
              <p:nvPr/>
            </p:nvSpPr>
            <p:spPr bwMode="auto">
              <a:xfrm>
                <a:off x="5575192" y="1588713"/>
                <a:ext cx="68124" cy="68105"/>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3" name="Freeform 116">
                <a:extLst>
                  <a:ext uri="{FF2B5EF4-FFF2-40B4-BE49-F238E27FC236}">
                    <a16:creationId xmlns:a16="http://schemas.microsoft.com/office/drawing/2014/main" id="{3EE9E8EA-27C6-9D1E-D112-B13787A3167D}"/>
                  </a:ext>
                </a:extLst>
              </p:cNvPr>
              <p:cNvSpPr>
                <a:spLocks noChangeArrowheads="1"/>
              </p:cNvSpPr>
              <p:nvPr/>
            </p:nvSpPr>
            <p:spPr bwMode="auto">
              <a:xfrm>
                <a:off x="5263769" y="1554660"/>
                <a:ext cx="272495" cy="33079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4" name="Rectangle 117">
                <a:extLst>
                  <a:ext uri="{FF2B5EF4-FFF2-40B4-BE49-F238E27FC236}">
                    <a16:creationId xmlns:a16="http://schemas.microsoft.com/office/drawing/2014/main" id="{3CEBFD03-35C7-742A-D20D-F4CBAD937B8B}"/>
                  </a:ext>
                </a:extLst>
              </p:cNvPr>
              <p:cNvSpPr>
                <a:spLocks noChangeArrowheads="1"/>
              </p:cNvSpPr>
              <p:nvPr/>
            </p:nvSpPr>
            <p:spPr bwMode="auto">
              <a:xfrm>
                <a:off x="5312429" y="1666547"/>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5" name="Rectangle 118">
                <a:extLst>
                  <a:ext uri="{FF2B5EF4-FFF2-40B4-BE49-F238E27FC236}">
                    <a16:creationId xmlns:a16="http://schemas.microsoft.com/office/drawing/2014/main" id="{1695CA00-8576-0ADE-8764-44ACBBDCB7DD}"/>
                  </a:ext>
                </a:extLst>
              </p:cNvPr>
              <p:cNvSpPr>
                <a:spLocks noChangeArrowheads="1"/>
              </p:cNvSpPr>
              <p:nvPr/>
            </p:nvSpPr>
            <p:spPr bwMode="auto">
              <a:xfrm>
                <a:off x="5312429" y="1705464"/>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6" name="Rectangle 119">
                <a:extLst>
                  <a:ext uri="{FF2B5EF4-FFF2-40B4-BE49-F238E27FC236}">
                    <a16:creationId xmlns:a16="http://schemas.microsoft.com/office/drawing/2014/main" id="{7983203A-528C-48B4-D8B1-6C75F07B49E1}"/>
                  </a:ext>
                </a:extLst>
              </p:cNvPr>
              <p:cNvSpPr>
                <a:spLocks noChangeArrowheads="1"/>
              </p:cNvSpPr>
              <p:nvPr/>
            </p:nvSpPr>
            <p:spPr bwMode="auto">
              <a:xfrm>
                <a:off x="5312429" y="1749246"/>
                <a:ext cx="107051" cy="145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7" name="Rectangle 120">
                <a:extLst>
                  <a:ext uri="{FF2B5EF4-FFF2-40B4-BE49-F238E27FC236}">
                    <a16:creationId xmlns:a16="http://schemas.microsoft.com/office/drawing/2014/main" id="{75D0BD38-AFA1-5B37-6309-7DD2164A7099}"/>
                  </a:ext>
                </a:extLst>
              </p:cNvPr>
              <p:cNvSpPr>
                <a:spLocks noChangeArrowheads="1"/>
              </p:cNvSpPr>
              <p:nvPr/>
            </p:nvSpPr>
            <p:spPr bwMode="auto">
              <a:xfrm>
                <a:off x="5312429" y="1790596"/>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2" name="组合 11">
            <a:extLst>
              <a:ext uri="{FF2B5EF4-FFF2-40B4-BE49-F238E27FC236}">
                <a16:creationId xmlns:a16="http://schemas.microsoft.com/office/drawing/2014/main" id="{60AD3212-7F33-E4A2-D977-C68A9C5A3B5F}"/>
              </a:ext>
            </a:extLst>
          </p:cNvPr>
          <p:cNvGrpSpPr/>
          <p:nvPr/>
        </p:nvGrpSpPr>
        <p:grpSpPr>
          <a:xfrm>
            <a:off x="8810891" y="1558812"/>
            <a:ext cx="1460314" cy="1460842"/>
            <a:chOff x="9976487" y="1872580"/>
            <a:chExt cx="1686798" cy="1687408"/>
          </a:xfrm>
        </p:grpSpPr>
        <p:grpSp>
          <p:nvGrpSpPr>
            <p:cNvPr id="30" name="组合 29">
              <a:extLst>
                <a:ext uri="{FF2B5EF4-FFF2-40B4-BE49-F238E27FC236}">
                  <a16:creationId xmlns:a16="http://schemas.microsoft.com/office/drawing/2014/main" id="{EF77050E-AD98-6D7A-DA94-BFCA2049BA7A}"/>
                </a:ext>
              </a:extLst>
            </p:cNvPr>
            <p:cNvGrpSpPr/>
            <p:nvPr/>
          </p:nvGrpSpPr>
          <p:grpSpPr>
            <a:xfrm>
              <a:off x="9976487" y="1872580"/>
              <a:ext cx="1686798" cy="1687408"/>
              <a:chOff x="4345444" y="2542859"/>
              <a:chExt cx="1810550" cy="1811205"/>
            </a:xfrm>
          </p:grpSpPr>
          <p:grpSp>
            <p:nvGrpSpPr>
              <p:cNvPr id="31" name="组合 30">
                <a:extLst>
                  <a:ext uri="{FF2B5EF4-FFF2-40B4-BE49-F238E27FC236}">
                    <a16:creationId xmlns:a16="http://schemas.microsoft.com/office/drawing/2014/main" id="{E09CBD37-B6D5-51F5-5E42-77132D92E52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33" name="同心圆 32">
                  <a:extLst>
                    <a:ext uri="{FF2B5EF4-FFF2-40B4-BE49-F238E27FC236}">
                      <a16:creationId xmlns:a16="http://schemas.microsoft.com/office/drawing/2014/main" id="{859F0411-DC7A-6561-09AF-B4F69B7A81C9}"/>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椭圆 33">
                  <a:extLst>
                    <a:ext uri="{FF2B5EF4-FFF2-40B4-BE49-F238E27FC236}">
                      <a16:creationId xmlns:a16="http://schemas.microsoft.com/office/drawing/2014/main" id="{A6AED8D0-F51C-C6EE-9300-9321880AED3F}"/>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32" name="椭圆 31">
                <a:extLst>
                  <a:ext uri="{FF2B5EF4-FFF2-40B4-BE49-F238E27FC236}">
                    <a16:creationId xmlns:a16="http://schemas.microsoft.com/office/drawing/2014/main" id="{3A4CB1A0-6103-85C1-2A6E-089D1530C930}"/>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0" name="组合 109">
              <a:extLst>
                <a:ext uri="{FF2B5EF4-FFF2-40B4-BE49-F238E27FC236}">
                  <a16:creationId xmlns:a16="http://schemas.microsoft.com/office/drawing/2014/main" id="{6BBC4EB9-EACD-8AA1-D7E2-5A60982B7C1A}"/>
                </a:ext>
              </a:extLst>
            </p:cNvPr>
            <p:cNvGrpSpPr/>
            <p:nvPr/>
          </p:nvGrpSpPr>
          <p:grpSpPr>
            <a:xfrm>
              <a:off x="10405129" y="2280188"/>
              <a:ext cx="820680" cy="812962"/>
              <a:chOff x="9364954" y="1516098"/>
              <a:chExt cx="370262" cy="366780"/>
            </a:xfrm>
          </p:grpSpPr>
          <p:sp>
            <p:nvSpPr>
              <p:cNvPr id="89" name="Freeform 150">
                <a:extLst>
                  <a:ext uri="{FF2B5EF4-FFF2-40B4-BE49-F238E27FC236}">
                    <a16:creationId xmlns:a16="http://schemas.microsoft.com/office/drawing/2014/main" id="{0FAFD8B2-8AD6-E869-F515-438B9EE97D2D}"/>
                  </a:ext>
                </a:extLst>
              </p:cNvPr>
              <p:cNvSpPr>
                <a:spLocks noEditPoints="1" noChangeArrowheads="1"/>
              </p:cNvSpPr>
              <p:nvPr/>
            </p:nvSpPr>
            <p:spPr bwMode="auto">
              <a:xfrm>
                <a:off x="9364954" y="1516098"/>
                <a:ext cx="370262" cy="366780"/>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0" name="Rectangle 151">
                <a:extLst>
                  <a:ext uri="{FF2B5EF4-FFF2-40B4-BE49-F238E27FC236}">
                    <a16:creationId xmlns:a16="http://schemas.microsoft.com/office/drawing/2014/main" id="{27B8A6CC-CD8D-79F6-63EC-11CF330D6179}"/>
                  </a:ext>
                </a:extLst>
              </p:cNvPr>
              <p:cNvSpPr>
                <a:spLocks noChangeArrowheads="1"/>
              </p:cNvSpPr>
              <p:nvPr/>
            </p:nvSpPr>
            <p:spPr bwMode="auto">
              <a:xfrm>
                <a:off x="9506239" y="1780859"/>
                <a:ext cx="21924"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1" name="Rectangle 152">
                <a:extLst>
                  <a:ext uri="{FF2B5EF4-FFF2-40B4-BE49-F238E27FC236}">
                    <a16:creationId xmlns:a16="http://schemas.microsoft.com/office/drawing/2014/main" id="{67C3482B-7D89-6511-4F9A-4D86EDF91A22}"/>
                  </a:ext>
                </a:extLst>
              </p:cNvPr>
              <p:cNvSpPr>
                <a:spLocks noChangeArrowheads="1"/>
              </p:cNvSpPr>
              <p:nvPr/>
            </p:nvSpPr>
            <p:spPr bwMode="auto">
              <a:xfrm>
                <a:off x="9540342"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2" name="Rectangle 153">
                <a:extLst>
                  <a:ext uri="{FF2B5EF4-FFF2-40B4-BE49-F238E27FC236}">
                    <a16:creationId xmlns:a16="http://schemas.microsoft.com/office/drawing/2014/main" id="{9B76E1BD-66B7-BB00-15B1-113C6251D1E3}"/>
                  </a:ext>
                </a:extLst>
              </p:cNvPr>
              <p:cNvSpPr>
                <a:spLocks noChangeArrowheads="1"/>
              </p:cNvSpPr>
              <p:nvPr/>
            </p:nvSpPr>
            <p:spPr bwMode="auto">
              <a:xfrm>
                <a:off x="9574445"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3" name="Freeform 154">
                <a:extLst>
                  <a:ext uri="{FF2B5EF4-FFF2-40B4-BE49-F238E27FC236}">
                    <a16:creationId xmlns:a16="http://schemas.microsoft.com/office/drawing/2014/main" id="{5CFA6C6D-EDF1-2734-9A3B-A31F27D49028}"/>
                  </a:ext>
                </a:extLst>
              </p:cNvPr>
              <p:cNvSpPr>
                <a:spLocks noChangeArrowheads="1"/>
              </p:cNvSpPr>
              <p:nvPr/>
            </p:nvSpPr>
            <p:spPr bwMode="auto">
              <a:xfrm>
                <a:off x="9479444" y="1620544"/>
                <a:ext cx="80387" cy="82586"/>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4" name="Freeform 155">
                <a:extLst>
                  <a:ext uri="{FF2B5EF4-FFF2-40B4-BE49-F238E27FC236}">
                    <a16:creationId xmlns:a16="http://schemas.microsoft.com/office/drawing/2014/main" id="{A19965E2-A2E8-0F0C-F41D-E6D48B2565B4}"/>
                  </a:ext>
                </a:extLst>
              </p:cNvPr>
              <p:cNvSpPr>
                <a:spLocks noChangeArrowheads="1"/>
              </p:cNvSpPr>
              <p:nvPr/>
            </p:nvSpPr>
            <p:spPr bwMode="auto">
              <a:xfrm>
                <a:off x="9430725" y="1780859"/>
                <a:ext cx="21924" cy="19432"/>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5" name="Freeform 156">
                <a:extLst>
                  <a:ext uri="{FF2B5EF4-FFF2-40B4-BE49-F238E27FC236}">
                    <a16:creationId xmlns:a16="http://schemas.microsoft.com/office/drawing/2014/main" id="{C858C725-6D72-7301-A5C5-622D5F2BA576}"/>
                  </a:ext>
                </a:extLst>
              </p:cNvPr>
              <p:cNvSpPr>
                <a:spLocks noChangeArrowheads="1"/>
              </p:cNvSpPr>
              <p:nvPr/>
            </p:nvSpPr>
            <p:spPr bwMode="auto">
              <a:xfrm>
                <a:off x="9411238" y="1737137"/>
                <a:ext cx="26796" cy="14574"/>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6" name="Freeform 157">
                <a:extLst>
                  <a:ext uri="{FF2B5EF4-FFF2-40B4-BE49-F238E27FC236}">
                    <a16:creationId xmlns:a16="http://schemas.microsoft.com/office/drawing/2014/main" id="{AF0F02E5-C745-9181-7524-6D900751B496}"/>
                  </a:ext>
                </a:extLst>
              </p:cNvPr>
              <p:cNvSpPr>
                <a:spLocks noChangeArrowheads="1"/>
              </p:cNvSpPr>
              <p:nvPr/>
            </p:nvSpPr>
            <p:spPr bwMode="auto">
              <a:xfrm>
                <a:off x="9442904" y="1588969"/>
                <a:ext cx="19487" cy="21862"/>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7" name="Freeform 158">
                <a:extLst>
                  <a:ext uri="{FF2B5EF4-FFF2-40B4-BE49-F238E27FC236}">
                    <a16:creationId xmlns:a16="http://schemas.microsoft.com/office/drawing/2014/main" id="{DFC198B4-DC35-11DA-1E0B-642955339071}"/>
                  </a:ext>
                </a:extLst>
              </p:cNvPr>
              <p:cNvSpPr>
                <a:spLocks noChangeArrowheads="1"/>
              </p:cNvSpPr>
              <p:nvPr/>
            </p:nvSpPr>
            <p:spPr bwMode="auto">
              <a:xfrm>
                <a:off x="9413673" y="1637548"/>
                <a:ext cx="26796" cy="12146"/>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8" name="Rectangle 159">
                <a:extLst>
                  <a:ext uri="{FF2B5EF4-FFF2-40B4-BE49-F238E27FC236}">
                    <a16:creationId xmlns:a16="http://schemas.microsoft.com/office/drawing/2014/main" id="{132CC572-ABFA-D882-5C4F-AC148C84E43D}"/>
                  </a:ext>
                </a:extLst>
              </p:cNvPr>
              <p:cNvSpPr>
                <a:spLocks noChangeArrowheads="1"/>
              </p:cNvSpPr>
              <p:nvPr/>
            </p:nvSpPr>
            <p:spPr bwMode="auto">
              <a:xfrm>
                <a:off x="9547650" y="1550104"/>
                <a:ext cx="7308" cy="21862"/>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9" name="Freeform 160">
                <a:extLst>
                  <a:ext uri="{FF2B5EF4-FFF2-40B4-BE49-F238E27FC236}">
                    <a16:creationId xmlns:a16="http://schemas.microsoft.com/office/drawing/2014/main" id="{95A8185B-89E8-4ACB-9628-0F04E0728935}"/>
                  </a:ext>
                </a:extLst>
              </p:cNvPr>
              <p:cNvSpPr>
                <a:spLocks noChangeArrowheads="1"/>
              </p:cNvSpPr>
              <p:nvPr/>
            </p:nvSpPr>
            <p:spPr bwMode="auto">
              <a:xfrm>
                <a:off x="9481879" y="1559820"/>
                <a:ext cx="17052" cy="21862"/>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0" name="Freeform 161">
                <a:extLst>
                  <a:ext uri="{FF2B5EF4-FFF2-40B4-BE49-F238E27FC236}">
                    <a16:creationId xmlns:a16="http://schemas.microsoft.com/office/drawing/2014/main" id="{570A08CC-DF36-B3A2-C853-0D6A565E0364}"/>
                  </a:ext>
                </a:extLst>
              </p:cNvPr>
              <p:cNvSpPr>
                <a:spLocks noChangeArrowheads="1"/>
              </p:cNvSpPr>
              <p:nvPr/>
            </p:nvSpPr>
            <p:spPr bwMode="auto">
              <a:xfrm>
                <a:off x="9593932" y="1559820"/>
                <a:ext cx="12181" cy="26719"/>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1" name="Freeform 162">
                <a:extLst>
                  <a:ext uri="{FF2B5EF4-FFF2-40B4-BE49-F238E27FC236}">
                    <a16:creationId xmlns:a16="http://schemas.microsoft.com/office/drawing/2014/main" id="{0710E76C-7B3B-B9E0-F2E4-5125E07EF70B}"/>
                  </a:ext>
                </a:extLst>
              </p:cNvPr>
              <p:cNvSpPr>
                <a:spLocks noChangeArrowheads="1"/>
              </p:cNvSpPr>
              <p:nvPr/>
            </p:nvSpPr>
            <p:spPr bwMode="auto">
              <a:xfrm>
                <a:off x="9635344" y="1780859"/>
                <a:ext cx="21924" cy="19432"/>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2" name="Freeform 163">
                <a:extLst>
                  <a:ext uri="{FF2B5EF4-FFF2-40B4-BE49-F238E27FC236}">
                    <a16:creationId xmlns:a16="http://schemas.microsoft.com/office/drawing/2014/main" id="{E14A0B52-4D43-F021-548E-2E395AA3C9D5}"/>
                  </a:ext>
                </a:extLst>
              </p:cNvPr>
              <p:cNvSpPr>
                <a:spLocks noChangeArrowheads="1"/>
              </p:cNvSpPr>
              <p:nvPr/>
            </p:nvSpPr>
            <p:spPr bwMode="auto">
              <a:xfrm>
                <a:off x="9662138" y="1737137"/>
                <a:ext cx="24360" cy="14574"/>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3" name="Freeform 164">
                <a:extLst>
                  <a:ext uri="{FF2B5EF4-FFF2-40B4-BE49-F238E27FC236}">
                    <a16:creationId xmlns:a16="http://schemas.microsoft.com/office/drawing/2014/main" id="{E048B283-034F-F692-572E-A273B4253787}"/>
                  </a:ext>
                </a:extLst>
              </p:cNvPr>
              <p:cNvSpPr>
                <a:spLocks noChangeArrowheads="1"/>
              </p:cNvSpPr>
              <p:nvPr/>
            </p:nvSpPr>
            <p:spPr bwMode="auto">
              <a:xfrm>
                <a:off x="9632907" y="1588969"/>
                <a:ext cx="21924" cy="21862"/>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4" name="Freeform 165">
                <a:extLst>
                  <a:ext uri="{FF2B5EF4-FFF2-40B4-BE49-F238E27FC236}">
                    <a16:creationId xmlns:a16="http://schemas.microsoft.com/office/drawing/2014/main" id="{B808C293-7074-E7B3-F29B-2B109AFFAA93}"/>
                  </a:ext>
                </a:extLst>
              </p:cNvPr>
              <p:cNvSpPr>
                <a:spLocks noChangeArrowheads="1"/>
              </p:cNvSpPr>
              <p:nvPr/>
            </p:nvSpPr>
            <p:spPr bwMode="auto">
              <a:xfrm>
                <a:off x="9657266" y="1637548"/>
                <a:ext cx="26796" cy="12146"/>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5" name="Rectangle 166">
                <a:extLst>
                  <a:ext uri="{FF2B5EF4-FFF2-40B4-BE49-F238E27FC236}">
                    <a16:creationId xmlns:a16="http://schemas.microsoft.com/office/drawing/2014/main" id="{3C4393FE-C86F-7216-EC49-39B4E4AAC3E7}"/>
                  </a:ext>
                </a:extLst>
              </p:cNvPr>
              <p:cNvSpPr>
                <a:spLocks noChangeArrowheads="1"/>
              </p:cNvSpPr>
              <p:nvPr/>
            </p:nvSpPr>
            <p:spPr bwMode="auto">
              <a:xfrm>
                <a:off x="9403929" y="1686128"/>
                <a:ext cx="24360"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6" name="Rectangle 167">
                <a:extLst>
                  <a:ext uri="{FF2B5EF4-FFF2-40B4-BE49-F238E27FC236}">
                    <a16:creationId xmlns:a16="http://schemas.microsoft.com/office/drawing/2014/main" id="{D640F8DC-6A02-354D-CF23-075746FC9087}"/>
                  </a:ext>
                </a:extLst>
              </p:cNvPr>
              <p:cNvSpPr>
                <a:spLocks noChangeArrowheads="1"/>
              </p:cNvSpPr>
              <p:nvPr/>
            </p:nvSpPr>
            <p:spPr bwMode="auto">
              <a:xfrm>
                <a:off x="9674318" y="1688557"/>
                <a:ext cx="26796"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1" name="组合 10">
            <a:extLst>
              <a:ext uri="{FF2B5EF4-FFF2-40B4-BE49-F238E27FC236}">
                <a16:creationId xmlns:a16="http://schemas.microsoft.com/office/drawing/2014/main" id="{A90F9276-1D42-7C5C-D375-9C783FF6A31B}"/>
              </a:ext>
            </a:extLst>
          </p:cNvPr>
          <p:cNvGrpSpPr/>
          <p:nvPr/>
        </p:nvGrpSpPr>
        <p:grpSpPr>
          <a:xfrm>
            <a:off x="6629005" y="1558812"/>
            <a:ext cx="1460314" cy="1460842"/>
            <a:chOff x="7456207" y="1872580"/>
            <a:chExt cx="1686798" cy="1687408"/>
          </a:xfrm>
        </p:grpSpPr>
        <p:grpSp>
          <p:nvGrpSpPr>
            <p:cNvPr id="22" name="组合 21">
              <a:extLst>
                <a:ext uri="{FF2B5EF4-FFF2-40B4-BE49-F238E27FC236}">
                  <a16:creationId xmlns:a16="http://schemas.microsoft.com/office/drawing/2014/main" id="{D77115E3-F2F2-CAD5-0BA7-D52CA5C8A0A7}"/>
                </a:ext>
              </a:extLst>
            </p:cNvPr>
            <p:cNvGrpSpPr/>
            <p:nvPr/>
          </p:nvGrpSpPr>
          <p:grpSpPr>
            <a:xfrm>
              <a:off x="7456207" y="1872580"/>
              <a:ext cx="1686798" cy="1687408"/>
              <a:chOff x="4345444" y="2542859"/>
              <a:chExt cx="1810550" cy="1811205"/>
            </a:xfrm>
          </p:grpSpPr>
          <p:grpSp>
            <p:nvGrpSpPr>
              <p:cNvPr id="23" name="组合 22">
                <a:extLst>
                  <a:ext uri="{FF2B5EF4-FFF2-40B4-BE49-F238E27FC236}">
                    <a16:creationId xmlns:a16="http://schemas.microsoft.com/office/drawing/2014/main" id="{E51B9A7A-24F3-BA65-7209-A31DE86BCD3C}"/>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25" name="同心圆 24">
                  <a:extLst>
                    <a:ext uri="{FF2B5EF4-FFF2-40B4-BE49-F238E27FC236}">
                      <a16:creationId xmlns:a16="http://schemas.microsoft.com/office/drawing/2014/main" id="{33BB7665-25DD-DE15-10BB-28CD9515A59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椭圆 25">
                  <a:extLst>
                    <a:ext uri="{FF2B5EF4-FFF2-40B4-BE49-F238E27FC236}">
                      <a16:creationId xmlns:a16="http://schemas.microsoft.com/office/drawing/2014/main" id="{6F9A2AED-9E65-8879-756B-17AD13AEDC02}"/>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24" name="椭圆 23">
                <a:extLst>
                  <a:ext uri="{FF2B5EF4-FFF2-40B4-BE49-F238E27FC236}">
                    <a16:creationId xmlns:a16="http://schemas.microsoft.com/office/drawing/2014/main" id="{72FAA980-9EAF-582E-9CF4-78BAF509D10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1" name="组合 110">
              <a:extLst>
                <a:ext uri="{FF2B5EF4-FFF2-40B4-BE49-F238E27FC236}">
                  <a16:creationId xmlns:a16="http://schemas.microsoft.com/office/drawing/2014/main" id="{49E25F0B-4F57-E579-643C-AE5B7CF21D63}"/>
                </a:ext>
              </a:extLst>
            </p:cNvPr>
            <p:cNvGrpSpPr/>
            <p:nvPr/>
          </p:nvGrpSpPr>
          <p:grpSpPr>
            <a:xfrm>
              <a:off x="8004999" y="2442675"/>
              <a:ext cx="487381" cy="632430"/>
              <a:chOff x="7363063" y="1563805"/>
              <a:chExt cx="292497" cy="379547"/>
            </a:xfrm>
          </p:grpSpPr>
          <p:sp>
            <p:nvSpPr>
              <p:cNvPr id="108" name="Freeform 170">
                <a:extLst>
                  <a:ext uri="{FF2B5EF4-FFF2-40B4-BE49-F238E27FC236}">
                    <a16:creationId xmlns:a16="http://schemas.microsoft.com/office/drawing/2014/main" id="{F97D355C-8335-CFD1-5DEF-D55F11BCBE7E}"/>
                  </a:ext>
                </a:extLst>
              </p:cNvPr>
              <p:cNvSpPr>
                <a:spLocks noChangeArrowheads="1"/>
              </p:cNvSpPr>
              <p:nvPr/>
            </p:nvSpPr>
            <p:spPr bwMode="auto">
              <a:xfrm>
                <a:off x="7363063" y="1673290"/>
                <a:ext cx="292497" cy="27006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9" name="Freeform 171">
                <a:extLst>
                  <a:ext uri="{FF2B5EF4-FFF2-40B4-BE49-F238E27FC236}">
                    <a16:creationId xmlns:a16="http://schemas.microsoft.com/office/drawing/2014/main" id="{690D8945-0C9B-0BC8-DDBB-96C70504FC3F}"/>
                  </a:ext>
                </a:extLst>
              </p:cNvPr>
              <p:cNvSpPr>
                <a:spLocks noChangeArrowheads="1"/>
              </p:cNvSpPr>
              <p:nvPr/>
            </p:nvSpPr>
            <p:spPr bwMode="auto">
              <a:xfrm>
                <a:off x="7363063" y="1563805"/>
                <a:ext cx="292497" cy="92454"/>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sp>
        <p:nvSpPr>
          <p:cNvPr id="114" name="矩形 30">
            <a:extLst>
              <a:ext uri="{FF2B5EF4-FFF2-40B4-BE49-F238E27FC236}">
                <a16:creationId xmlns:a16="http://schemas.microsoft.com/office/drawing/2014/main" id="{BDC7421B-A2E9-8BD4-5266-A5AD9DA14834}"/>
              </a:ext>
            </a:extLst>
          </p:cNvPr>
          <p:cNvSpPr>
            <a:spLocks noChangeArrowheads="1"/>
          </p:cNvSpPr>
          <p:nvPr/>
        </p:nvSpPr>
        <p:spPr bwMode="auto">
          <a:xfrm>
            <a:off x="3923213" y="5239033"/>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在此处输入内容在此处输入内容在此处输入内容在此处输入内容在此处输入内容在此处输入内容在此处输入内容在此处输入内容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a:extLst>
              <a:ext uri="{FF2B5EF4-FFF2-40B4-BE49-F238E27FC236}">
                <a16:creationId xmlns:a16="http://schemas.microsoft.com/office/drawing/2014/main" id="{42A786DF-FC5D-606C-CB51-CF09860D4DF7}"/>
              </a:ext>
            </a:extLst>
          </p:cNvPr>
          <p:cNvSpPr/>
          <p:nvPr/>
        </p:nvSpPr>
        <p:spPr>
          <a:xfrm flipV="1">
            <a:off x="2608437" y="4879873"/>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grpSp>
        <p:nvGrpSpPr>
          <p:cNvPr id="117" name="组合 116">
            <a:extLst>
              <a:ext uri="{FF2B5EF4-FFF2-40B4-BE49-F238E27FC236}">
                <a16:creationId xmlns:a16="http://schemas.microsoft.com/office/drawing/2014/main" id="{19F0C2BF-2017-A223-B343-6F3D5AAB609F}"/>
              </a:ext>
            </a:extLst>
          </p:cNvPr>
          <p:cNvGrpSpPr/>
          <p:nvPr/>
        </p:nvGrpSpPr>
        <p:grpSpPr>
          <a:xfrm>
            <a:off x="2015875" y="3719178"/>
            <a:ext cx="2130114" cy="917983"/>
            <a:chOff x="874712" y="3408258"/>
            <a:chExt cx="2371844" cy="917983"/>
          </a:xfrm>
        </p:grpSpPr>
        <p:sp>
          <p:nvSpPr>
            <p:cNvPr id="118" name="矩形 117">
              <a:extLst>
                <a:ext uri="{FF2B5EF4-FFF2-40B4-BE49-F238E27FC236}">
                  <a16:creationId xmlns:a16="http://schemas.microsoft.com/office/drawing/2014/main" id="{E0B86907-CCFE-AFA8-ED20-FBE9E0FCB2AC}"/>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9" name="矩形 118">
              <a:extLst>
                <a:ext uri="{FF2B5EF4-FFF2-40B4-BE49-F238E27FC236}">
                  <a16:creationId xmlns:a16="http://schemas.microsoft.com/office/drawing/2014/main" id="{F66B3C5A-0BD7-1F6D-50F4-145A63695BE9}"/>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0" name="组合 119">
            <a:extLst>
              <a:ext uri="{FF2B5EF4-FFF2-40B4-BE49-F238E27FC236}">
                <a16:creationId xmlns:a16="http://schemas.microsoft.com/office/drawing/2014/main" id="{35696E83-42B6-5E3C-A63B-015F37B7CA23}"/>
              </a:ext>
            </a:extLst>
          </p:cNvPr>
          <p:cNvGrpSpPr/>
          <p:nvPr/>
        </p:nvGrpSpPr>
        <p:grpSpPr>
          <a:xfrm>
            <a:off x="4333519" y="3678383"/>
            <a:ext cx="2130114" cy="917983"/>
            <a:chOff x="874712" y="3408258"/>
            <a:chExt cx="2371844" cy="917983"/>
          </a:xfrm>
        </p:grpSpPr>
        <p:sp>
          <p:nvSpPr>
            <p:cNvPr id="121" name="矩形 120">
              <a:extLst>
                <a:ext uri="{FF2B5EF4-FFF2-40B4-BE49-F238E27FC236}">
                  <a16:creationId xmlns:a16="http://schemas.microsoft.com/office/drawing/2014/main" id="{FC4AD04D-2C75-102A-A25C-2BAD2888B280}"/>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2" name="矩形 121">
              <a:extLst>
                <a:ext uri="{FF2B5EF4-FFF2-40B4-BE49-F238E27FC236}">
                  <a16:creationId xmlns:a16="http://schemas.microsoft.com/office/drawing/2014/main" id="{FC013916-78E8-46F3-A865-9058C759CFD2}"/>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8" name="组合 127">
            <a:extLst>
              <a:ext uri="{FF2B5EF4-FFF2-40B4-BE49-F238E27FC236}">
                <a16:creationId xmlns:a16="http://schemas.microsoft.com/office/drawing/2014/main" id="{87B2F973-6E29-32D5-D568-EEDE7C531310}"/>
              </a:ext>
            </a:extLst>
          </p:cNvPr>
          <p:cNvGrpSpPr/>
          <p:nvPr/>
        </p:nvGrpSpPr>
        <p:grpSpPr>
          <a:xfrm>
            <a:off x="6648739" y="3678683"/>
            <a:ext cx="2130114" cy="917983"/>
            <a:chOff x="874712" y="3408258"/>
            <a:chExt cx="2371844" cy="917983"/>
          </a:xfrm>
        </p:grpSpPr>
        <p:sp>
          <p:nvSpPr>
            <p:cNvPr id="129" name="矩形 128">
              <a:extLst>
                <a:ext uri="{FF2B5EF4-FFF2-40B4-BE49-F238E27FC236}">
                  <a16:creationId xmlns:a16="http://schemas.microsoft.com/office/drawing/2014/main" id="{ED40E4D0-6F9D-9902-EBF2-D0A07EABC07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0" name="矩形 129">
              <a:extLst>
                <a:ext uri="{FF2B5EF4-FFF2-40B4-BE49-F238E27FC236}">
                  <a16:creationId xmlns:a16="http://schemas.microsoft.com/office/drawing/2014/main" id="{78FFD459-6F1D-AE20-AD72-9F157D7F36CB}"/>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31" name="组合 130">
            <a:extLst>
              <a:ext uri="{FF2B5EF4-FFF2-40B4-BE49-F238E27FC236}">
                <a16:creationId xmlns:a16="http://schemas.microsoft.com/office/drawing/2014/main" id="{89E6CB90-8F90-2031-C0F9-CFF19D1AD91F}"/>
              </a:ext>
            </a:extLst>
          </p:cNvPr>
          <p:cNvGrpSpPr/>
          <p:nvPr/>
        </p:nvGrpSpPr>
        <p:grpSpPr>
          <a:xfrm>
            <a:off x="8810706" y="3653170"/>
            <a:ext cx="2130114" cy="917983"/>
            <a:chOff x="874712" y="3408258"/>
            <a:chExt cx="2371844" cy="917983"/>
          </a:xfrm>
        </p:grpSpPr>
        <p:sp>
          <p:nvSpPr>
            <p:cNvPr id="132" name="矩形 131">
              <a:extLst>
                <a:ext uri="{FF2B5EF4-FFF2-40B4-BE49-F238E27FC236}">
                  <a16:creationId xmlns:a16="http://schemas.microsoft.com/office/drawing/2014/main" id="{0A8CB645-B8F4-2370-8C1D-7CE72EF8E24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3" name="矩形 132">
              <a:extLst>
                <a:ext uri="{FF2B5EF4-FFF2-40B4-BE49-F238E27FC236}">
                  <a16:creationId xmlns:a16="http://schemas.microsoft.com/office/drawing/2014/main" id="{807FFEFD-4CBE-7A91-CAE9-B4A52F1ED9F0}"/>
                </a:ext>
              </a:extLst>
            </p:cNvPr>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127" name="Text Box 4">
            <a:extLst>
              <a:ext uri="{FF2B5EF4-FFF2-40B4-BE49-F238E27FC236}">
                <a16:creationId xmlns:a16="http://schemas.microsoft.com/office/drawing/2014/main" id="{9E94F7C2-028E-32B2-98CC-3F3D78CFCB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D464DE34-EDA4-7753-47F8-96AF8108546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C4F611C-0688-6323-A47B-4BCFBFDAAB7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EEF2913-F04E-1EF7-B61C-B470E25CDF7D}"/>
              </a:ext>
            </a:extLst>
          </p:cNvPr>
          <p:cNvSpPr txBox="1"/>
          <p:nvPr/>
        </p:nvSpPr>
        <p:spPr>
          <a:xfrm>
            <a:off x="3048000" y="3105835"/>
            <a:ext cx="6096000" cy="923330"/>
          </a:xfrm>
          <a:prstGeom prst="rect">
            <a:avLst/>
          </a:prstGeom>
          <a:noFill/>
        </p:spPr>
        <p:txBody>
          <a:bodyPr wrap="square">
            <a:spAutoFit/>
          </a:bodyPr>
          <a:lstStyle/>
          <a:p>
            <a:r>
              <a:rPr lang="zh-CN" altLang="en-US" dirty="0"/>
              <a:t>记录步行、骑行、公交等绿色出行方式，计算低碳积分并形成激励</a:t>
            </a:r>
            <a:r>
              <a:rPr lang="zh-CN" altLang="en-US" b="0" i="0" dirty="0">
                <a:solidFill>
                  <a:srgbClr val="F2F2F2"/>
                </a:solidFill>
                <a:effectLst/>
                <a:latin typeface="Color Emoji"/>
              </a:rPr>
              <a:t>记录步行、骑行、公交等绿色出行方式，计算低碳积分并形成激励</a:t>
            </a:r>
            <a:endParaRPr lang="zh-CN" altLang="en-US" dirty="0"/>
          </a:p>
        </p:txBody>
      </p:sp>
      <p:sp>
        <p:nvSpPr>
          <p:cNvPr id="19" name="文本框 18">
            <a:extLst>
              <a:ext uri="{FF2B5EF4-FFF2-40B4-BE49-F238E27FC236}">
                <a16:creationId xmlns:a16="http://schemas.microsoft.com/office/drawing/2014/main" id="{C6BF06AE-FFA5-3794-C2BA-8C15F03631A9}"/>
              </a:ext>
            </a:extLst>
          </p:cNvPr>
          <p:cNvSpPr txBox="1"/>
          <p:nvPr/>
        </p:nvSpPr>
        <p:spPr>
          <a:xfrm>
            <a:off x="3048000" y="3105835"/>
            <a:ext cx="6096000" cy="646331"/>
          </a:xfrm>
          <a:prstGeom prst="rect">
            <a:avLst/>
          </a:prstGeom>
          <a:noFill/>
        </p:spPr>
        <p:txBody>
          <a:bodyPr wrap="square">
            <a:spAutoFit/>
          </a:bodyPr>
          <a:lstStyle/>
          <a:p>
            <a:r>
              <a:rPr lang="zh-CN" altLang="en-US" b="0" i="0" dirty="0">
                <a:solidFill>
                  <a:srgbClr val="F2F2F2"/>
                </a:solidFill>
                <a:effectLst/>
                <a:latin typeface="Color Emoji"/>
              </a:rPr>
              <a:t>记录步行、骑行、公交等绿色出行方式，计算低碳积分并形成激励</a:t>
            </a:r>
            <a:endParaRPr lang="zh-CN" altLang="en-US" dirty="0"/>
          </a:p>
        </p:txBody>
      </p:sp>
    </p:spTree>
    <p:extLst>
      <p:ext uri="{BB962C8B-B14F-4D97-AF65-F5344CB8AC3E}">
        <p14:creationId xmlns:p14="http://schemas.microsoft.com/office/powerpoint/2010/main" val="385643439"/>
      </p:ext>
    </p:extLst>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14:presetBounceEnd="81000">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14:bounceEnd="81000">
                                          <p:cBhvr additive="base">
                                            <p:cTn id="51"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cBhvr additive="base">
                                            <p:cTn id="51" dur="1000" fill="hold"/>
                                            <p:tgtEl>
                                              <p:spTgt spid="127"/>
                                            </p:tgtEl>
                                            <p:attrNameLst>
                                              <p:attrName>ppt_x</p:attrName>
                                            </p:attrNameLst>
                                          </p:cBhvr>
                                          <p:tavLst>
                                            <p:tav tm="0">
                                              <p:val>
                                                <p:strVal val="#ppt_x"/>
                                              </p:val>
                                            </p:tav>
                                            <p:tav tm="100000">
                                              <p:val>
                                                <p:strVal val="#ppt_x"/>
                                              </p:val>
                                            </p:tav>
                                          </p:tavLst>
                                        </p:anim>
                                        <p:anim calcmode="lin" valueType="num">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730820" y="1564140"/>
            <a:ext cx="4732477" cy="4733117"/>
            <a:chOff x="2798115" y="797625"/>
            <a:chExt cx="3549358" cy="3549838"/>
          </a:xfrm>
        </p:grpSpPr>
        <p:sp>
          <p:nvSpPr>
            <p:cNvPr id="6" name="任意多边形 5"/>
            <p:cNvSpPr/>
            <p:nvPr/>
          </p:nvSpPr>
          <p:spPr>
            <a:xfrm>
              <a:off x="2798115" y="797625"/>
              <a:ext cx="3549358" cy="3549838"/>
            </a:xfrm>
            <a:custGeom>
              <a:avLst/>
              <a:gdLst>
                <a:gd name="connsiteX0" fmla="*/ 1036180 w 4731656"/>
                <a:gd name="connsiteY0" fmla="*/ 393700 h 4731656"/>
                <a:gd name="connsiteX1" fmla="*/ 393700 w 4731656"/>
                <a:gd name="connsiteY1" fmla="*/ 1036180 h 4731656"/>
                <a:gd name="connsiteX2" fmla="*/ 393700 w 4731656"/>
                <a:gd name="connsiteY2" fmla="*/ 3695476 h 4731656"/>
                <a:gd name="connsiteX3" fmla="*/ 1036180 w 4731656"/>
                <a:gd name="connsiteY3" fmla="*/ 4337956 h 4731656"/>
                <a:gd name="connsiteX4" fmla="*/ 3695476 w 4731656"/>
                <a:gd name="connsiteY4" fmla="*/ 4337956 h 4731656"/>
                <a:gd name="connsiteX5" fmla="*/ 4337956 w 4731656"/>
                <a:gd name="connsiteY5" fmla="*/ 3695476 h 4731656"/>
                <a:gd name="connsiteX6" fmla="*/ 4337956 w 4731656"/>
                <a:gd name="connsiteY6" fmla="*/ 1036180 h 4731656"/>
                <a:gd name="connsiteX7" fmla="*/ 3695476 w 4731656"/>
                <a:gd name="connsiteY7" fmla="*/ 393700 h 4731656"/>
                <a:gd name="connsiteX8" fmla="*/ 919266 w 4731656"/>
                <a:gd name="connsiteY8" fmla="*/ 0 h 4731656"/>
                <a:gd name="connsiteX9" fmla="*/ 3812390 w 4731656"/>
                <a:gd name="connsiteY9" fmla="*/ 0 h 4731656"/>
                <a:gd name="connsiteX10" fmla="*/ 4731656 w 4731656"/>
                <a:gd name="connsiteY10" fmla="*/ 919266 h 4731656"/>
                <a:gd name="connsiteX11" fmla="*/ 4731656 w 4731656"/>
                <a:gd name="connsiteY11" fmla="*/ 3812390 h 4731656"/>
                <a:gd name="connsiteX12" fmla="*/ 3812390 w 4731656"/>
                <a:gd name="connsiteY12" fmla="*/ 4731656 h 4731656"/>
                <a:gd name="connsiteX13" fmla="*/ 919266 w 4731656"/>
                <a:gd name="connsiteY13" fmla="*/ 4731656 h 4731656"/>
                <a:gd name="connsiteX14" fmla="*/ 0 w 4731656"/>
                <a:gd name="connsiteY14" fmla="*/ 3812390 h 4731656"/>
                <a:gd name="connsiteX15" fmla="*/ 0 w 4731656"/>
                <a:gd name="connsiteY15" fmla="*/ 919266 h 4731656"/>
                <a:gd name="connsiteX16" fmla="*/ 919266 w 4731656"/>
                <a:gd name="connsiteY16" fmla="*/ 0 h 473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31656" h="4731656">
                  <a:moveTo>
                    <a:pt x="1036180" y="393700"/>
                  </a:moveTo>
                  <a:cubicBezTo>
                    <a:pt x="681348" y="393700"/>
                    <a:pt x="393700" y="681348"/>
                    <a:pt x="393700" y="1036180"/>
                  </a:cubicBezTo>
                  <a:lnTo>
                    <a:pt x="393700" y="3695476"/>
                  </a:lnTo>
                  <a:cubicBezTo>
                    <a:pt x="393700" y="4050308"/>
                    <a:pt x="681348" y="4337956"/>
                    <a:pt x="1036180" y="4337956"/>
                  </a:cubicBezTo>
                  <a:lnTo>
                    <a:pt x="3695476" y="4337956"/>
                  </a:lnTo>
                  <a:cubicBezTo>
                    <a:pt x="4050308" y="4337956"/>
                    <a:pt x="4337956" y="4050308"/>
                    <a:pt x="4337956" y="3695476"/>
                  </a:cubicBezTo>
                  <a:lnTo>
                    <a:pt x="4337956" y="1036180"/>
                  </a:lnTo>
                  <a:cubicBezTo>
                    <a:pt x="4337956" y="681348"/>
                    <a:pt x="4050308" y="393700"/>
                    <a:pt x="3695476" y="393700"/>
                  </a:cubicBezTo>
                  <a:close/>
                  <a:moveTo>
                    <a:pt x="919266" y="0"/>
                  </a:moveTo>
                  <a:lnTo>
                    <a:pt x="3812390" y="0"/>
                  </a:lnTo>
                  <a:cubicBezTo>
                    <a:pt x="4320087" y="0"/>
                    <a:pt x="4731656" y="411569"/>
                    <a:pt x="4731656" y="919266"/>
                  </a:cubicBezTo>
                  <a:lnTo>
                    <a:pt x="4731656" y="3812390"/>
                  </a:lnTo>
                  <a:cubicBezTo>
                    <a:pt x="4731656" y="4320087"/>
                    <a:pt x="4320087" y="4731656"/>
                    <a:pt x="3812390" y="4731656"/>
                  </a:cubicBezTo>
                  <a:lnTo>
                    <a:pt x="919266" y="4731656"/>
                  </a:lnTo>
                  <a:cubicBezTo>
                    <a:pt x="411569" y="4731656"/>
                    <a:pt x="0" y="4320087"/>
                    <a:pt x="0" y="3812390"/>
                  </a:cubicBezTo>
                  <a:lnTo>
                    <a:pt x="0" y="919266"/>
                  </a:lnTo>
                  <a:cubicBezTo>
                    <a:pt x="0" y="411569"/>
                    <a:pt x="411569" y="0"/>
                    <a:pt x="919266" y="0"/>
                  </a:cubicBezTo>
                  <a:close/>
                </a:path>
              </a:pathLst>
            </a:custGeom>
            <a:gradFill>
              <a:gsLst>
                <a:gs pos="100000">
                  <a:srgbClr val="DEDEDE"/>
                </a:gs>
                <a:gs pos="0">
                  <a:schemeClr val="bg1"/>
                </a:gs>
              </a:gsLst>
              <a:lin ang="2700000" scaled="1"/>
            </a:gradFill>
            <a:ln>
              <a:noFill/>
            </a:ln>
            <a:effectLst>
              <a:outerShdw blurRad="431800" dist="215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圆角矩形 6"/>
            <p:cNvSpPr/>
            <p:nvPr/>
          </p:nvSpPr>
          <p:spPr>
            <a:xfrm>
              <a:off x="3093441" y="1092992"/>
              <a:ext cx="2958706" cy="2959105"/>
            </a:xfrm>
            <a:prstGeom prst="roundRect">
              <a:avLst>
                <a:gd name="adj" fmla="val 16289"/>
              </a:avLst>
            </a:prstGeom>
            <a:noFill/>
            <a:ln w="88900">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871847" y="1639965"/>
            <a:ext cx="1512600" cy="1416491"/>
            <a:chOff x="3871174" y="1138973"/>
            <a:chExt cx="1512338" cy="1416053"/>
          </a:xfrm>
          <a:solidFill>
            <a:schemeClr val="accent1">
              <a:lumMod val="75000"/>
            </a:schemeClr>
          </a:solidFill>
        </p:grpSpPr>
        <p:sp>
          <p:nvSpPr>
            <p:cNvPr id="9" name="任意多边形 8"/>
            <p:cNvSpPr/>
            <p:nvPr/>
          </p:nvSpPr>
          <p:spPr>
            <a:xfrm>
              <a:off x="38711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等腰三角形 9"/>
            <p:cNvSpPr/>
            <p:nvPr/>
          </p:nvSpPr>
          <p:spPr>
            <a:xfrm rot="5400000">
              <a:off x="5195889" y="1152872"/>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6971185" y="1705187"/>
            <a:ext cx="1421600" cy="1515032"/>
            <a:chOff x="6969974" y="1204174"/>
            <a:chExt cx="1421353" cy="1514565"/>
          </a:xfrm>
          <a:solidFill>
            <a:schemeClr val="accent1">
              <a:lumMod val="75000"/>
            </a:schemeClr>
          </a:solidFill>
        </p:grpSpPr>
        <p:sp>
          <p:nvSpPr>
            <p:cNvPr id="12" name="任意多边形 11"/>
            <p:cNvSpPr/>
            <p:nvPr/>
          </p:nvSpPr>
          <p:spPr>
            <a:xfrm flipH="1">
              <a:off x="69699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等腰三角形 12"/>
            <p:cNvSpPr/>
            <p:nvPr/>
          </p:nvSpPr>
          <p:spPr>
            <a:xfrm rot="10800000">
              <a:off x="8189806" y="2545015"/>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806406" y="4792239"/>
            <a:ext cx="1515865" cy="1420300"/>
            <a:chOff x="6805224" y="4290274"/>
            <a:chExt cx="1515602" cy="1419862"/>
          </a:xfrm>
          <a:solidFill>
            <a:schemeClr val="accent1">
              <a:lumMod val="75000"/>
            </a:schemeClr>
          </a:solidFill>
        </p:grpSpPr>
        <p:sp>
          <p:nvSpPr>
            <p:cNvPr id="15" name="任意多边形 14"/>
            <p:cNvSpPr/>
            <p:nvPr/>
          </p:nvSpPr>
          <p:spPr>
            <a:xfrm flipH="1" flipV="1">
              <a:off x="69699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等腰三角形 15"/>
            <p:cNvSpPr/>
            <p:nvPr/>
          </p:nvSpPr>
          <p:spPr>
            <a:xfrm rot="16200000">
              <a:off x="6791325" y="5522514"/>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3799983" y="4627823"/>
            <a:ext cx="1422951" cy="1515685"/>
            <a:chOff x="3799323" y="4125909"/>
            <a:chExt cx="1422703" cy="1515217"/>
          </a:xfrm>
          <a:solidFill>
            <a:schemeClr val="accent1">
              <a:lumMod val="75000"/>
            </a:schemeClr>
          </a:solidFill>
        </p:grpSpPr>
        <p:sp>
          <p:nvSpPr>
            <p:cNvPr id="18" name="任意多边形 17"/>
            <p:cNvSpPr/>
            <p:nvPr/>
          </p:nvSpPr>
          <p:spPr>
            <a:xfrm flipV="1">
              <a:off x="38711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a:off x="3799323" y="4125909"/>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5273131" y="1499659"/>
            <a:ext cx="1797772"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01</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211336" y="5892155"/>
            <a:ext cx="1645233"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03</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rot="5400000">
            <a:off x="7492772" y="3754195"/>
            <a:ext cx="1633139"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02</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rot="16200000">
            <a:off x="3082889" y="3643856"/>
            <a:ext cx="1636480"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04</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2202" y="2182388"/>
            <a:ext cx="3469717" cy="3496624"/>
            <a:chOff x="4361443" y="1681228"/>
            <a:chExt cx="3469115" cy="3495545"/>
          </a:xfrm>
          <a:effectLst>
            <a:outerShdw blurRad="203200" dist="88900" dir="2700000" algn="tl" rotWithShape="0">
              <a:prstClr val="black">
                <a:alpha val="30000"/>
              </a:prstClr>
            </a:outerShdw>
          </a:effectLst>
        </p:grpSpPr>
        <p:sp>
          <p:nvSpPr>
            <p:cNvPr id="25" name="泪滴形 24"/>
            <p:cNvSpPr/>
            <p:nvPr/>
          </p:nvSpPr>
          <p:spPr>
            <a:xfrm flipV="1">
              <a:off x="4361443"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泪滴形 25"/>
            <p:cNvSpPr/>
            <p:nvPr/>
          </p:nvSpPr>
          <p:spPr>
            <a:xfrm flipH="1">
              <a:off x="6145559"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泪滴形 26"/>
            <p:cNvSpPr/>
            <p:nvPr/>
          </p:nvSpPr>
          <p:spPr>
            <a:xfrm flipH="1" flipV="1">
              <a:off x="6145559"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泪滴形 27"/>
            <p:cNvSpPr/>
            <p:nvPr/>
          </p:nvSpPr>
          <p:spPr>
            <a:xfrm>
              <a:off x="4361443"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4525833" y="2346557"/>
            <a:ext cx="1414953" cy="1415145"/>
            <a:chOff x="3394374" y="1384437"/>
            <a:chExt cx="1061215" cy="1061359"/>
          </a:xfrm>
        </p:grpSpPr>
        <p:grpSp>
          <p:nvGrpSpPr>
            <p:cNvPr id="30" name="组合 29"/>
            <p:cNvGrpSpPr/>
            <p:nvPr/>
          </p:nvGrpSpPr>
          <p:grpSpPr>
            <a:xfrm>
              <a:off x="3394374" y="1384437"/>
              <a:ext cx="1061215" cy="1061359"/>
              <a:chOff x="4926840" y="1732375"/>
              <a:chExt cx="1656097" cy="1656098"/>
            </a:xfrm>
          </p:grpSpPr>
          <p:sp>
            <p:nvSpPr>
              <p:cNvPr id="36" name="任意多边形 35"/>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椭圆 36"/>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椭圆 37"/>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1" name="Group 909"/>
            <p:cNvGrpSpPr>
              <a:grpSpLocks noChangeAspect="1"/>
            </p:cNvGrpSpPr>
            <p:nvPr/>
          </p:nvGrpSpPr>
          <p:grpSpPr bwMode="auto">
            <a:xfrm>
              <a:off x="3772384" y="1784959"/>
              <a:ext cx="305196" cy="260315"/>
              <a:chOff x="6090" y="1175"/>
              <a:chExt cx="265" cy="226"/>
            </a:xfrm>
            <a:solidFill>
              <a:srgbClr val="FFB850"/>
            </a:solidFill>
            <a:effectLst/>
          </p:grpSpPr>
          <p:sp>
            <p:nvSpPr>
              <p:cNvPr id="32"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39" name="组合 38"/>
          <p:cNvGrpSpPr/>
          <p:nvPr/>
        </p:nvGrpSpPr>
        <p:grpSpPr>
          <a:xfrm>
            <a:off x="6253333" y="2346557"/>
            <a:ext cx="1414953" cy="1415145"/>
            <a:chOff x="4689999" y="1384437"/>
            <a:chExt cx="1061215" cy="1061359"/>
          </a:xfrm>
        </p:grpSpPr>
        <p:grpSp>
          <p:nvGrpSpPr>
            <p:cNvPr id="40" name="组合 39"/>
            <p:cNvGrpSpPr/>
            <p:nvPr/>
          </p:nvGrpSpPr>
          <p:grpSpPr>
            <a:xfrm>
              <a:off x="4689999" y="1384437"/>
              <a:ext cx="1061215" cy="1061359"/>
              <a:chOff x="4926840" y="1732375"/>
              <a:chExt cx="1656097" cy="1656098"/>
            </a:xfrm>
          </p:grpSpPr>
          <p:sp>
            <p:nvSpPr>
              <p:cNvPr id="42" name="任意多边形 41"/>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椭圆 42"/>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椭圆 43"/>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Freeform 53"/>
            <p:cNvSpPr>
              <a:spLocks noEditPoints="1"/>
            </p:cNvSpPr>
            <p:nvPr/>
          </p:nvSpPr>
          <p:spPr bwMode="auto">
            <a:xfrm>
              <a:off x="5031764" y="1726249"/>
              <a:ext cx="377685" cy="377736"/>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4525833" y="4086993"/>
            <a:ext cx="1414953" cy="1415145"/>
            <a:chOff x="3394374" y="2689764"/>
            <a:chExt cx="1061215" cy="1061359"/>
          </a:xfrm>
        </p:grpSpPr>
        <p:grpSp>
          <p:nvGrpSpPr>
            <p:cNvPr id="46" name="组合 45"/>
            <p:cNvGrpSpPr/>
            <p:nvPr/>
          </p:nvGrpSpPr>
          <p:grpSpPr>
            <a:xfrm>
              <a:off x="3394374" y="2689764"/>
              <a:ext cx="1061215" cy="1061359"/>
              <a:chOff x="4926840" y="1732375"/>
              <a:chExt cx="1656097" cy="1656098"/>
            </a:xfrm>
          </p:grpSpPr>
          <p:sp>
            <p:nvSpPr>
              <p:cNvPr id="51" name="任意多边形 50"/>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2" name="椭圆 51"/>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椭圆 52"/>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7" name="Group 46"/>
            <p:cNvGrpSpPr>
              <a:grpSpLocks noChangeAspect="1"/>
            </p:cNvGrpSpPr>
            <p:nvPr/>
          </p:nvGrpSpPr>
          <p:grpSpPr bwMode="auto">
            <a:xfrm>
              <a:off x="3703465" y="3092811"/>
              <a:ext cx="443033" cy="274322"/>
              <a:chOff x="3098" y="1701"/>
              <a:chExt cx="1486" cy="920"/>
            </a:xfrm>
            <a:solidFill>
              <a:srgbClr val="663A77"/>
            </a:solidFill>
          </p:grpSpPr>
          <p:sp>
            <p:nvSpPr>
              <p:cNvPr id="48" name="Freeform 47"/>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9" name="Freeform 48"/>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Freeform 49"/>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4" name="组合 53"/>
          <p:cNvGrpSpPr/>
          <p:nvPr/>
        </p:nvGrpSpPr>
        <p:grpSpPr>
          <a:xfrm>
            <a:off x="6253333" y="4086993"/>
            <a:ext cx="1414953" cy="1415145"/>
            <a:chOff x="4689999" y="2689764"/>
            <a:chExt cx="1061215" cy="1061359"/>
          </a:xfrm>
        </p:grpSpPr>
        <p:grpSp>
          <p:nvGrpSpPr>
            <p:cNvPr id="55" name="组合 54"/>
            <p:cNvGrpSpPr/>
            <p:nvPr/>
          </p:nvGrpSpPr>
          <p:grpSpPr>
            <a:xfrm>
              <a:off x="4689999" y="2689764"/>
              <a:ext cx="1061215" cy="1061359"/>
              <a:chOff x="4926840" y="1732375"/>
              <a:chExt cx="1656097" cy="1656098"/>
            </a:xfrm>
          </p:grpSpPr>
          <p:sp>
            <p:nvSpPr>
              <p:cNvPr id="57" name="任意多边形 56"/>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椭圆 58"/>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56" name="Freeform 57"/>
            <p:cNvSpPr>
              <a:spLocks noEditPoints="1"/>
            </p:cNvSpPr>
            <p:nvPr/>
          </p:nvSpPr>
          <p:spPr bwMode="auto">
            <a:xfrm>
              <a:off x="5037070" y="3046056"/>
              <a:ext cx="367075" cy="367832"/>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1687929" y="1805619"/>
            <a:ext cx="2130114" cy="930175"/>
            <a:chOff x="874712" y="3408258"/>
            <a:chExt cx="2371844" cy="930175"/>
          </a:xfrm>
        </p:grpSpPr>
        <p:sp>
          <p:nvSpPr>
            <p:cNvPr id="75" name="矩形 74"/>
            <p:cNvSpPr/>
            <p:nvPr/>
          </p:nvSpPr>
          <p:spPr>
            <a:xfrm>
              <a:off x="874712" y="3750964"/>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77" name="组合 76"/>
          <p:cNvGrpSpPr/>
          <p:nvPr/>
        </p:nvGrpSpPr>
        <p:grpSpPr>
          <a:xfrm>
            <a:off x="8668493" y="1805619"/>
            <a:ext cx="2130114" cy="1176515"/>
            <a:chOff x="874712" y="3408258"/>
            <a:chExt cx="2371844" cy="1176515"/>
          </a:xfrm>
        </p:grpSpPr>
        <p:sp>
          <p:nvSpPr>
            <p:cNvPr id="78" name="矩形 77"/>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0" name="组合 79"/>
          <p:cNvGrpSpPr/>
          <p:nvPr/>
        </p:nvGrpSpPr>
        <p:grpSpPr>
          <a:xfrm>
            <a:off x="1687929" y="4738544"/>
            <a:ext cx="2130114" cy="1176515"/>
            <a:chOff x="874712" y="3408258"/>
            <a:chExt cx="2371844" cy="1176515"/>
          </a:xfrm>
        </p:grpSpPr>
        <p:sp>
          <p:nvSpPr>
            <p:cNvPr id="81" name="矩形 80"/>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3" name="组合 82"/>
          <p:cNvGrpSpPr/>
          <p:nvPr/>
        </p:nvGrpSpPr>
        <p:grpSpPr>
          <a:xfrm>
            <a:off x="8668493" y="4738544"/>
            <a:ext cx="2130114" cy="1176515"/>
            <a:chOff x="874712" y="3408258"/>
            <a:chExt cx="2371844" cy="1176515"/>
          </a:xfrm>
        </p:grpSpPr>
        <p:sp>
          <p:nvSpPr>
            <p:cNvPr id="84" name="矩形 83"/>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73" name="Text Box 4">
            <a:extLst>
              <a:ext uri="{FF2B5EF4-FFF2-40B4-BE49-F238E27FC236}">
                <a16:creationId xmlns:a16="http://schemas.microsoft.com/office/drawing/2014/main" id="{B16AEE5F-788B-4A4D-A6A3-094100145FC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9" name="Half Frame 12">
            <a:extLst>
              <a:ext uri="{FF2B5EF4-FFF2-40B4-BE49-F238E27FC236}">
                <a16:creationId xmlns:a16="http://schemas.microsoft.com/office/drawing/2014/main" id="{2E437D89-C9F9-324B-8120-D57B545E018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90" name="直线连接符 89">
            <a:extLst>
              <a:ext uri="{FF2B5EF4-FFF2-40B4-BE49-F238E27FC236}">
                <a16:creationId xmlns:a16="http://schemas.microsoft.com/office/drawing/2014/main" id="{949EC08C-DB4D-B447-A476-EBEDC34A5D7C}"/>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14:presetBounceEnd="81000">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14:bounceEnd="81000">
                                          <p:cBhvr additive="base">
                                            <p:cTn id="94" dur="1000" fill="hold"/>
                                            <p:tgtEl>
                                              <p:spTgt spid="73"/>
                                            </p:tgtEl>
                                            <p:attrNameLst>
                                              <p:attrName>ppt_x</p:attrName>
                                            </p:attrNameLst>
                                          </p:cBhvr>
                                          <p:tavLst>
                                            <p:tav tm="0">
                                              <p:val>
                                                <p:strVal val="#ppt_x"/>
                                              </p:val>
                                            </p:tav>
                                            <p:tav tm="100000">
                                              <p:val>
                                                <p:strVal val="#ppt_x"/>
                                              </p:val>
                                            </p:tav>
                                          </p:tavLst>
                                        </p:anim>
                                        <p:anim calcmode="lin" valueType="num" p14:bounceEnd="81000">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cBhvr additive="base">
                                            <p:cTn id="94" dur="1000" fill="hold"/>
                                            <p:tgtEl>
                                              <p:spTgt spid="73"/>
                                            </p:tgtEl>
                                            <p:attrNameLst>
                                              <p:attrName>ppt_x</p:attrName>
                                            </p:attrNameLst>
                                          </p:cBhvr>
                                          <p:tavLst>
                                            <p:tav tm="0">
                                              <p:val>
                                                <p:strVal val="#ppt_x"/>
                                              </p:val>
                                            </p:tav>
                                            <p:tav tm="100000">
                                              <p:val>
                                                <p:strVal val="#ppt_x"/>
                                              </p:val>
                                            </p:tav>
                                          </p:tavLst>
                                        </p:anim>
                                        <p:anim calcmode="lin" valueType="num">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55673" y="1999124"/>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157095" y="2291061"/>
            <a:ext cx="828061" cy="828060"/>
            <a:chOff x="304800" y="673100"/>
            <a:chExt cx="4000500" cy="4000500"/>
          </a:xfrm>
          <a:effectLst>
            <a:outerShdw blurRad="444500" dist="254000" dir="8100000" algn="tr" rotWithShape="0">
              <a:prstClr val="black">
                <a:alpha val="50000"/>
              </a:prstClr>
            </a:outerShdw>
          </a:effectLst>
        </p:grpSpPr>
        <p:sp>
          <p:nvSpPr>
            <p:cNvPr id="10" name="同心圆 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 name="Group 41"/>
          <p:cNvGrpSpPr/>
          <p:nvPr/>
        </p:nvGrpSpPr>
        <p:grpSpPr bwMode="auto">
          <a:xfrm>
            <a:off x="2108013" y="2291059"/>
            <a:ext cx="1944228" cy="1066336"/>
            <a:chOff x="0" y="0"/>
            <a:chExt cx="2419" cy="1343"/>
          </a:xfrm>
        </p:grpSpPr>
        <p:sp>
          <p:nvSpPr>
            <p:cNvPr id="1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5" name="Freeform 9"/>
          <p:cNvSpPr>
            <a:spLocks noEditPoints="1"/>
          </p:cNvSpPr>
          <p:nvPr/>
        </p:nvSpPr>
        <p:spPr bwMode="auto">
          <a:xfrm>
            <a:off x="1348421" y="2545384"/>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6" name="组合 15"/>
          <p:cNvGrpSpPr/>
          <p:nvPr/>
        </p:nvGrpSpPr>
        <p:grpSpPr>
          <a:xfrm>
            <a:off x="4731806" y="1999124"/>
            <a:ext cx="3334836" cy="1509992"/>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933228" y="2291061"/>
            <a:ext cx="828061" cy="828060"/>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椭圆 2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2" name="Group 41"/>
          <p:cNvGrpSpPr/>
          <p:nvPr/>
        </p:nvGrpSpPr>
        <p:grpSpPr bwMode="auto">
          <a:xfrm>
            <a:off x="5884146" y="2291059"/>
            <a:ext cx="1944228" cy="1066336"/>
            <a:chOff x="0" y="0"/>
            <a:chExt cx="2419" cy="1343"/>
          </a:xfrm>
        </p:grpSpPr>
        <p:sp>
          <p:nvSpPr>
            <p:cNvPr id="2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Freeform 8"/>
          <p:cNvSpPr>
            <a:spLocks noEditPoints="1"/>
          </p:cNvSpPr>
          <p:nvPr/>
        </p:nvSpPr>
        <p:spPr bwMode="auto">
          <a:xfrm>
            <a:off x="5184281" y="2599067"/>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6" name="组合 25"/>
          <p:cNvGrpSpPr/>
          <p:nvPr/>
        </p:nvGrpSpPr>
        <p:grpSpPr>
          <a:xfrm>
            <a:off x="955673" y="3946457"/>
            <a:ext cx="3334836" cy="1509992"/>
            <a:chOff x="4304043" y="1286668"/>
            <a:chExt cx="3837944" cy="2757793"/>
          </a:xfrm>
          <a:effectLst>
            <a:outerShdw blurRad="381000" dist="254000" dir="8100000" algn="tr" rotWithShape="0">
              <a:prstClr val="black">
                <a:alpha val="40000"/>
              </a:prstClr>
            </a:outerShdw>
          </a:effectLst>
        </p:grpSpPr>
        <p:sp>
          <p:nvSpPr>
            <p:cNvPr id="27" name="圆角矩形 2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1157095" y="4238394"/>
            <a:ext cx="828061" cy="828060"/>
            <a:chOff x="304800" y="673100"/>
            <a:chExt cx="4000500" cy="4000500"/>
          </a:xfrm>
          <a:effectLst>
            <a:outerShdw blurRad="444500" dist="254000" dir="8100000" algn="tr" rotWithShape="0">
              <a:prstClr val="black">
                <a:alpha val="50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1" name="椭圆 3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2" name="Group 41"/>
          <p:cNvGrpSpPr/>
          <p:nvPr/>
        </p:nvGrpSpPr>
        <p:grpSpPr bwMode="auto">
          <a:xfrm>
            <a:off x="2108013" y="4238392"/>
            <a:ext cx="1944228" cy="1066336"/>
            <a:chOff x="0" y="0"/>
            <a:chExt cx="2419" cy="1343"/>
          </a:xfrm>
        </p:grpSpPr>
        <p:sp>
          <p:nvSpPr>
            <p:cNvPr id="3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5" name="Freeform 7"/>
          <p:cNvSpPr/>
          <p:nvPr/>
        </p:nvSpPr>
        <p:spPr bwMode="auto">
          <a:xfrm>
            <a:off x="1337754" y="4453885"/>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6" name="组合 35"/>
          <p:cNvGrpSpPr/>
          <p:nvPr/>
        </p:nvGrpSpPr>
        <p:grpSpPr>
          <a:xfrm>
            <a:off x="4733475" y="3946457"/>
            <a:ext cx="3334836" cy="1509992"/>
            <a:chOff x="4304043" y="1286668"/>
            <a:chExt cx="3837944" cy="2757793"/>
          </a:xfrm>
          <a:effectLst>
            <a:outerShdw blurRad="381000" dist="254000" dir="8100000" algn="tr" rotWithShape="0">
              <a:prstClr val="black">
                <a:alpha val="40000"/>
              </a:prstClr>
            </a:outerShdw>
          </a:effectLst>
        </p:grpSpPr>
        <p:sp>
          <p:nvSpPr>
            <p:cNvPr id="37" name="圆角矩形 3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934898" y="4238394"/>
            <a:ext cx="828061" cy="828060"/>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2" name="Group 41"/>
          <p:cNvGrpSpPr/>
          <p:nvPr/>
        </p:nvGrpSpPr>
        <p:grpSpPr bwMode="auto">
          <a:xfrm>
            <a:off x="5885815" y="4238392"/>
            <a:ext cx="1944228" cy="1066336"/>
            <a:chOff x="0" y="0"/>
            <a:chExt cx="2419" cy="1343"/>
          </a:xfrm>
        </p:grpSpPr>
        <p:sp>
          <p:nvSpPr>
            <p:cNvPr id="4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5" name="Freeform 6"/>
          <p:cNvSpPr>
            <a:spLocks noEditPoints="1"/>
          </p:cNvSpPr>
          <p:nvPr/>
        </p:nvSpPr>
        <p:spPr bwMode="auto">
          <a:xfrm>
            <a:off x="5188700" y="4482531"/>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2" name="Text Box 4">
            <a:extLst>
              <a:ext uri="{FF2B5EF4-FFF2-40B4-BE49-F238E27FC236}">
                <a16:creationId xmlns:a16="http://schemas.microsoft.com/office/drawing/2014/main" id="{D49AEB41-C099-084C-9CDE-DFAE98027830}"/>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4" name="Half Frame 12">
            <a:extLst>
              <a:ext uri="{FF2B5EF4-FFF2-40B4-BE49-F238E27FC236}">
                <a16:creationId xmlns:a16="http://schemas.microsoft.com/office/drawing/2014/main" id="{5B6AE22C-A93E-0C43-9143-3CAAB0B91D5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5" name="直线连接符 54">
            <a:extLst>
              <a:ext uri="{FF2B5EF4-FFF2-40B4-BE49-F238E27FC236}">
                <a16:creationId xmlns:a16="http://schemas.microsoft.com/office/drawing/2014/main" id="{1E0C2BEA-5C8D-2340-897C-2DFF8AB01F6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91286AB-A6D8-1F4B-805F-EB8F3F9326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5039" y="2127066"/>
            <a:ext cx="2253956" cy="1347364"/>
          </a:xfrm>
          <a:prstGeom prst="roundRect">
            <a:avLst/>
          </a:prstGeom>
        </p:spPr>
      </p:pic>
      <p:pic>
        <p:nvPicPr>
          <p:cNvPr id="46" name="图片 45">
            <a:extLst>
              <a:ext uri="{FF2B5EF4-FFF2-40B4-BE49-F238E27FC236}">
                <a16:creationId xmlns:a16="http://schemas.microsoft.com/office/drawing/2014/main" id="{355133DB-289F-0741-BA62-9EC5A854E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825039" y="4036227"/>
            <a:ext cx="2253956" cy="1375852"/>
          </a:xfrm>
          <a:prstGeom prst="round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14:bounceEnd="81000">
                                          <p:cBhvr additive="base">
                                            <p:cTn id="86"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cBhvr additive="base">
                                            <p:cTn id="86" dur="1000" fill="hold"/>
                                            <p:tgtEl>
                                              <p:spTgt spid="52"/>
                                            </p:tgtEl>
                                            <p:attrNameLst>
                                              <p:attrName>ppt_x</p:attrName>
                                            </p:attrNameLst>
                                          </p:cBhvr>
                                          <p:tavLst>
                                            <p:tav tm="0">
                                              <p:val>
                                                <p:strVal val="#ppt_x"/>
                                              </p:val>
                                            </p:tav>
                                            <p:tav tm="100000">
                                              <p:val>
                                                <p:strVal val="#ppt_x"/>
                                              </p:val>
                                            </p:tav>
                                          </p:tavLst>
                                        </p:anim>
                                        <p:anim calcmode="lin" valueType="num">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183949" y="2021649"/>
            <a:ext cx="1982604" cy="2858999"/>
            <a:chOff x="2475798" y="1342260"/>
            <a:chExt cx="1982604" cy="2858998"/>
          </a:xfrm>
        </p:grpSpPr>
        <p:grpSp>
          <p:nvGrpSpPr>
            <p:cNvPr id="44" name="组合 43"/>
            <p:cNvGrpSpPr/>
            <p:nvPr/>
          </p:nvGrpSpPr>
          <p:grpSpPr>
            <a:xfrm>
              <a:off x="2475798" y="1342260"/>
              <a:ext cx="1982604" cy="2858998"/>
              <a:chOff x="3319399" y="1670050"/>
              <a:chExt cx="2398950" cy="3459388"/>
            </a:xfrm>
          </p:grpSpPr>
          <p:sp>
            <p:nvSpPr>
              <p:cNvPr id="47" name="圆角矩形 46"/>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547324" y="1670050"/>
                <a:ext cx="1943100" cy="1943100"/>
                <a:chOff x="5124450" y="2171700"/>
                <a:chExt cx="1943100" cy="1943100"/>
              </a:xfrm>
            </p:grpSpPr>
            <p:sp>
              <p:nvSpPr>
                <p:cNvPr id="52" name="椭圆 51"/>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3" name="椭圆 52"/>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9" name="圆角矩形 48"/>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0" name="椭圆 49"/>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AC660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5"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3123837" y="1883584"/>
              <a:ext cx="686527"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6025449" y="2021649"/>
            <a:ext cx="1982604" cy="2858999"/>
            <a:chOff x="2475798" y="1342260"/>
            <a:chExt cx="1982604" cy="2858998"/>
          </a:xfrm>
        </p:grpSpPr>
        <p:grpSp>
          <p:nvGrpSpPr>
            <p:cNvPr id="55" name="组合 54"/>
            <p:cNvGrpSpPr/>
            <p:nvPr/>
          </p:nvGrpSpPr>
          <p:grpSpPr>
            <a:xfrm>
              <a:off x="2475798" y="1342260"/>
              <a:ext cx="1982604" cy="2858998"/>
              <a:chOff x="3319399" y="1670050"/>
              <a:chExt cx="2398950" cy="3459388"/>
            </a:xfrm>
          </p:grpSpPr>
          <p:sp>
            <p:nvSpPr>
              <p:cNvPr id="58" name="圆角矩形 57"/>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547324" y="1670050"/>
                <a:ext cx="1943100" cy="1943100"/>
                <a:chOff x="5124450" y="2171700"/>
                <a:chExt cx="1943100" cy="1943100"/>
              </a:xfrm>
            </p:grpSpPr>
            <p:sp>
              <p:nvSpPr>
                <p:cNvPr id="63" name="椭圆 62"/>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0" name="圆角矩形 59"/>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2" name="椭圆 61"/>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00485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56"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115806" y="1883584"/>
              <a:ext cx="702588"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4183949" y="3875849"/>
            <a:ext cx="1982604" cy="2858999"/>
            <a:chOff x="2475798" y="1342260"/>
            <a:chExt cx="1982604" cy="2858998"/>
          </a:xfrm>
        </p:grpSpPr>
        <p:grpSp>
          <p:nvGrpSpPr>
            <p:cNvPr id="66" name="组合 65"/>
            <p:cNvGrpSpPr/>
            <p:nvPr/>
          </p:nvGrpSpPr>
          <p:grpSpPr>
            <a:xfrm>
              <a:off x="2475798" y="1342260"/>
              <a:ext cx="1982604" cy="2858998"/>
              <a:chOff x="3319399" y="1670050"/>
              <a:chExt cx="2398950" cy="3459388"/>
            </a:xfrm>
          </p:grpSpPr>
          <p:sp>
            <p:nvSpPr>
              <p:cNvPr id="69" name="圆角矩形 68"/>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3547324" y="1670050"/>
                <a:ext cx="1943100" cy="1943100"/>
                <a:chOff x="5124450" y="2171700"/>
                <a:chExt cx="1943100" cy="1943100"/>
              </a:xfrm>
            </p:grpSpPr>
            <p:sp>
              <p:nvSpPr>
                <p:cNvPr id="74" name="椭圆 73"/>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5" name="椭圆 74"/>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1" name="圆角矩形 70"/>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2" name="椭圆 71"/>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3" name="椭圆 72"/>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7B131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7"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110783" y="1883584"/>
              <a:ext cx="712635"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6025449" y="3875849"/>
            <a:ext cx="1982604" cy="2858999"/>
            <a:chOff x="2475798" y="1342260"/>
            <a:chExt cx="1982604" cy="2858998"/>
          </a:xfrm>
        </p:grpSpPr>
        <p:grpSp>
          <p:nvGrpSpPr>
            <p:cNvPr id="77" name="组合 76"/>
            <p:cNvGrpSpPr/>
            <p:nvPr/>
          </p:nvGrpSpPr>
          <p:grpSpPr>
            <a:xfrm>
              <a:off x="2475798" y="1342260"/>
              <a:ext cx="1982604" cy="2858998"/>
              <a:chOff x="3319399" y="1670050"/>
              <a:chExt cx="2398950" cy="3459388"/>
            </a:xfrm>
          </p:grpSpPr>
          <p:sp>
            <p:nvSpPr>
              <p:cNvPr id="80" name="圆角矩形 79"/>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3547324" y="1670050"/>
                <a:ext cx="1943100" cy="1943100"/>
                <a:chOff x="5124450" y="2171700"/>
                <a:chExt cx="1943100" cy="1943100"/>
              </a:xfrm>
            </p:grpSpPr>
            <p:sp>
              <p:nvSpPr>
                <p:cNvPr id="85" name="椭圆 84"/>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6" name="椭圆 85"/>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82" name="圆角矩形 81"/>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3" name="椭圆 82"/>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4" name="椭圆 83"/>
              <p:cNvSpPr/>
              <p:nvPr/>
            </p:nvSpPr>
            <p:spPr>
              <a:xfrm>
                <a:off x="4042846" y="2149856"/>
                <a:ext cx="983488" cy="983488"/>
              </a:xfrm>
              <a:prstGeom prst="ellipse">
                <a:avLst/>
              </a:prstGeom>
              <a:solidFill>
                <a:schemeClr val="accent1">
                  <a:lumMod val="100000"/>
                </a:schemeClr>
              </a:solidFill>
              <a:ln>
                <a:noFill/>
              </a:ln>
              <a:effectLst>
                <a:innerShdw blurRad="304800" dist="63500" dir="5400000">
                  <a:srgbClr val="39214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8"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3110782" y="1883584"/>
              <a:ext cx="738612"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04</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87" name="组合 86"/>
          <p:cNvGrpSpPr/>
          <p:nvPr/>
        </p:nvGrpSpPr>
        <p:grpSpPr>
          <a:xfrm flipH="1" flipV="1">
            <a:off x="2288475" y="1692419"/>
            <a:ext cx="2438687" cy="732476"/>
            <a:chOff x="5246304" y="4593021"/>
            <a:chExt cx="2438687" cy="732476"/>
          </a:xfrm>
        </p:grpSpPr>
        <p:sp>
          <p:nvSpPr>
            <p:cNvPr id="88" name="椭圆 87"/>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9" name="任意多边形 88"/>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0" name="组合 89"/>
          <p:cNvGrpSpPr/>
          <p:nvPr/>
        </p:nvGrpSpPr>
        <p:grpSpPr>
          <a:xfrm flipH="1">
            <a:off x="2288475" y="5138299"/>
            <a:ext cx="2438687" cy="732476"/>
            <a:chOff x="5246304" y="4593021"/>
            <a:chExt cx="2438687" cy="732476"/>
          </a:xfrm>
        </p:grpSpPr>
        <p:sp>
          <p:nvSpPr>
            <p:cNvPr id="91" name="椭圆 90"/>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2" name="任意多边形 91"/>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3" name="组合 92"/>
          <p:cNvGrpSpPr/>
          <p:nvPr/>
        </p:nvGrpSpPr>
        <p:grpSpPr>
          <a:xfrm flipV="1">
            <a:off x="7443705" y="1692419"/>
            <a:ext cx="2438687" cy="732476"/>
            <a:chOff x="5246304" y="4593021"/>
            <a:chExt cx="2438687" cy="732476"/>
          </a:xfrm>
        </p:grpSpPr>
        <p:sp>
          <p:nvSpPr>
            <p:cNvPr id="94" name="椭圆 93"/>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5" name="任意多边形 94"/>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6" name="组合 95"/>
          <p:cNvGrpSpPr/>
          <p:nvPr/>
        </p:nvGrpSpPr>
        <p:grpSpPr>
          <a:xfrm>
            <a:off x="7443705" y="5138299"/>
            <a:ext cx="2438687" cy="732476"/>
            <a:chOff x="5246304" y="4593021"/>
            <a:chExt cx="2438687" cy="732476"/>
          </a:xfrm>
        </p:grpSpPr>
        <p:sp>
          <p:nvSpPr>
            <p:cNvPr id="97" name="椭圆 96"/>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8" name="任意多边形 97"/>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35" name="组合 134"/>
          <p:cNvGrpSpPr/>
          <p:nvPr/>
        </p:nvGrpSpPr>
        <p:grpSpPr>
          <a:xfrm>
            <a:off x="1375413" y="1805619"/>
            <a:ext cx="2130114" cy="598490"/>
            <a:chOff x="874712" y="3408258"/>
            <a:chExt cx="2371844" cy="598490"/>
          </a:xfrm>
        </p:grpSpPr>
        <p:sp>
          <p:nvSpPr>
            <p:cNvPr id="136" name="矩形 135"/>
            <p:cNvSpPr/>
            <p:nvPr/>
          </p:nvSpPr>
          <p:spPr>
            <a:xfrm>
              <a:off x="874712" y="3677812"/>
              <a:ext cx="2371844" cy="328936"/>
            </a:xfrm>
            <a:prstGeom prst="rect">
              <a:avLst/>
            </a:prstGeom>
          </p:spPr>
          <p:txBody>
            <a:bodyPr wrap="square">
              <a:spAutoFit/>
              <a:scene3d>
                <a:camera prst="orthographicFront"/>
                <a:lightRig rig="threePt" dir="t"/>
              </a:scene3d>
              <a:sp3d contourW="12700"/>
            </a:bodyPr>
            <a:lstStyle/>
            <a:p>
              <a:pPr>
                <a:lnSpc>
                  <a:spcPct val="120000"/>
                </a:lnSpc>
              </a:pPr>
              <a:endParaRPr lang="en-US" altLang="zh-CN" sz="1400" dirty="0">
                <a:latin typeface="微软雅黑" panose="020B0503020204020204" pitchFamily="34" charset="-122"/>
                <a:ea typeface="微软雅黑" panose="020B0503020204020204" pitchFamily="34" charset="-122"/>
              </a:endParaRPr>
            </a:p>
          </p:txBody>
        </p:sp>
        <p:sp>
          <p:nvSpPr>
            <p:cNvPr id="137" name="矩形 13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38" name="组合 137"/>
          <p:cNvGrpSpPr/>
          <p:nvPr/>
        </p:nvGrpSpPr>
        <p:grpSpPr>
          <a:xfrm>
            <a:off x="8355977" y="1805619"/>
            <a:ext cx="2130114" cy="1176515"/>
            <a:chOff x="874712" y="3408258"/>
            <a:chExt cx="2371844" cy="1176515"/>
          </a:xfrm>
        </p:grpSpPr>
        <p:sp>
          <p:nvSpPr>
            <p:cNvPr id="139" name="矩形 138"/>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0" name="矩形 13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1" name="组合 140"/>
          <p:cNvGrpSpPr/>
          <p:nvPr/>
        </p:nvGrpSpPr>
        <p:grpSpPr>
          <a:xfrm>
            <a:off x="1375413" y="4653200"/>
            <a:ext cx="2130114" cy="1188707"/>
            <a:chOff x="874712" y="3408258"/>
            <a:chExt cx="2371844" cy="1188707"/>
          </a:xfrm>
        </p:grpSpPr>
        <p:sp>
          <p:nvSpPr>
            <p:cNvPr id="142" name="矩形 141"/>
            <p:cNvSpPr/>
            <p:nvPr/>
          </p:nvSpPr>
          <p:spPr>
            <a:xfrm>
              <a:off x="874712" y="3750964"/>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3" name="矩形 14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4" name="组合 143"/>
          <p:cNvGrpSpPr/>
          <p:nvPr/>
        </p:nvGrpSpPr>
        <p:grpSpPr>
          <a:xfrm>
            <a:off x="8355977" y="4677584"/>
            <a:ext cx="2130114" cy="1164323"/>
            <a:chOff x="874712" y="3408258"/>
            <a:chExt cx="2371844" cy="1164323"/>
          </a:xfrm>
        </p:grpSpPr>
        <p:sp>
          <p:nvSpPr>
            <p:cNvPr id="145" name="矩形 144"/>
            <p:cNvSpPr/>
            <p:nvPr/>
          </p:nvSpPr>
          <p:spPr>
            <a:xfrm>
              <a:off x="874712" y="3726580"/>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6" name="矩形 14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sp>
        <p:nvSpPr>
          <p:cNvPr id="99" name="矩形 98">
            <a:extLst>
              <a:ext uri="{FF2B5EF4-FFF2-40B4-BE49-F238E27FC236}">
                <a16:creationId xmlns:a16="http://schemas.microsoft.com/office/drawing/2014/main" id="{007A8C00-7EBB-B848-B987-D1D9F479D6B0}"/>
              </a:ext>
            </a:extLst>
          </p:cNvPr>
          <p:cNvSpPr/>
          <p:nvPr/>
        </p:nvSpPr>
        <p:spPr>
          <a:xfrm>
            <a:off x="1358263" y="2166608"/>
            <a:ext cx="213011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04" name="Text Box 4">
            <a:extLst>
              <a:ext uri="{FF2B5EF4-FFF2-40B4-BE49-F238E27FC236}">
                <a16:creationId xmlns:a16="http://schemas.microsoft.com/office/drawing/2014/main" id="{796082F9-9A11-AD43-94B5-B7E25828E3D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5" name="Half Frame 12">
            <a:extLst>
              <a:ext uri="{FF2B5EF4-FFF2-40B4-BE49-F238E27FC236}">
                <a16:creationId xmlns:a16="http://schemas.microsoft.com/office/drawing/2014/main" id="{FAC51A8B-C1F8-3547-B07E-ADB28F03EDF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06" name="直线连接符 105">
            <a:extLst>
              <a:ext uri="{FF2B5EF4-FFF2-40B4-BE49-F238E27FC236}">
                <a16:creationId xmlns:a16="http://schemas.microsoft.com/office/drawing/2014/main" id="{1DA72B35-E965-E247-8DDD-E0182F80B5C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14:presetBounceEnd="40000">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14:bounceEnd="40000">
                                          <p:cBhvr additive="base">
                                            <p:cTn id="7" dur="1250" fill="hold"/>
                                            <p:tgtEl>
                                              <p:spTgt spid="43"/>
                                            </p:tgtEl>
                                            <p:attrNameLst>
                                              <p:attrName>ppt_x</p:attrName>
                                            </p:attrNameLst>
                                          </p:cBhvr>
                                          <p:tavLst>
                                            <p:tav tm="0">
                                              <p:val>
                                                <p:strVal val="0-#ppt_w/2"/>
                                              </p:val>
                                            </p:tav>
                                            <p:tav tm="100000">
                                              <p:val>
                                                <p:strVal val="#ppt_x"/>
                                              </p:val>
                                            </p:tav>
                                          </p:tavLst>
                                        </p:anim>
                                        <p:anim calcmode="lin" valueType="num" p14:bounceEnd="40000">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14:presetBounceEnd="40000">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14:bounceEnd="40000">
                                          <p:cBhvr additive="base">
                                            <p:cTn id="11" dur="125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14:presetBounceEnd="40000">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14:bounceEnd="40000">
                                          <p:cBhvr additive="base">
                                            <p:cTn id="15" dur="1250" fill="hold"/>
                                            <p:tgtEl>
                                              <p:spTgt spid="65"/>
                                            </p:tgtEl>
                                            <p:attrNameLst>
                                              <p:attrName>ppt_x</p:attrName>
                                            </p:attrNameLst>
                                          </p:cBhvr>
                                          <p:tavLst>
                                            <p:tav tm="0">
                                              <p:val>
                                                <p:strVal val="0-#ppt_w/2"/>
                                              </p:val>
                                            </p:tav>
                                            <p:tav tm="100000">
                                              <p:val>
                                                <p:strVal val="#ppt_x"/>
                                              </p:val>
                                            </p:tav>
                                          </p:tavLst>
                                        </p:anim>
                                        <p:anim calcmode="lin" valueType="num" p14:bounceEnd="40000">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14:bounceEnd="40000">
                                          <p:cBhvr additive="base">
                                            <p:cTn id="19" dur="1250" fill="hold"/>
                                            <p:tgtEl>
                                              <p:spTgt spid="76"/>
                                            </p:tgtEl>
                                            <p:attrNameLst>
                                              <p:attrName>ppt_x</p:attrName>
                                            </p:attrNameLst>
                                          </p:cBhvr>
                                          <p:tavLst>
                                            <p:tav tm="0">
                                              <p:val>
                                                <p:strVal val="0-#ppt_w/2"/>
                                              </p:val>
                                            </p:tav>
                                            <p:tav tm="100000">
                                              <p:val>
                                                <p:strVal val="#ppt_x"/>
                                              </p:val>
                                            </p:tav>
                                          </p:tavLst>
                                        </p:anim>
                                        <p:anim calcmode="lin" valueType="num" p14:bounceEnd="40000">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14:presetBounceEnd="81000">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14:bounceEnd="81000">
                                          <p:cBhvr additive="base">
                                            <p:cTn id="52" dur="1000" fill="hold"/>
                                            <p:tgtEl>
                                              <p:spTgt spid="104"/>
                                            </p:tgtEl>
                                            <p:attrNameLst>
                                              <p:attrName>ppt_x</p:attrName>
                                            </p:attrNameLst>
                                          </p:cBhvr>
                                          <p:tavLst>
                                            <p:tav tm="0">
                                              <p:val>
                                                <p:strVal val="#ppt_x"/>
                                              </p:val>
                                            </p:tav>
                                            <p:tav tm="100000">
                                              <p:val>
                                                <p:strVal val="#ppt_x"/>
                                              </p:val>
                                            </p:tav>
                                          </p:tavLst>
                                        </p:anim>
                                        <p:anim calcmode="lin" valueType="num" p14:bounceEnd="81000">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250" fill="hold"/>
                                            <p:tgtEl>
                                              <p:spTgt spid="43"/>
                                            </p:tgtEl>
                                            <p:attrNameLst>
                                              <p:attrName>ppt_x</p:attrName>
                                            </p:attrNameLst>
                                          </p:cBhvr>
                                          <p:tavLst>
                                            <p:tav tm="0">
                                              <p:val>
                                                <p:strVal val="0-#ppt_w/2"/>
                                              </p:val>
                                            </p:tav>
                                            <p:tav tm="100000">
                                              <p:val>
                                                <p:strVal val="#ppt_x"/>
                                              </p:val>
                                            </p:tav>
                                          </p:tavLst>
                                        </p:anim>
                                        <p:anim calcmode="lin" valueType="num">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1250" fill="hold"/>
                                            <p:tgtEl>
                                              <p:spTgt spid="54"/>
                                            </p:tgtEl>
                                            <p:attrNameLst>
                                              <p:attrName>ppt_x</p:attrName>
                                            </p:attrNameLst>
                                          </p:cBhvr>
                                          <p:tavLst>
                                            <p:tav tm="0">
                                              <p:val>
                                                <p:strVal val="0-#ppt_w/2"/>
                                              </p:val>
                                            </p:tav>
                                            <p:tav tm="100000">
                                              <p:val>
                                                <p:strVal val="#ppt_x"/>
                                              </p:val>
                                            </p:tav>
                                          </p:tavLst>
                                        </p:anim>
                                        <p:anim calcmode="lin" valueType="num">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1250" fill="hold"/>
                                            <p:tgtEl>
                                              <p:spTgt spid="65"/>
                                            </p:tgtEl>
                                            <p:attrNameLst>
                                              <p:attrName>ppt_x</p:attrName>
                                            </p:attrNameLst>
                                          </p:cBhvr>
                                          <p:tavLst>
                                            <p:tav tm="0">
                                              <p:val>
                                                <p:strVal val="0-#ppt_w/2"/>
                                              </p:val>
                                            </p:tav>
                                            <p:tav tm="100000">
                                              <p:val>
                                                <p:strVal val="#ppt_x"/>
                                              </p:val>
                                            </p:tav>
                                          </p:tavLst>
                                        </p:anim>
                                        <p:anim calcmode="lin" valueType="num">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cBhvr additive="base">
                                            <p:cTn id="19" dur="1250" fill="hold"/>
                                            <p:tgtEl>
                                              <p:spTgt spid="76"/>
                                            </p:tgtEl>
                                            <p:attrNameLst>
                                              <p:attrName>ppt_x</p:attrName>
                                            </p:attrNameLst>
                                          </p:cBhvr>
                                          <p:tavLst>
                                            <p:tav tm="0">
                                              <p:val>
                                                <p:strVal val="0-#ppt_w/2"/>
                                              </p:val>
                                            </p:tav>
                                            <p:tav tm="100000">
                                              <p:val>
                                                <p:strVal val="#ppt_x"/>
                                              </p:val>
                                            </p:tav>
                                          </p:tavLst>
                                        </p:anim>
                                        <p:anim calcmode="lin" valueType="num">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1000" fill="hold"/>
                                            <p:tgtEl>
                                              <p:spTgt spid="104"/>
                                            </p:tgtEl>
                                            <p:attrNameLst>
                                              <p:attrName>ppt_x</p:attrName>
                                            </p:attrNameLst>
                                          </p:cBhvr>
                                          <p:tavLst>
                                            <p:tav tm="0">
                                              <p:val>
                                                <p:strVal val="#ppt_x"/>
                                              </p:val>
                                            </p:tav>
                                            <p:tav tm="100000">
                                              <p:val>
                                                <p:strVal val="#ppt_x"/>
                                              </p:val>
                                            </p:tav>
                                          </p:tavLst>
                                        </p:anim>
                                        <p:anim calcmode="lin" valueType="num">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8879821F-F09C-47CB-A4A0-2E5E6250B8CF}"/>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02</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907667296"/>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873901"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5146048"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8418194"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702981" y="2232959"/>
            <a:ext cx="2767968" cy="523220"/>
            <a:chOff x="1703707" y="2041007"/>
            <a:chExt cx="2767968" cy="523219"/>
          </a:xfrm>
        </p:grpSpPr>
        <p:sp>
          <p:nvSpPr>
            <p:cNvPr id="8" name="文本框 7"/>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0" name="组合 9"/>
          <p:cNvGrpSpPr/>
          <p:nvPr/>
        </p:nvGrpSpPr>
        <p:grpSpPr>
          <a:xfrm>
            <a:off x="5010959" y="2232959"/>
            <a:ext cx="2767968" cy="523220"/>
            <a:chOff x="1703707" y="2041007"/>
            <a:chExt cx="2767968" cy="523219"/>
          </a:xfrm>
        </p:grpSpPr>
        <p:sp>
          <p:nvSpPr>
            <p:cNvPr id="11" name="文本框 10"/>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3" name="组合 12"/>
          <p:cNvGrpSpPr/>
          <p:nvPr/>
        </p:nvGrpSpPr>
        <p:grpSpPr>
          <a:xfrm>
            <a:off x="8267927" y="2232959"/>
            <a:ext cx="2767968" cy="523220"/>
            <a:chOff x="1703707" y="2041007"/>
            <a:chExt cx="2767968" cy="523219"/>
          </a:xfrm>
        </p:grpSpPr>
        <p:sp>
          <p:nvSpPr>
            <p:cNvPr id="14" name="文本框 13"/>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6" name="组合 15"/>
          <p:cNvGrpSpPr/>
          <p:nvPr/>
        </p:nvGrpSpPr>
        <p:grpSpPr>
          <a:xfrm>
            <a:off x="1108117" y="3196263"/>
            <a:ext cx="1128795" cy="1091228"/>
            <a:chOff x="1108117" y="2967663"/>
            <a:chExt cx="1128795" cy="1091228"/>
          </a:xfrm>
        </p:grpSpPr>
        <p:grpSp>
          <p:nvGrpSpPr>
            <p:cNvPr id="17" name="组合 16"/>
            <p:cNvGrpSpPr/>
            <p:nvPr/>
          </p:nvGrpSpPr>
          <p:grpSpPr>
            <a:xfrm>
              <a:off x="1108117" y="2967663"/>
              <a:ext cx="1128795" cy="1091228"/>
              <a:chOff x="4565675" y="764773"/>
              <a:chExt cx="2003843" cy="1937151"/>
            </a:xfrm>
          </p:grpSpPr>
          <p:sp>
            <p:nvSpPr>
              <p:cNvPr id="26" name="椭圆 25"/>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椭圆 26"/>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椭圆 27"/>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任意多边形 28"/>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8" name="组合 17"/>
            <p:cNvGrpSpPr/>
            <p:nvPr/>
          </p:nvGrpSpPr>
          <p:grpSpPr>
            <a:xfrm>
              <a:off x="1425357" y="3383593"/>
              <a:ext cx="382345" cy="337558"/>
              <a:chOff x="10044251" y="4522834"/>
              <a:chExt cx="745082" cy="657806"/>
            </a:xfrm>
            <a:solidFill>
              <a:schemeClr val="bg1"/>
            </a:solidFill>
            <a:effectLst/>
          </p:grpSpPr>
          <p:sp>
            <p:nvSpPr>
              <p:cNvPr id="19" name="Oval 423"/>
              <p:cNvSpPr>
                <a:spLocks noChangeArrowheads="1"/>
              </p:cNvSpPr>
              <p:nvPr/>
            </p:nvSpPr>
            <p:spPr bwMode="auto">
              <a:xfrm>
                <a:off x="10603243" y="4610108"/>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0" name="Freeform 424"/>
              <p:cNvSpPr/>
              <p:nvPr/>
            </p:nvSpPr>
            <p:spPr bwMode="auto">
              <a:xfrm>
                <a:off x="10567179" y="4817837"/>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1" name="Freeform 425"/>
              <p:cNvSpPr/>
              <p:nvPr/>
            </p:nvSpPr>
            <p:spPr bwMode="auto">
              <a:xfrm>
                <a:off x="10229620" y="5001763"/>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2" name="Freeform 426"/>
              <p:cNvSpPr/>
              <p:nvPr/>
            </p:nvSpPr>
            <p:spPr bwMode="auto">
              <a:xfrm>
                <a:off x="10275782" y="4701711"/>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3" name="Oval 427"/>
              <p:cNvSpPr>
                <a:spLocks noChangeArrowheads="1"/>
              </p:cNvSpPr>
              <p:nvPr/>
            </p:nvSpPr>
            <p:spPr bwMode="auto">
              <a:xfrm>
                <a:off x="10345746" y="4522834"/>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4" name="Freeform 428"/>
              <p:cNvSpPr/>
              <p:nvPr/>
            </p:nvSpPr>
            <p:spPr bwMode="auto">
              <a:xfrm>
                <a:off x="10044251" y="4816394"/>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5" name="Oval 429"/>
              <p:cNvSpPr>
                <a:spLocks noChangeArrowheads="1"/>
              </p:cNvSpPr>
              <p:nvPr/>
            </p:nvSpPr>
            <p:spPr bwMode="auto">
              <a:xfrm>
                <a:off x="10055791" y="4607944"/>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grpSp>
      </p:grpSp>
      <p:grpSp>
        <p:nvGrpSpPr>
          <p:cNvPr id="30" name="组合 29"/>
          <p:cNvGrpSpPr/>
          <p:nvPr/>
        </p:nvGrpSpPr>
        <p:grpSpPr>
          <a:xfrm>
            <a:off x="4291045" y="3196263"/>
            <a:ext cx="1128795" cy="1091228"/>
            <a:chOff x="4291044" y="2967663"/>
            <a:chExt cx="1128795" cy="1091228"/>
          </a:xfrm>
        </p:grpSpPr>
        <p:grpSp>
          <p:nvGrpSpPr>
            <p:cNvPr id="31" name="组合 30"/>
            <p:cNvGrpSpPr/>
            <p:nvPr/>
          </p:nvGrpSpPr>
          <p:grpSpPr>
            <a:xfrm>
              <a:off x="4291044" y="2967663"/>
              <a:ext cx="1128795" cy="1091228"/>
              <a:chOff x="4565675" y="764773"/>
              <a:chExt cx="2003843" cy="1937151"/>
            </a:xfrm>
          </p:grpSpPr>
          <p:sp>
            <p:nvSpPr>
              <p:cNvPr id="49" name="椭圆 48"/>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椭圆 49"/>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椭圆 50"/>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任意多边形 51"/>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2" name="组合 31"/>
            <p:cNvGrpSpPr/>
            <p:nvPr/>
          </p:nvGrpSpPr>
          <p:grpSpPr>
            <a:xfrm>
              <a:off x="4608433" y="3368167"/>
              <a:ext cx="372722" cy="337930"/>
              <a:chOff x="10054349" y="2685014"/>
              <a:chExt cx="726328" cy="658528"/>
            </a:xfrm>
            <a:solidFill>
              <a:schemeClr val="bg1"/>
            </a:solidFill>
            <a:effectLst/>
          </p:grpSpPr>
          <p:sp>
            <p:nvSpPr>
              <p:cNvPr id="33" name="Oval 440"/>
              <p:cNvSpPr>
                <a:spLocks noChangeArrowheads="1"/>
              </p:cNvSpPr>
              <p:nvPr/>
            </p:nvSpPr>
            <p:spPr bwMode="auto">
              <a:xfrm>
                <a:off x="10639307"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441"/>
              <p:cNvSpPr/>
              <p:nvPr/>
            </p:nvSpPr>
            <p:spPr bwMode="auto">
              <a:xfrm>
                <a:off x="10606849" y="2685014"/>
                <a:ext cx="119011" cy="119732"/>
              </a:xfrm>
              <a:custGeom>
                <a:avLst/>
                <a:gdLst>
                  <a:gd name="T0" fmla="*/ 55 w 70"/>
                  <a:gd name="T1" fmla="*/ 70 h 70"/>
                  <a:gd name="T2" fmla="*/ 70 w 70"/>
                  <a:gd name="T3" fmla="*/ 70 h 70"/>
                  <a:gd name="T4" fmla="*/ 0 w 70"/>
                  <a:gd name="T5" fmla="*/ 0 h 70"/>
                  <a:gd name="T6" fmla="*/ 0 w 70"/>
                  <a:gd name="T7" fmla="*/ 14 h 70"/>
                  <a:gd name="T8" fmla="*/ 55 w 70"/>
                  <a:gd name="T9" fmla="*/ 70 h 70"/>
                </a:gdLst>
                <a:ahLst/>
                <a:cxnLst>
                  <a:cxn ang="0">
                    <a:pos x="T0" y="T1"/>
                  </a:cxn>
                  <a:cxn ang="0">
                    <a:pos x="T2" y="T3"/>
                  </a:cxn>
                  <a:cxn ang="0">
                    <a:pos x="T4" y="T5"/>
                  </a:cxn>
                  <a:cxn ang="0">
                    <a:pos x="T6" y="T7"/>
                  </a:cxn>
                  <a:cxn ang="0">
                    <a:pos x="T8" y="T9"/>
                  </a:cxn>
                </a:cxnLst>
                <a:rect l="0" t="0" r="r" b="b"/>
                <a:pathLst>
                  <a:path w="70" h="70">
                    <a:moveTo>
                      <a:pt x="55" y="70"/>
                    </a:moveTo>
                    <a:cubicBezTo>
                      <a:pt x="70" y="70"/>
                      <a:pt x="70" y="70"/>
                      <a:pt x="70" y="70"/>
                    </a:cubicBezTo>
                    <a:cubicBezTo>
                      <a:pt x="70" y="31"/>
                      <a:pt x="39" y="0"/>
                      <a:pt x="0" y="0"/>
                    </a:cubicBezTo>
                    <a:cubicBezTo>
                      <a:pt x="0" y="14"/>
                      <a:pt x="0" y="14"/>
                      <a:pt x="0" y="14"/>
                    </a:cubicBezTo>
                    <a:cubicBezTo>
                      <a:pt x="31" y="14"/>
                      <a:pt x="55" y="39"/>
                      <a:pt x="55"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442"/>
              <p:cNvSpPr/>
              <p:nvPr/>
            </p:nvSpPr>
            <p:spPr bwMode="auto">
              <a:xfrm>
                <a:off x="10606849" y="2727569"/>
                <a:ext cx="76456" cy="77177"/>
              </a:xfrm>
              <a:custGeom>
                <a:avLst/>
                <a:gdLst>
                  <a:gd name="T0" fmla="*/ 33 w 45"/>
                  <a:gd name="T1" fmla="*/ 45 h 45"/>
                  <a:gd name="T2" fmla="*/ 45 w 45"/>
                  <a:gd name="T3" fmla="*/ 45 h 45"/>
                  <a:gd name="T4" fmla="*/ 0 w 45"/>
                  <a:gd name="T5" fmla="*/ 0 h 45"/>
                  <a:gd name="T6" fmla="*/ 0 w 45"/>
                  <a:gd name="T7" fmla="*/ 12 h 45"/>
                  <a:gd name="T8" fmla="*/ 33 w 45"/>
                  <a:gd name="T9" fmla="*/ 45 h 45"/>
                </a:gdLst>
                <a:ahLst/>
                <a:cxnLst>
                  <a:cxn ang="0">
                    <a:pos x="T0" y="T1"/>
                  </a:cxn>
                  <a:cxn ang="0">
                    <a:pos x="T2" y="T3"/>
                  </a:cxn>
                  <a:cxn ang="0">
                    <a:pos x="T4" y="T5"/>
                  </a:cxn>
                  <a:cxn ang="0">
                    <a:pos x="T6" y="T7"/>
                  </a:cxn>
                  <a:cxn ang="0">
                    <a:pos x="T8" y="T9"/>
                  </a:cxn>
                </a:cxnLst>
                <a:rect l="0" t="0" r="r" b="b"/>
                <a:pathLst>
                  <a:path w="45" h="45">
                    <a:moveTo>
                      <a:pt x="33" y="45"/>
                    </a:moveTo>
                    <a:cubicBezTo>
                      <a:pt x="45" y="45"/>
                      <a:pt x="45" y="45"/>
                      <a:pt x="45" y="45"/>
                    </a:cubicBezTo>
                    <a:cubicBezTo>
                      <a:pt x="45" y="20"/>
                      <a:pt x="25" y="0"/>
                      <a:pt x="0" y="0"/>
                    </a:cubicBezTo>
                    <a:cubicBezTo>
                      <a:pt x="0" y="12"/>
                      <a:pt x="0" y="12"/>
                      <a:pt x="0" y="12"/>
                    </a:cubicBezTo>
                    <a:cubicBezTo>
                      <a:pt x="18" y="12"/>
                      <a:pt x="33" y="27"/>
                      <a:pt x="3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Freeform 443"/>
              <p:cNvSpPr/>
              <p:nvPr/>
            </p:nvSpPr>
            <p:spPr bwMode="auto">
              <a:xfrm>
                <a:off x="10606849" y="2762190"/>
                <a:ext cx="42556" cy="42556"/>
              </a:xfrm>
              <a:custGeom>
                <a:avLst/>
                <a:gdLst>
                  <a:gd name="T0" fmla="*/ 13 w 25"/>
                  <a:gd name="T1" fmla="*/ 25 h 25"/>
                  <a:gd name="T2" fmla="*/ 25 w 25"/>
                  <a:gd name="T3" fmla="*/ 25 h 25"/>
                  <a:gd name="T4" fmla="*/ 0 w 25"/>
                  <a:gd name="T5" fmla="*/ 0 h 25"/>
                  <a:gd name="T6" fmla="*/ 0 w 25"/>
                  <a:gd name="T7" fmla="*/ 12 h 25"/>
                  <a:gd name="T8" fmla="*/ 13 w 25"/>
                  <a:gd name="T9" fmla="*/ 25 h 25"/>
                </a:gdLst>
                <a:ahLst/>
                <a:cxnLst>
                  <a:cxn ang="0">
                    <a:pos x="T0" y="T1"/>
                  </a:cxn>
                  <a:cxn ang="0">
                    <a:pos x="T2" y="T3"/>
                  </a:cxn>
                  <a:cxn ang="0">
                    <a:pos x="T4" y="T5"/>
                  </a:cxn>
                  <a:cxn ang="0">
                    <a:pos x="T6" y="T7"/>
                  </a:cxn>
                  <a:cxn ang="0">
                    <a:pos x="T8" y="T9"/>
                  </a:cxn>
                </a:cxnLst>
                <a:rect l="0" t="0" r="r" b="b"/>
                <a:pathLst>
                  <a:path w="25" h="25">
                    <a:moveTo>
                      <a:pt x="13" y="25"/>
                    </a:moveTo>
                    <a:cubicBezTo>
                      <a:pt x="25" y="25"/>
                      <a:pt x="25" y="25"/>
                      <a:pt x="25" y="25"/>
                    </a:cubicBezTo>
                    <a:cubicBezTo>
                      <a:pt x="25" y="11"/>
                      <a:pt x="14" y="0"/>
                      <a:pt x="0" y="0"/>
                    </a:cubicBezTo>
                    <a:cubicBezTo>
                      <a:pt x="0" y="12"/>
                      <a:pt x="0" y="12"/>
                      <a:pt x="0" y="12"/>
                    </a:cubicBezTo>
                    <a:cubicBezTo>
                      <a:pt x="7" y="12"/>
                      <a:pt x="13" y="1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Freeform 444"/>
              <p:cNvSpPr/>
              <p:nvPr/>
            </p:nvSpPr>
            <p:spPr bwMode="auto">
              <a:xfrm>
                <a:off x="10611898" y="3114896"/>
                <a:ext cx="168779" cy="228646"/>
              </a:xfrm>
              <a:custGeom>
                <a:avLst/>
                <a:gdLst>
                  <a:gd name="T0" fmla="*/ 49 w 99"/>
                  <a:gd name="T1" fmla="*/ 2 h 134"/>
                  <a:gd name="T2" fmla="*/ 40 w 99"/>
                  <a:gd name="T3" fmla="*/ 68 h 134"/>
                  <a:gd name="T4" fmla="*/ 10 w 99"/>
                  <a:gd name="T5" fmla="*/ 87 h 134"/>
                  <a:gd name="T6" fmla="*/ 10 w 99"/>
                  <a:gd name="T7" fmla="*/ 60 h 134"/>
                  <a:gd name="T8" fmla="*/ 49 w 99"/>
                  <a:gd name="T9" fmla="*/ 2 h 134"/>
                  <a:gd name="T10" fmla="*/ 0 w 99"/>
                  <a:gd name="T11" fmla="*/ 68 h 134"/>
                  <a:gd name="T12" fmla="*/ 0 w 99"/>
                  <a:gd name="T13" fmla="*/ 106 h 134"/>
                  <a:gd name="T14" fmla="*/ 49 w 99"/>
                  <a:gd name="T15" fmla="*/ 134 h 134"/>
                  <a:gd name="T16" fmla="*/ 99 w 99"/>
                  <a:gd name="T17" fmla="*/ 115 h 134"/>
                  <a:gd name="T18" fmla="*/ 99 w 99"/>
                  <a:gd name="T19" fmla="*/ 35 h 134"/>
                  <a:gd name="T20" fmla="*/ 49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49" y="2"/>
                    </a:moveTo>
                    <a:cubicBezTo>
                      <a:pt x="40" y="68"/>
                      <a:pt x="40" y="68"/>
                      <a:pt x="40" y="68"/>
                    </a:cubicBezTo>
                    <a:cubicBezTo>
                      <a:pt x="10" y="87"/>
                      <a:pt x="10" y="87"/>
                      <a:pt x="10" y="87"/>
                    </a:cubicBezTo>
                    <a:cubicBezTo>
                      <a:pt x="10" y="60"/>
                      <a:pt x="10" y="60"/>
                      <a:pt x="10" y="60"/>
                    </a:cubicBezTo>
                    <a:cubicBezTo>
                      <a:pt x="49" y="2"/>
                      <a:pt x="49" y="2"/>
                      <a:pt x="49" y="2"/>
                    </a:cubicBezTo>
                    <a:cubicBezTo>
                      <a:pt x="11" y="2"/>
                      <a:pt x="0" y="68"/>
                      <a:pt x="0" y="68"/>
                    </a:cubicBezTo>
                    <a:cubicBezTo>
                      <a:pt x="0" y="68"/>
                      <a:pt x="0" y="90"/>
                      <a:pt x="0" y="106"/>
                    </a:cubicBezTo>
                    <a:cubicBezTo>
                      <a:pt x="0" y="122"/>
                      <a:pt x="5" y="134"/>
                      <a:pt x="49" y="134"/>
                    </a:cubicBezTo>
                    <a:cubicBezTo>
                      <a:pt x="94" y="134"/>
                      <a:pt x="99" y="115"/>
                      <a:pt x="99" y="115"/>
                    </a:cubicBezTo>
                    <a:cubicBezTo>
                      <a:pt x="99" y="115"/>
                      <a:pt x="99" y="69"/>
                      <a:pt x="99" y="35"/>
                    </a:cubicBezTo>
                    <a:cubicBezTo>
                      <a:pt x="99" y="0"/>
                      <a:pt x="49" y="2"/>
                      <a:pt x="4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45"/>
              <p:cNvSpPr/>
              <p:nvPr/>
            </p:nvSpPr>
            <p:spPr bwMode="auto">
              <a:xfrm>
                <a:off x="10344303" y="3058636"/>
                <a:ext cx="170222" cy="22360"/>
              </a:xfrm>
              <a:custGeom>
                <a:avLst/>
                <a:gdLst>
                  <a:gd name="T0" fmla="*/ 94 w 100"/>
                  <a:gd name="T1" fmla="*/ 0 h 13"/>
                  <a:gd name="T2" fmla="*/ 7 w 100"/>
                  <a:gd name="T3" fmla="*/ 0 h 13"/>
                  <a:gd name="T4" fmla="*/ 2 w 100"/>
                  <a:gd name="T5" fmla="*/ 2 h 13"/>
                  <a:gd name="T6" fmla="*/ 0 w 100"/>
                  <a:gd name="T7" fmla="*/ 6 h 13"/>
                  <a:gd name="T8" fmla="*/ 7 w 100"/>
                  <a:gd name="T9" fmla="*/ 13 h 13"/>
                  <a:gd name="T10" fmla="*/ 94 w 100"/>
                  <a:gd name="T11" fmla="*/ 13 h 13"/>
                  <a:gd name="T12" fmla="*/ 100 w 100"/>
                  <a:gd name="T13" fmla="*/ 6 h 13"/>
                  <a:gd name="T14" fmla="*/ 94 w 100"/>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3">
                    <a:moveTo>
                      <a:pt x="94" y="0"/>
                    </a:moveTo>
                    <a:cubicBezTo>
                      <a:pt x="7" y="0"/>
                      <a:pt x="7" y="0"/>
                      <a:pt x="7" y="0"/>
                    </a:cubicBezTo>
                    <a:cubicBezTo>
                      <a:pt x="5" y="0"/>
                      <a:pt x="4" y="0"/>
                      <a:pt x="2" y="2"/>
                    </a:cubicBezTo>
                    <a:cubicBezTo>
                      <a:pt x="1" y="3"/>
                      <a:pt x="0" y="4"/>
                      <a:pt x="0" y="6"/>
                    </a:cubicBezTo>
                    <a:cubicBezTo>
                      <a:pt x="0" y="10"/>
                      <a:pt x="3" y="13"/>
                      <a:pt x="7" y="13"/>
                    </a:cubicBezTo>
                    <a:cubicBezTo>
                      <a:pt x="94" y="13"/>
                      <a:pt x="94" y="13"/>
                      <a:pt x="94" y="13"/>
                    </a:cubicBezTo>
                    <a:cubicBezTo>
                      <a:pt x="97" y="13"/>
                      <a:pt x="100" y="10"/>
                      <a:pt x="100" y="6"/>
                    </a:cubicBezTo>
                    <a:cubicBezTo>
                      <a:pt x="100" y="3"/>
                      <a:pt x="97" y="0"/>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46"/>
              <p:cNvSpPr/>
              <p:nvPr/>
            </p:nvSpPr>
            <p:spPr bwMode="auto">
              <a:xfrm>
                <a:off x="10465478" y="2847301"/>
                <a:ext cx="56260" cy="64915"/>
              </a:xfrm>
              <a:custGeom>
                <a:avLst/>
                <a:gdLst>
                  <a:gd name="T0" fmla="*/ 17 w 33"/>
                  <a:gd name="T1" fmla="*/ 38 h 38"/>
                  <a:gd name="T2" fmla="*/ 33 w 33"/>
                  <a:gd name="T3" fmla="*/ 24 h 38"/>
                  <a:gd name="T4" fmla="*/ 33 w 33"/>
                  <a:gd name="T5" fmla="*/ 19 h 38"/>
                  <a:gd name="T6" fmla="*/ 18 w 33"/>
                  <a:gd name="T7" fmla="*/ 0 h 38"/>
                  <a:gd name="T8" fmla="*/ 17 w 33"/>
                  <a:gd name="T9" fmla="*/ 0 h 38"/>
                  <a:gd name="T10" fmla="*/ 0 w 33"/>
                  <a:gd name="T11" fmla="*/ 19 h 38"/>
                  <a:gd name="T12" fmla="*/ 17 w 3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3" h="38">
                    <a:moveTo>
                      <a:pt x="17" y="38"/>
                    </a:moveTo>
                    <a:cubicBezTo>
                      <a:pt x="24" y="38"/>
                      <a:pt x="31" y="32"/>
                      <a:pt x="33" y="24"/>
                    </a:cubicBezTo>
                    <a:cubicBezTo>
                      <a:pt x="33" y="22"/>
                      <a:pt x="33" y="21"/>
                      <a:pt x="33" y="19"/>
                    </a:cubicBezTo>
                    <a:cubicBezTo>
                      <a:pt x="33" y="9"/>
                      <a:pt x="26" y="0"/>
                      <a:pt x="18" y="0"/>
                    </a:cubicBezTo>
                    <a:cubicBezTo>
                      <a:pt x="17" y="0"/>
                      <a:pt x="17" y="0"/>
                      <a:pt x="17" y="0"/>
                    </a:cubicBezTo>
                    <a:cubicBezTo>
                      <a:pt x="7" y="0"/>
                      <a:pt x="0" y="8"/>
                      <a:pt x="0" y="19"/>
                    </a:cubicBezTo>
                    <a:cubicBezTo>
                      <a:pt x="0" y="30"/>
                      <a:pt x="7" y="38"/>
                      <a:pt x="1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47"/>
              <p:cNvSpPr/>
              <p:nvPr/>
            </p:nvSpPr>
            <p:spPr bwMode="auto">
              <a:xfrm>
                <a:off x="10434463" y="2918708"/>
                <a:ext cx="117569" cy="68522"/>
              </a:xfrm>
              <a:custGeom>
                <a:avLst/>
                <a:gdLst>
                  <a:gd name="T0" fmla="*/ 50 w 69"/>
                  <a:gd name="T1" fmla="*/ 0 h 40"/>
                  <a:gd name="T2" fmla="*/ 36 w 69"/>
                  <a:gd name="T3" fmla="*/ 5 h 40"/>
                  <a:gd name="T4" fmla="*/ 42 w 69"/>
                  <a:gd name="T5" fmla="*/ 25 h 40"/>
                  <a:gd name="T6" fmla="*/ 36 w 69"/>
                  <a:gd name="T7" fmla="*/ 35 h 40"/>
                  <a:gd name="T8" fmla="*/ 29 w 69"/>
                  <a:gd name="T9" fmla="*/ 25 h 40"/>
                  <a:gd name="T10" fmla="*/ 36 w 69"/>
                  <a:gd name="T11" fmla="*/ 5 h 40"/>
                  <a:gd name="T12" fmla="*/ 19 w 69"/>
                  <a:gd name="T13" fmla="*/ 0 h 40"/>
                  <a:gd name="T14" fmla="*/ 0 w 69"/>
                  <a:gd name="T15" fmla="*/ 20 h 40"/>
                  <a:gd name="T16" fmla="*/ 0 w 69"/>
                  <a:gd name="T17" fmla="*/ 40 h 40"/>
                  <a:gd name="T18" fmla="*/ 32 w 69"/>
                  <a:gd name="T19" fmla="*/ 40 h 40"/>
                  <a:gd name="T20" fmla="*/ 37 w 69"/>
                  <a:gd name="T21" fmla="*/ 40 h 40"/>
                  <a:gd name="T22" fmla="*/ 69 w 69"/>
                  <a:gd name="T23" fmla="*/ 40 h 40"/>
                  <a:gd name="T24" fmla="*/ 69 w 69"/>
                  <a:gd name="T25" fmla="*/ 20 h 40"/>
                  <a:gd name="T26" fmla="*/ 50 w 69"/>
                  <a:gd name="T2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40">
                    <a:moveTo>
                      <a:pt x="50" y="0"/>
                    </a:moveTo>
                    <a:cubicBezTo>
                      <a:pt x="36" y="5"/>
                      <a:pt x="36" y="5"/>
                      <a:pt x="36" y="5"/>
                    </a:cubicBezTo>
                    <a:cubicBezTo>
                      <a:pt x="42" y="25"/>
                      <a:pt x="42" y="25"/>
                      <a:pt x="42" y="25"/>
                    </a:cubicBezTo>
                    <a:cubicBezTo>
                      <a:pt x="36" y="35"/>
                      <a:pt x="36" y="35"/>
                      <a:pt x="36" y="35"/>
                    </a:cubicBezTo>
                    <a:cubicBezTo>
                      <a:pt x="29" y="25"/>
                      <a:pt x="29" y="25"/>
                      <a:pt x="29" y="25"/>
                    </a:cubicBezTo>
                    <a:cubicBezTo>
                      <a:pt x="36" y="5"/>
                      <a:pt x="36" y="5"/>
                      <a:pt x="36" y="5"/>
                    </a:cubicBezTo>
                    <a:cubicBezTo>
                      <a:pt x="19" y="0"/>
                      <a:pt x="19" y="0"/>
                      <a:pt x="19" y="0"/>
                    </a:cubicBezTo>
                    <a:cubicBezTo>
                      <a:pt x="10" y="3"/>
                      <a:pt x="0" y="8"/>
                      <a:pt x="0" y="20"/>
                    </a:cubicBezTo>
                    <a:cubicBezTo>
                      <a:pt x="0" y="40"/>
                      <a:pt x="0" y="40"/>
                      <a:pt x="0" y="40"/>
                    </a:cubicBezTo>
                    <a:cubicBezTo>
                      <a:pt x="32" y="40"/>
                      <a:pt x="32" y="40"/>
                      <a:pt x="32" y="40"/>
                    </a:cubicBezTo>
                    <a:cubicBezTo>
                      <a:pt x="37" y="40"/>
                      <a:pt x="37" y="40"/>
                      <a:pt x="37" y="40"/>
                    </a:cubicBezTo>
                    <a:cubicBezTo>
                      <a:pt x="69" y="40"/>
                      <a:pt x="69" y="40"/>
                      <a:pt x="69" y="40"/>
                    </a:cubicBezTo>
                    <a:cubicBezTo>
                      <a:pt x="69" y="40"/>
                      <a:pt x="69" y="40"/>
                      <a:pt x="69" y="20"/>
                    </a:cubicBezTo>
                    <a:cubicBezTo>
                      <a:pt x="69" y="8"/>
                      <a:pt x="59" y="3"/>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Freeform 448"/>
              <p:cNvSpPr/>
              <p:nvPr/>
            </p:nvSpPr>
            <p:spPr bwMode="auto">
              <a:xfrm>
                <a:off x="10280831" y="2814844"/>
                <a:ext cx="119732" cy="196188"/>
              </a:xfrm>
              <a:custGeom>
                <a:avLst/>
                <a:gdLst>
                  <a:gd name="T0" fmla="*/ 66 w 70"/>
                  <a:gd name="T1" fmla="*/ 0 h 115"/>
                  <a:gd name="T2" fmla="*/ 61 w 70"/>
                  <a:gd name="T3" fmla="*/ 4 h 115"/>
                  <a:gd name="T4" fmla="*/ 61 w 70"/>
                  <a:gd name="T5" fmla="*/ 56 h 115"/>
                  <a:gd name="T6" fmla="*/ 3 w 70"/>
                  <a:gd name="T7" fmla="*/ 56 h 115"/>
                  <a:gd name="T8" fmla="*/ 1 w 70"/>
                  <a:gd name="T9" fmla="*/ 57 h 115"/>
                  <a:gd name="T10" fmla="*/ 0 w 70"/>
                  <a:gd name="T11" fmla="*/ 61 h 115"/>
                  <a:gd name="T12" fmla="*/ 3 w 70"/>
                  <a:gd name="T13" fmla="*/ 65 h 115"/>
                  <a:gd name="T14" fmla="*/ 29 w 70"/>
                  <a:gd name="T15" fmla="*/ 65 h 115"/>
                  <a:gd name="T16" fmla="*/ 61 w 70"/>
                  <a:gd name="T17" fmla="*/ 65 h 115"/>
                  <a:gd name="T18" fmla="*/ 61 w 70"/>
                  <a:gd name="T19" fmla="*/ 111 h 115"/>
                  <a:gd name="T20" fmla="*/ 63 w 70"/>
                  <a:gd name="T21" fmla="*/ 114 h 115"/>
                  <a:gd name="T22" fmla="*/ 66 w 70"/>
                  <a:gd name="T23" fmla="*/ 115 h 115"/>
                  <a:gd name="T24" fmla="*/ 70 w 70"/>
                  <a:gd name="T25" fmla="*/ 111 h 115"/>
                  <a:gd name="T26" fmla="*/ 70 w 70"/>
                  <a:gd name="T27" fmla="*/ 61 h 115"/>
                  <a:gd name="T28" fmla="*/ 70 w 70"/>
                  <a:gd name="T29" fmla="*/ 4 h 115"/>
                  <a:gd name="T30" fmla="*/ 69 w 70"/>
                  <a:gd name="T31" fmla="*/ 1 h 115"/>
                  <a:gd name="T32" fmla="*/ 66 w 70"/>
                  <a:gd name="T3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115">
                    <a:moveTo>
                      <a:pt x="66" y="0"/>
                    </a:moveTo>
                    <a:cubicBezTo>
                      <a:pt x="63" y="0"/>
                      <a:pt x="61" y="2"/>
                      <a:pt x="61" y="4"/>
                    </a:cubicBezTo>
                    <a:cubicBezTo>
                      <a:pt x="61" y="56"/>
                      <a:pt x="61" y="56"/>
                      <a:pt x="61" y="56"/>
                    </a:cubicBezTo>
                    <a:cubicBezTo>
                      <a:pt x="3" y="56"/>
                      <a:pt x="3" y="56"/>
                      <a:pt x="3" y="56"/>
                    </a:cubicBezTo>
                    <a:cubicBezTo>
                      <a:pt x="2" y="56"/>
                      <a:pt x="1" y="57"/>
                      <a:pt x="1" y="57"/>
                    </a:cubicBezTo>
                    <a:cubicBezTo>
                      <a:pt x="0" y="58"/>
                      <a:pt x="0" y="59"/>
                      <a:pt x="0" y="61"/>
                    </a:cubicBezTo>
                    <a:cubicBezTo>
                      <a:pt x="0" y="63"/>
                      <a:pt x="1" y="65"/>
                      <a:pt x="3" y="65"/>
                    </a:cubicBezTo>
                    <a:cubicBezTo>
                      <a:pt x="29" y="65"/>
                      <a:pt x="29" y="65"/>
                      <a:pt x="29" y="65"/>
                    </a:cubicBezTo>
                    <a:cubicBezTo>
                      <a:pt x="61" y="65"/>
                      <a:pt x="61" y="65"/>
                      <a:pt x="61" y="65"/>
                    </a:cubicBezTo>
                    <a:cubicBezTo>
                      <a:pt x="61" y="111"/>
                      <a:pt x="61" y="111"/>
                      <a:pt x="61" y="111"/>
                    </a:cubicBezTo>
                    <a:cubicBezTo>
                      <a:pt x="61" y="112"/>
                      <a:pt x="62" y="113"/>
                      <a:pt x="63" y="114"/>
                    </a:cubicBezTo>
                    <a:cubicBezTo>
                      <a:pt x="63" y="115"/>
                      <a:pt x="65" y="115"/>
                      <a:pt x="66" y="115"/>
                    </a:cubicBezTo>
                    <a:cubicBezTo>
                      <a:pt x="68" y="115"/>
                      <a:pt x="70" y="113"/>
                      <a:pt x="70" y="111"/>
                    </a:cubicBezTo>
                    <a:cubicBezTo>
                      <a:pt x="70" y="61"/>
                      <a:pt x="70" y="61"/>
                      <a:pt x="70" y="61"/>
                    </a:cubicBezTo>
                    <a:cubicBezTo>
                      <a:pt x="70" y="4"/>
                      <a:pt x="70" y="4"/>
                      <a:pt x="70" y="4"/>
                    </a:cubicBezTo>
                    <a:cubicBezTo>
                      <a:pt x="70" y="3"/>
                      <a:pt x="70" y="2"/>
                      <a:pt x="69" y="1"/>
                    </a:cubicBezTo>
                    <a:cubicBezTo>
                      <a:pt x="68" y="0"/>
                      <a:pt x="67"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Freeform 449"/>
              <p:cNvSpPr/>
              <p:nvPr/>
            </p:nvSpPr>
            <p:spPr bwMode="auto">
              <a:xfrm>
                <a:off x="10298141" y="2974968"/>
                <a:ext cx="62752" cy="37507"/>
              </a:xfrm>
              <a:custGeom>
                <a:avLst/>
                <a:gdLst>
                  <a:gd name="T0" fmla="*/ 27 w 37"/>
                  <a:gd name="T1" fmla="*/ 0 h 22"/>
                  <a:gd name="T2" fmla="*/ 19 w 37"/>
                  <a:gd name="T3" fmla="*/ 3 h 22"/>
                  <a:gd name="T4" fmla="*/ 23 w 37"/>
                  <a:gd name="T5" fmla="*/ 14 h 22"/>
                  <a:gd name="T6" fmla="*/ 19 w 37"/>
                  <a:gd name="T7" fmla="*/ 19 h 22"/>
                  <a:gd name="T8" fmla="*/ 15 w 37"/>
                  <a:gd name="T9" fmla="*/ 14 h 22"/>
                  <a:gd name="T10" fmla="*/ 19 w 37"/>
                  <a:gd name="T11" fmla="*/ 3 h 22"/>
                  <a:gd name="T12" fmla="*/ 15 w 37"/>
                  <a:gd name="T13" fmla="*/ 2 h 22"/>
                  <a:gd name="T14" fmla="*/ 10 w 37"/>
                  <a:gd name="T15" fmla="*/ 0 h 22"/>
                  <a:gd name="T16" fmla="*/ 0 w 37"/>
                  <a:gd name="T17" fmla="*/ 11 h 22"/>
                  <a:gd name="T18" fmla="*/ 0 w 37"/>
                  <a:gd name="T19" fmla="*/ 22 h 22"/>
                  <a:gd name="T20" fmla="*/ 17 w 37"/>
                  <a:gd name="T21" fmla="*/ 22 h 22"/>
                  <a:gd name="T22" fmla="*/ 19 w 37"/>
                  <a:gd name="T23" fmla="*/ 22 h 22"/>
                  <a:gd name="T24" fmla="*/ 20 w 37"/>
                  <a:gd name="T25" fmla="*/ 22 h 22"/>
                  <a:gd name="T26" fmla="*/ 37 w 37"/>
                  <a:gd name="T27" fmla="*/ 22 h 22"/>
                  <a:gd name="T28" fmla="*/ 37 w 37"/>
                  <a:gd name="T29" fmla="*/ 11 h 22"/>
                  <a:gd name="T30" fmla="*/ 27 w 37"/>
                  <a:gd name="T3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22">
                    <a:moveTo>
                      <a:pt x="27" y="0"/>
                    </a:moveTo>
                    <a:cubicBezTo>
                      <a:pt x="19" y="3"/>
                      <a:pt x="19" y="3"/>
                      <a:pt x="19" y="3"/>
                    </a:cubicBezTo>
                    <a:cubicBezTo>
                      <a:pt x="23" y="14"/>
                      <a:pt x="23" y="14"/>
                      <a:pt x="23" y="14"/>
                    </a:cubicBezTo>
                    <a:cubicBezTo>
                      <a:pt x="19" y="19"/>
                      <a:pt x="19" y="19"/>
                      <a:pt x="19" y="19"/>
                    </a:cubicBezTo>
                    <a:cubicBezTo>
                      <a:pt x="15" y="14"/>
                      <a:pt x="15" y="14"/>
                      <a:pt x="15" y="14"/>
                    </a:cubicBezTo>
                    <a:cubicBezTo>
                      <a:pt x="19" y="3"/>
                      <a:pt x="19" y="3"/>
                      <a:pt x="19" y="3"/>
                    </a:cubicBezTo>
                    <a:cubicBezTo>
                      <a:pt x="15" y="2"/>
                      <a:pt x="15" y="2"/>
                      <a:pt x="15" y="2"/>
                    </a:cubicBezTo>
                    <a:cubicBezTo>
                      <a:pt x="10" y="0"/>
                      <a:pt x="10" y="0"/>
                      <a:pt x="10" y="0"/>
                    </a:cubicBezTo>
                    <a:cubicBezTo>
                      <a:pt x="5" y="2"/>
                      <a:pt x="0" y="5"/>
                      <a:pt x="0" y="11"/>
                    </a:cubicBezTo>
                    <a:cubicBezTo>
                      <a:pt x="0" y="22"/>
                      <a:pt x="0" y="22"/>
                      <a:pt x="0" y="22"/>
                    </a:cubicBezTo>
                    <a:cubicBezTo>
                      <a:pt x="17" y="22"/>
                      <a:pt x="17" y="22"/>
                      <a:pt x="17" y="22"/>
                    </a:cubicBezTo>
                    <a:cubicBezTo>
                      <a:pt x="19" y="22"/>
                      <a:pt x="19" y="22"/>
                      <a:pt x="19" y="22"/>
                    </a:cubicBezTo>
                    <a:cubicBezTo>
                      <a:pt x="20" y="22"/>
                      <a:pt x="20" y="22"/>
                      <a:pt x="20" y="22"/>
                    </a:cubicBezTo>
                    <a:cubicBezTo>
                      <a:pt x="37" y="22"/>
                      <a:pt x="37" y="22"/>
                      <a:pt x="37" y="22"/>
                    </a:cubicBezTo>
                    <a:cubicBezTo>
                      <a:pt x="37" y="22"/>
                      <a:pt x="37" y="22"/>
                      <a:pt x="37" y="11"/>
                    </a:cubicBezTo>
                    <a:cubicBezTo>
                      <a:pt x="37" y="5"/>
                      <a:pt x="32" y="2"/>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Freeform 450"/>
              <p:cNvSpPr/>
              <p:nvPr/>
            </p:nvSpPr>
            <p:spPr bwMode="auto">
              <a:xfrm>
                <a:off x="10313288" y="2936019"/>
                <a:ext cx="32458" cy="35343"/>
              </a:xfrm>
              <a:custGeom>
                <a:avLst/>
                <a:gdLst>
                  <a:gd name="T0" fmla="*/ 8 w 19"/>
                  <a:gd name="T1" fmla="*/ 21 h 21"/>
                  <a:gd name="T2" fmla="*/ 10 w 19"/>
                  <a:gd name="T3" fmla="*/ 21 h 21"/>
                  <a:gd name="T4" fmla="*/ 19 w 19"/>
                  <a:gd name="T5" fmla="*/ 10 h 21"/>
                  <a:gd name="T6" fmla="*/ 10 w 19"/>
                  <a:gd name="T7" fmla="*/ 0 h 21"/>
                  <a:gd name="T8" fmla="*/ 0 w 19"/>
                  <a:gd name="T9" fmla="*/ 10 h 21"/>
                  <a:gd name="T10" fmla="*/ 8 w 19"/>
                  <a:gd name="T11" fmla="*/ 21 h 21"/>
                </a:gdLst>
                <a:ahLst/>
                <a:cxnLst>
                  <a:cxn ang="0">
                    <a:pos x="T0" y="T1"/>
                  </a:cxn>
                  <a:cxn ang="0">
                    <a:pos x="T2" y="T3"/>
                  </a:cxn>
                  <a:cxn ang="0">
                    <a:pos x="T4" y="T5"/>
                  </a:cxn>
                  <a:cxn ang="0">
                    <a:pos x="T6" y="T7"/>
                  </a:cxn>
                  <a:cxn ang="0">
                    <a:pos x="T8" y="T9"/>
                  </a:cxn>
                  <a:cxn ang="0">
                    <a:pos x="T10" y="T11"/>
                  </a:cxn>
                </a:cxnLst>
                <a:rect l="0" t="0" r="r" b="b"/>
                <a:pathLst>
                  <a:path w="19" h="21">
                    <a:moveTo>
                      <a:pt x="8" y="21"/>
                    </a:moveTo>
                    <a:cubicBezTo>
                      <a:pt x="8" y="21"/>
                      <a:pt x="9" y="21"/>
                      <a:pt x="10" y="21"/>
                    </a:cubicBezTo>
                    <a:cubicBezTo>
                      <a:pt x="15" y="21"/>
                      <a:pt x="19" y="16"/>
                      <a:pt x="19" y="10"/>
                    </a:cubicBezTo>
                    <a:cubicBezTo>
                      <a:pt x="19" y="4"/>
                      <a:pt x="15" y="0"/>
                      <a:pt x="10" y="0"/>
                    </a:cubicBezTo>
                    <a:cubicBezTo>
                      <a:pt x="4" y="0"/>
                      <a:pt x="0" y="4"/>
                      <a:pt x="0" y="10"/>
                    </a:cubicBezTo>
                    <a:cubicBezTo>
                      <a:pt x="0" y="15"/>
                      <a:pt x="3" y="20"/>
                      <a:pt x="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Oval 451"/>
              <p:cNvSpPr>
                <a:spLocks noChangeArrowheads="1"/>
              </p:cNvSpPr>
              <p:nvPr/>
            </p:nvSpPr>
            <p:spPr bwMode="auto">
              <a:xfrm>
                <a:off x="10313288" y="2816286"/>
                <a:ext cx="31015" cy="3750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Freeform 452"/>
              <p:cNvSpPr/>
              <p:nvPr/>
            </p:nvSpPr>
            <p:spPr bwMode="auto">
              <a:xfrm>
                <a:off x="10296699" y="2857399"/>
                <a:ext cx="64194" cy="36064"/>
              </a:xfrm>
              <a:custGeom>
                <a:avLst/>
                <a:gdLst>
                  <a:gd name="T0" fmla="*/ 20 w 38"/>
                  <a:gd name="T1" fmla="*/ 21 h 21"/>
                  <a:gd name="T2" fmla="*/ 20 w 38"/>
                  <a:gd name="T3" fmla="*/ 21 h 21"/>
                  <a:gd name="T4" fmla="*/ 38 w 38"/>
                  <a:gd name="T5" fmla="*/ 21 h 21"/>
                  <a:gd name="T6" fmla="*/ 38 w 38"/>
                  <a:gd name="T7" fmla="*/ 10 h 21"/>
                  <a:gd name="T8" fmla="*/ 28 w 38"/>
                  <a:gd name="T9" fmla="*/ 0 h 21"/>
                  <a:gd name="T10" fmla="*/ 20 w 38"/>
                  <a:gd name="T11" fmla="*/ 3 h 21"/>
                  <a:gd name="T12" fmla="*/ 23 w 38"/>
                  <a:gd name="T13" fmla="*/ 13 h 21"/>
                  <a:gd name="T14" fmla="*/ 20 w 38"/>
                  <a:gd name="T15" fmla="*/ 19 h 21"/>
                  <a:gd name="T16" fmla="*/ 16 w 38"/>
                  <a:gd name="T17" fmla="*/ 13 h 21"/>
                  <a:gd name="T18" fmla="*/ 20 w 38"/>
                  <a:gd name="T19" fmla="*/ 3 h 21"/>
                  <a:gd name="T20" fmla="*/ 10 w 38"/>
                  <a:gd name="T21" fmla="*/ 0 h 21"/>
                  <a:gd name="T22" fmla="*/ 0 w 38"/>
                  <a:gd name="T23" fmla="*/ 10 h 21"/>
                  <a:gd name="T24" fmla="*/ 0 w 38"/>
                  <a:gd name="T25" fmla="*/ 21 h 21"/>
                  <a:gd name="T26" fmla="*/ 18 w 38"/>
                  <a:gd name="T27" fmla="*/ 21 h 21"/>
                  <a:gd name="T28" fmla="*/ 20 w 38"/>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20" y="21"/>
                    </a:moveTo>
                    <a:cubicBezTo>
                      <a:pt x="20" y="21"/>
                      <a:pt x="20" y="21"/>
                      <a:pt x="20" y="21"/>
                    </a:cubicBezTo>
                    <a:cubicBezTo>
                      <a:pt x="38" y="21"/>
                      <a:pt x="38" y="21"/>
                      <a:pt x="38" y="21"/>
                    </a:cubicBezTo>
                    <a:cubicBezTo>
                      <a:pt x="38" y="21"/>
                      <a:pt x="38" y="21"/>
                      <a:pt x="38" y="10"/>
                    </a:cubicBezTo>
                    <a:cubicBezTo>
                      <a:pt x="38" y="4"/>
                      <a:pt x="32" y="1"/>
                      <a:pt x="28" y="0"/>
                    </a:cubicBezTo>
                    <a:cubicBezTo>
                      <a:pt x="20" y="3"/>
                      <a:pt x="20" y="3"/>
                      <a:pt x="20" y="3"/>
                    </a:cubicBezTo>
                    <a:cubicBezTo>
                      <a:pt x="23" y="13"/>
                      <a:pt x="23" y="13"/>
                      <a:pt x="23" y="13"/>
                    </a:cubicBezTo>
                    <a:cubicBezTo>
                      <a:pt x="20" y="19"/>
                      <a:pt x="20" y="19"/>
                      <a:pt x="20" y="19"/>
                    </a:cubicBezTo>
                    <a:cubicBezTo>
                      <a:pt x="16" y="13"/>
                      <a:pt x="16" y="13"/>
                      <a:pt x="16" y="13"/>
                    </a:cubicBezTo>
                    <a:cubicBezTo>
                      <a:pt x="20" y="3"/>
                      <a:pt x="20" y="3"/>
                      <a:pt x="20" y="3"/>
                    </a:cubicBezTo>
                    <a:cubicBezTo>
                      <a:pt x="10" y="0"/>
                      <a:pt x="10" y="0"/>
                      <a:pt x="10" y="0"/>
                    </a:cubicBezTo>
                    <a:cubicBezTo>
                      <a:pt x="6" y="1"/>
                      <a:pt x="0" y="4"/>
                      <a:pt x="0" y="10"/>
                    </a:cubicBezTo>
                    <a:cubicBezTo>
                      <a:pt x="0" y="21"/>
                      <a:pt x="0" y="21"/>
                      <a:pt x="0" y="21"/>
                    </a:cubicBezTo>
                    <a:cubicBezTo>
                      <a:pt x="18" y="21"/>
                      <a:pt x="18" y="21"/>
                      <a:pt x="18" y="21"/>
                    </a:cubicBezTo>
                    <a:lnTo>
                      <a:pt x="2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Freeform 453"/>
              <p:cNvSpPr>
                <a:spLocks noEditPoints="1"/>
              </p:cNvSpPr>
              <p:nvPr/>
            </p:nvSpPr>
            <p:spPr bwMode="auto">
              <a:xfrm>
                <a:off x="10238275" y="2785993"/>
                <a:ext cx="383721" cy="262546"/>
              </a:xfrm>
              <a:custGeom>
                <a:avLst/>
                <a:gdLst>
                  <a:gd name="T0" fmla="*/ 225 w 225"/>
                  <a:gd name="T1" fmla="*/ 137 h 154"/>
                  <a:gd name="T2" fmla="*/ 225 w 225"/>
                  <a:gd name="T3" fmla="*/ 80 h 154"/>
                  <a:gd name="T4" fmla="*/ 225 w 225"/>
                  <a:gd name="T5" fmla="*/ 66 h 154"/>
                  <a:gd name="T6" fmla="*/ 225 w 225"/>
                  <a:gd name="T7" fmla="*/ 56 h 154"/>
                  <a:gd name="T8" fmla="*/ 225 w 225"/>
                  <a:gd name="T9" fmla="*/ 42 h 154"/>
                  <a:gd name="T10" fmla="*/ 225 w 225"/>
                  <a:gd name="T11" fmla="*/ 35 h 154"/>
                  <a:gd name="T12" fmla="*/ 225 w 225"/>
                  <a:gd name="T13" fmla="*/ 21 h 154"/>
                  <a:gd name="T14" fmla="*/ 225 w 225"/>
                  <a:gd name="T15" fmla="*/ 18 h 154"/>
                  <a:gd name="T16" fmla="*/ 223 w 225"/>
                  <a:gd name="T17" fmla="*/ 11 h 154"/>
                  <a:gd name="T18" fmla="*/ 216 w 225"/>
                  <a:gd name="T19" fmla="*/ 3 h 154"/>
                  <a:gd name="T20" fmla="*/ 209 w 225"/>
                  <a:gd name="T21" fmla="*/ 0 h 154"/>
                  <a:gd name="T22" fmla="*/ 207 w 225"/>
                  <a:gd name="T23" fmla="*/ 0 h 154"/>
                  <a:gd name="T24" fmla="*/ 193 w 225"/>
                  <a:gd name="T25" fmla="*/ 0 h 154"/>
                  <a:gd name="T26" fmla="*/ 185 w 225"/>
                  <a:gd name="T27" fmla="*/ 0 h 154"/>
                  <a:gd name="T28" fmla="*/ 172 w 225"/>
                  <a:gd name="T29" fmla="*/ 0 h 154"/>
                  <a:gd name="T30" fmla="*/ 161 w 225"/>
                  <a:gd name="T31" fmla="*/ 0 h 154"/>
                  <a:gd name="T32" fmla="*/ 147 w 225"/>
                  <a:gd name="T33" fmla="*/ 0 h 154"/>
                  <a:gd name="T34" fmla="*/ 18 w 225"/>
                  <a:gd name="T35" fmla="*/ 0 h 154"/>
                  <a:gd name="T36" fmla="*/ 0 w 225"/>
                  <a:gd name="T37" fmla="*/ 18 h 154"/>
                  <a:gd name="T38" fmla="*/ 0 w 225"/>
                  <a:gd name="T39" fmla="*/ 137 h 154"/>
                  <a:gd name="T40" fmla="*/ 18 w 225"/>
                  <a:gd name="T41" fmla="*/ 154 h 154"/>
                  <a:gd name="T42" fmla="*/ 207 w 225"/>
                  <a:gd name="T43" fmla="*/ 154 h 154"/>
                  <a:gd name="T44" fmla="*/ 225 w 225"/>
                  <a:gd name="T45" fmla="*/ 137 h 154"/>
                  <a:gd name="T46" fmla="*/ 211 w 225"/>
                  <a:gd name="T47" fmla="*/ 126 h 154"/>
                  <a:gd name="T48" fmla="*/ 196 w 225"/>
                  <a:gd name="T49" fmla="*/ 141 h 154"/>
                  <a:gd name="T50" fmla="*/ 55 w 225"/>
                  <a:gd name="T51" fmla="*/ 141 h 154"/>
                  <a:gd name="T52" fmla="*/ 29 w 225"/>
                  <a:gd name="T53" fmla="*/ 141 h 154"/>
                  <a:gd name="T54" fmla="*/ 13 w 225"/>
                  <a:gd name="T55" fmla="*/ 126 h 154"/>
                  <a:gd name="T56" fmla="*/ 13 w 225"/>
                  <a:gd name="T57" fmla="*/ 26 h 154"/>
                  <a:gd name="T58" fmla="*/ 29 w 225"/>
                  <a:gd name="T59" fmla="*/ 11 h 154"/>
                  <a:gd name="T60" fmla="*/ 91 w 225"/>
                  <a:gd name="T61" fmla="*/ 11 h 154"/>
                  <a:gd name="T62" fmla="*/ 146 w 225"/>
                  <a:gd name="T63" fmla="*/ 11 h 154"/>
                  <a:gd name="T64" fmla="*/ 160 w 225"/>
                  <a:gd name="T65" fmla="*/ 11 h 154"/>
                  <a:gd name="T66" fmla="*/ 170 w 225"/>
                  <a:gd name="T67" fmla="*/ 11 h 154"/>
                  <a:gd name="T68" fmla="*/ 183 w 225"/>
                  <a:gd name="T69" fmla="*/ 11 h 154"/>
                  <a:gd name="T70" fmla="*/ 191 w 225"/>
                  <a:gd name="T71" fmla="*/ 11 h 154"/>
                  <a:gd name="T72" fmla="*/ 196 w 225"/>
                  <a:gd name="T73" fmla="*/ 11 h 154"/>
                  <a:gd name="T74" fmla="*/ 203 w 225"/>
                  <a:gd name="T75" fmla="*/ 13 h 154"/>
                  <a:gd name="T76" fmla="*/ 211 w 225"/>
                  <a:gd name="T77" fmla="*/ 23 h 154"/>
                  <a:gd name="T78" fmla="*/ 211 w 225"/>
                  <a:gd name="T79" fmla="*/ 26 h 154"/>
                  <a:gd name="T80" fmla="*/ 211 w 225"/>
                  <a:gd name="T81" fmla="*/ 36 h 154"/>
                  <a:gd name="T82" fmla="*/ 211 w 225"/>
                  <a:gd name="T83" fmla="*/ 43 h 154"/>
                  <a:gd name="T84" fmla="*/ 211 w 225"/>
                  <a:gd name="T85" fmla="*/ 57 h 154"/>
                  <a:gd name="T86" fmla="*/ 211 w 225"/>
                  <a:gd name="T87" fmla="*/ 66 h 154"/>
                  <a:gd name="T88" fmla="*/ 211 w 225"/>
                  <a:gd name="T89" fmla="*/ 81 h 154"/>
                  <a:gd name="T90" fmla="*/ 211 w 225"/>
                  <a:gd name="T91"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54">
                    <a:moveTo>
                      <a:pt x="225" y="137"/>
                    </a:moveTo>
                    <a:cubicBezTo>
                      <a:pt x="225" y="80"/>
                      <a:pt x="225" y="80"/>
                      <a:pt x="225" y="80"/>
                    </a:cubicBezTo>
                    <a:cubicBezTo>
                      <a:pt x="225" y="66"/>
                      <a:pt x="225" y="66"/>
                      <a:pt x="225" y="66"/>
                    </a:cubicBezTo>
                    <a:cubicBezTo>
                      <a:pt x="225" y="56"/>
                      <a:pt x="225" y="56"/>
                      <a:pt x="225" y="56"/>
                    </a:cubicBezTo>
                    <a:cubicBezTo>
                      <a:pt x="225" y="42"/>
                      <a:pt x="225" y="42"/>
                      <a:pt x="225" y="42"/>
                    </a:cubicBezTo>
                    <a:cubicBezTo>
                      <a:pt x="225" y="35"/>
                      <a:pt x="225" y="35"/>
                      <a:pt x="225" y="35"/>
                    </a:cubicBezTo>
                    <a:cubicBezTo>
                      <a:pt x="225" y="21"/>
                      <a:pt x="225" y="21"/>
                      <a:pt x="225" y="21"/>
                    </a:cubicBezTo>
                    <a:cubicBezTo>
                      <a:pt x="225" y="18"/>
                      <a:pt x="225" y="18"/>
                      <a:pt x="225" y="18"/>
                    </a:cubicBezTo>
                    <a:cubicBezTo>
                      <a:pt x="225" y="15"/>
                      <a:pt x="224" y="13"/>
                      <a:pt x="223" y="11"/>
                    </a:cubicBezTo>
                    <a:cubicBezTo>
                      <a:pt x="222" y="7"/>
                      <a:pt x="219" y="5"/>
                      <a:pt x="216" y="3"/>
                    </a:cubicBezTo>
                    <a:cubicBezTo>
                      <a:pt x="214" y="1"/>
                      <a:pt x="212" y="1"/>
                      <a:pt x="209" y="0"/>
                    </a:cubicBezTo>
                    <a:cubicBezTo>
                      <a:pt x="208" y="0"/>
                      <a:pt x="208" y="0"/>
                      <a:pt x="207" y="0"/>
                    </a:cubicBezTo>
                    <a:cubicBezTo>
                      <a:pt x="193" y="0"/>
                      <a:pt x="193" y="0"/>
                      <a:pt x="193" y="0"/>
                    </a:cubicBezTo>
                    <a:cubicBezTo>
                      <a:pt x="185" y="0"/>
                      <a:pt x="185" y="0"/>
                      <a:pt x="185" y="0"/>
                    </a:cubicBezTo>
                    <a:cubicBezTo>
                      <a:pt x="172" y="0"/>
                      <a:pt x="172" y="0"/>
                      <a:pt x="172" y="0"/>
                    </a:cubicBezTo>
                    <a:cubicBezTo>
                      <a:pt x="161" y="0"/>
                      <a:pt x="161" y="0"/>
                      <a:pt x="161" y="0"/>
                    </a:cubicBezTo>
                    <a:cubicBezTo>
                      <a:pt x="147" y="0"/>
                      <a:pt x="147" y="0"/>
                      <a:pt x="147" y="0"/>
                    </a:cubicBezTo>
                    <a:cubicBezTo>
                      <a:pt x="18" y="0"/>
                      <a:pt x="18" y="0"/>
                      <a:pt x="18" y="0"/>
                    </a:cubicBezTo>
                    <a:cubicBezTo>
                      <a:pt x="8" y="0"/>
                      <a:pt x="0" y="8"/>
                      <a:pt x="0" y="18"/>
                    </a:cubicBezTo>
                    <a:cubicBezTo>
                      <a:pt x="0" y="137"/>
                      <a:pt x="0" y="137"/>
                      <a:pt x="0" y="137"/>
                    </a:cubicBezTo>
                    <a:cubicBezTo>
                      <a:pt x="0" y="146"/>
                      <a:pt x="8" y="154"/>
                      <a:pt x="18" y="154"/>
                    </a:cubicBezTo>
                    <a:cubicBezTo>
                      <a:pt x="207" y="154"/>
                      <a:pt x="207" y="154"/>
                      <a:pt x="207" y="154"/>
                    </a:cubicBezTo>
                    <a:cubicBezTo>
                      <a:pt x="217" y="154"/>
                      <a:pt x="225" y="146"/>
                      <a:pt x="225" y="137"/>
                    </a:cubicBezTo>
                    <a:close/>
                    <a:moveTo>
                      <a:pt x="211" y="126"/>
                    </a:moveTo>
                    <a:cubicBezTo>
                      <a:pt x="211" y="135"/>
                      <a:pt x="204" y="141"/>
                      <a:pt x="196" y="141"/>
                    </a:cubicBezTo>
                    <a:cubicBezTo>
                      <a:pt x="55" y="141"/>
                      <a:pt x="55" y="141"/>
                      <a:pt x="55" y="141"/>
                    </a:cubicBezTo>
                    <a:cubicBezTo>
                      <a:pt x="29" y="141"/>
                      <a:pt x="29" y="141"/>
                      <a:pt x="29" y="141"/>
                    </a:cubicBezTo>
                    <a:cubicBezTo>
                      <a:pt x="20" y="141"/>
                      <a:pt x="13" y="135"/>
                      <a:pt x="13" y="126"/>
                    </a:cubicBezTo>
                    <a:cubicBezTo>
                      <a:pt x="13" y="26"/>
                      <a:pt x="13" y="26"/>
                      <a:pt x="13" y="26"/>
                    </a:cubicBezTo>
                    <a:cubicBezTo>
                      <a:pt x="13" y="18"/>
                      <a:pt x="20" y="11"/>
                      <a:pt x="29" y="11"/>
                    </a:cubicBezTo>
                    <a:cubicBezTo>
                      <a:pt x="91" y="11"/>
                      <a:pt x="91" y="11"/>
                      <a:pt x="91" y="11"/>
                    </a:cubicBezTo>
                    <a:cubicBezTo>
                      <a:pt x="146" y="11"/>
                      <a:pt x="146" y="11"/>
                      <a:pt x="146" y="11"/>
                    </a:cubicBezTo>
                    <a:cubicBezTo>
                      <a:pt x="160" y="11"/>
                      <a:pt x="160" y="11"/>
                      <a:pt x="160" y="11"/>
                    </a:cubicBezTo>
                    <a:cubicBezTo>
                      <a:pt x="170" y="11"/>
                      <a:pt x="170" y="11"/>
                      <a:pt x="170" y="11"/>
                    </a:cubicBezTo>
                    <a:cubicBezTo>
                      <a:pt x="183" y="11"/>
                      <a:pt x="183" y="11"/>
                      <a:pt x="183" y="11"/>
                    </a:cubicBezTo>
                    <a:cubicBezTo>
                      <a:pt x="191" y="11"/>
                      <a:pt x="191" y="11"/>
                      <a:pt x="191" y="11"/>
                    </a:cubicBezTo>
                    <a:cubicBezTo>
                      <a:pt x="196" y="11"/>
                      <a:pt x="196" y="11"/>
                      <a:pt x="196" y="11"/>
                    </a:cubicBezTo>
                    <a:cubicBezTo>
                      <a:pt x="198" y="11"/>
                      <a:pt x="201" y="12"/>
                      <a:pt x="203" y="13"/>
                    </a:cubicBezTo>
                    <a:cubicBezTo>
                      <a:pt x="207" y="15"/>
                      <a:pt x="210" y="19"/>
                      <a:pt x="211" y="23"/>
                    </a:cubicBezTo>
                    <a:cubicBezTo>
                      <a:pt x="211" y="24"/>
                      <a:pt x="211" y="25"/>
                      <a:pt x="211" y="26"/>
                    </a:cubicBezTo>
                    <a:cubicBezTo>
                      <a:pt x="211" y="36"/>
                      <a:pt x="211" y="36"/>
                      <a:pt x="211" y="36"/>
                    </a:cubicBezTo>
                    <a:cubicBezTo>
                      <a:pt x="211" y="43"/>
                      <a:pt x="211" y="43"/>
                      <a:pt x="211" y="43"/>
                    </a:cubicBezTo>
                    <a:cubicBezTo>
                      <a:pt x="211" y="57"/>
                      <a:pt x="211" y="57"/>
                      <a:pt x="211" y="57"/>
                    </a:cubicBezTo>
                    <a:cubicBezTo>
                      <a:pt x="211" y="66"/>
                      <a:pt x="211" y="66"/>
                      <a:pt x="211" y="66"/>
                    </a:cubicBezTo>
                    <a:cubicBezTo>
                      <a:pt x="211" y="81"/>
                      <a:pt x="211" y="81"/>
                      <a:pt x="211" y="81"/>
                    </a:cubicBezTo>
                    <a:lnTo>
                      <a:pt x="211"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Freeform 454"/>
              <p:cNvSpPr/>
              <p:nvPr/>
            </p:nvSpPr>
            <p:spPr bwMode="auto">
              <a:xfrm>
                <a:off x="10054349" y="3114896"/>
                <a:ext cx="168779" cy="228646"/>
              </a:xfrm>
              <a:custGeom>
                <a:avLst/>
                <a:gdLst>
                  <a:gd name="T0" fmla="*/ 50 w 99"/>
                  <a:gd name="T1" fmla="*/ 2 h 134"/>
                  <a:gd name="T2" fmla="*/ 89 w 99"/>
                  <a:gd name="T3" fmla="*/ 59 h 134"/>
                  <a:gd name="T4" fmla="*/ 89 w 99"/>
                  <a:gd name="T5" fmla="*/ 86 h 134"/>
                  <a:gd name="T6" fmla="*/ 59 w 99"/>
                  <a:gd name="T7" fmla="*/ 68 h 134"/>
                  <a:gd name="T8" fmla="*/ 50 w 99"/>
                  <a:gd name="T9" fmla="*/ 2 h 134"/>
                  <a:gd name="T10" fmla="*/ 0 w 99"/>
                  <a:gd name="T11" fmla="*/ 34 h 134"/>
                  <a:gd name="T12" fmla="*/ 0 w 99"/>
                  <a:gd name="T13" fmla="*/ 114 h 134"/>
                  <a:gd name="T14" fmla="*/ 50 w 99"/>
                  <a:gd name="T15" fmla="*/ 134 h 134"/>
                  <a:gd name="T16" fmla="*/ 99 w 99"/>
                  <a:gd name="T17" fmla="*/ 105 h 134"/>
                  <a:gd name="T18" fmla="*/ 99 w 99"/>
                  <a:gd name="T19" fmla="*/ 68 h 134"/>
                  <a:gd name="T20" fmla="*/ 50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50" y="2"/>
                    </a:moveTo>
                    <a:cubicBezTo>
                      <a:pt x="89" y="59"/>
                      <a:pt x="89" y="59"/>
                      <a:pt x="89" y="59"/>
                    </a:cubicBezTo>
                    <a:cubicBezTo>
                      <a:pt x="89" y="86"/>
                      <a:pt x="89" y="86"/>
                      <a:pt x="89" y="86"/>
                    </a:cubicBezTo>
                    <a:cubicBezTo>
                      <a:pt x="59" y="68"/>
                      <a:pt x="59" y="68"/>
                      <a:pt x="59" y="68"/>
                    </a:cubicBezTo>
                    <a:cubicBezTo>
                      <a:pt x="50" y="2"/>
                      <a:pt x="50" y="2"/>
                      <a:pt x="50" y="2"/>
                    </a:cubicBezTo>
                    <a:cubicBezTo>
                      <a:pt x="50" y="2"/>
                      <a:pt x="0" y="0"/>
                      <a:pt x="0" y="34"/>
                    </a:cubicBezTo>
                    <a:cubicBezTo>
                      <a:pt x="0" y="68"/>
                      <a:pt x="0" y="114"/>
                      <a:pt x="0" y="114"/>
                    </a:cubicBezTo>
                    <a:cubicBezTo>
                      <a:pt x="0" y="114"/>
                      <a:pt x="5" y="134"/>
                      <a:pt x="50" y="134"/>
                    </a:cubicBezTo>
                    <a:cubicBezTo>
                      <a:pt x="94" y="134"/>
                      <a:pt x="99" y="121"/>
                      <a:pt x="99" y="105"/>
                    </a:cubicBezTo>
                    <a:cubicBezTo>
                      <a:pt x="99" y="89"/>
                      <a:pt x="99" y="68"/>
                      <a:pt x="99" y="68"/>
                    </a:cubicBezTo>
                    <a:cubicBezTo>
                      <a:pt x="99" y="68"/>
                      <a:pt x="88" y="2"/>
                      <a:pt x="5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Oval 455"/>
              <p:cNvSpPr>
                <a:spLocks noChangeArrowheads="1"/>
              </p:cNvSpPr>
              <p:nvPr/>
            </p:nvSpPr>
            <p:spPr bwMode="auto">
              <a:xfrm>
                <a:off x="10063004"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3" name="组合 52"/>
          <p:cNvGrpSpPr/>
          <p:nvPr/>
        </p:nvGrpSpPr>
        <p:grpSpPr>
          <a:xfrm>
            <a:off x="7588592" y="3196263"/>
            <a:ext cx="1128795" cy="1091228"/>
            <a:chOff x="7588591" y="2967663"/>
            <a:chExt cx="1128795" cy="1091228"/>
          </a:xfrm>
        </p:grpSpPr>
        <p:grpSp>
          <p:nvGrpSpPr>
            <p:cNvPr id="54" name="组合 53"/>
            <p:cNvGrpSpPr/>
            <p:nvPr/>
          </p:nvGrpSpPr>
          <p:grpSpPr>
            <a:xfrm>
              <a:off x="7588591" y="2967663"/>
              <a:ext cx="1128795" cy="1091228"/>
              <a:chOff x="4565675" y="764773"/>
              <a:chExt cx="2003843" cy="1937151"/>
            </a:xfrm>
          </p:grpSpPr>
          <p:sp>
            <p:nvSpPr>
              <p:cNvPr id="60" name="椭圆 59"/>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椭圆 61"/>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任意多边形 62"/>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5" name="组合 54"/>
            <p:cNvGrpSpPr/>
            <p:nvPr/>
          </p:nvGrpSpPr>
          <p:grpSpPr>
            <a:xfrm>
              <a:off x="7941651" y="3349411"/>
              <a:ext cx="271565" cy="405922"/>
              <a:chOff x="10182016" y="3597432"/>
              <a:chExt cx="481093" cy="719115"/>
            </a:xfrm>
            <a:solidFill>
              <a:schemeClr val="bg1"/>
            </a:solidFill>
            <a:effectLst/>
          </p:grpSpPr>
          <p:sp>
            <p:nvSpPr>
              <p:cNvPr id="56" name="Freeform 456"/>
              <p:cNvSpPr>
                <a:spLocks noEditPoints="1"/>
              </p:cNvSpPr>
              <p:nvPr/>
            </p:nvSpPr>
            <p:spPr bwMode="auto">
              <a:xfrm>
                <a:off x="10274339" y="3841224"/>
                <a:ext cx="388770" cy="347657"/>
              </a:xfrm>
              <a:custGeom>
                <a:avLst/>
                <a:gdLst>
                  <a:gd name="T0" fmla="*/ 148 w 228"/>
                  <a:gd name="T1" fmla="*/ 0 h 204"/>
                  <a:gd name="T2" fmla="*/ 148 w 228"/>
                  <a:gd name="T3" fmla="*/ 0 h 204"/>
                  <a:gd name="T4" fmla="*/ 114 w 228"/>
                  <a:gd name="T5" fmla="*/ 13 h 204"/>
                  <a:gd name="T6" fmla="*/ 80 w 228"/>
                  <a:gd name="T7" fmla="*/ 0 h 204"/>
                  <a:gd name="T8" fmla="*/ 0 w 228"/>
                  <a:gd name="T9" fmla="*/ 80 h 204"/>
                  <a:gd name="T10" fmla="*/ 0 w 228"/>
                  <a:gd name="T11" fmla="*/ 98 h 204"/>
                  <a:gd name="T12" fmla="*/ 7 w 228"/>
                  <a:gd name="T13" fmla="*/ 84 h 204"/>
                  <a:gd name="T14" fmla="*/ 17 w 228"/>
                  <a:gd name="T15" fmla="*/ 84 h 204"/>
                  <a:gd name="T16" fmla="*/ 93 w 228"/>
                  <a:gd name="T17" fmla="*/ 137 h 204"/>
                  <a:gd name="T18" fmla="*/ 93 w 228"/>
                  <a:gd name="T19" fmla="*/ 204 h 204"/>
                  <a:gd name="T20" fmla="*/ 104 w 228"/>
                  <a:gd name="T21" fmla="*/ 204 h 204"/>
                  <a:gd name="T22" fmla="*/ 124 w 228"/>
                  <a:gd name="T23" fmla="*/ 204 h 204"/>
                  <a:gd name="T24" fmla="*/ 228 w 228"/>
                  <a:gd name="T25" fmla="*/ 167 h 204"/>
                  <a:gd name="T26" fmla="*/ 228 w 228"/>
                  <a:gd name="T27" fmla="*/ 80 h 204"/>
                  <a:gd name="T28" fmla="*/ 148 w 228"/>
                  <a:gd name="T29" fmla="*/ 0 h 204"/>
                  <a:gd name="T30" fmla="*/ 114 w 228"/>
                  <a:gd name="T31" fmla="*/ 151 h 204"/>
                  <a:gd name="T32" fmla="*/ 101 w 228"/>
                  <a:gd name="T33" fmla="*/ 132 h 204"/>
                  <a:gd name="T34" fmla="*/ 87 w 228"/>
                  <a:gd name="T35" fmla="*/ 112 h 204"/>
                  <a:gd name="T36" fmla="*/ 114 w 228"/>
                  <a:gd name="T37" fmla="*/ 13 h 204"/>
                  <a:gd name="T38" fmla="*/ 141 w 228"/>
                  <a:gd name="T39" fmla="*/ 112 h 204"/>
                  <a:gd name="T40" fmla="*/ 114 w 228"/>
                  <a:gd name="T41" fmla="*/ 15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04">
                    <a:moveTo>
                      <a:pt x="148" y="0"/>
                    </a:moveTo>
                    <a:cubicBezTo>
                      <a:pt x="148" y="0"/>
                      <a:pt x="148" y="0"/>
                      <a:pt x="148" y="0"/>
                    </a:cubicBezTo>
                    <a:cubicBezTo>
                      <a:pt x="114" y="13"/>
                      <a:pt x="114" y="13"/>
                      <a:pt x="114" y="13"/>
                    </a:cubicBezTo>
                    <a:cubicBezTo>
                      <a:pt x="80" y="0"/>
                      <a:pt x="80" y="0"/>
                      <a:pt x="80" y="0"/>
                    </a:cubicBezTo>
                    <a:cubicBezTo>
                      <a:pt x="50" y="9"/>
                      <a:pt x="0" y="30"/>
                      <a:pt x="0" y="80"/>
                    </a:cubicBezTo>
                    <a:cubicBezTo>
                      <a:pt x="0" y="87"/>
                      <a:pt x="0" y="92"/>
                      <a:pt x="0" y="98"/>
                    </a:cubicBezTo>
                    <a:cubicBezTo>
                      <a:pt x="5" y="90"/>
                      <a:pt x="7" y="84"/>
                      <a:pt x="7" y="84"/>
                    </a:cubicBezTo>
                    <a:cubicBezTo>
                      <a:pt x="17" y="84"/>
                      <a:pt x="17" y="84"/>
                      <a:pt x="17" y="84"/>
                    </a:cubicBezTo>
                    <a:cubicBezTo>
                      <a:pt x="17" y="84"/>
                      <a:pt x="33" y="137"/>
                      <a:pt x="93" y="137"/>
                    </a:cubicBezTo>
                    <a:cubicBezTo>
                      <a:pt x="93" y="204"/>
                      <a:pt x="93" y="204"/>
                      <a:pt x="93" y="204"/>
                    </a:cubicBezTo>
                    <a:cubicBezTo>
                      <a:pt x="97" y="204"/>
                      <a:pt x="100" y="204"/>
                      <a:pt x="104" y="204"/>
                    </a:cubicBezTo>
                    <a:cubicBezTo>
                      <a:pt x="124" y="204"/>
                      <a:pt x="124" y="204"/>
                      <a:pt x="124" y="204"/>
                    </a:cubicBezTo>
                    <a:cubicBezTo>
                      <a:pt x="225" y="204"/>
                      <a:pt x="228" y="167"/>
                      <a:pt x="228" y="167"/>
                    </a:cubicBezTo>
                    <a:cubicBezTo>
                      <a:pt x="228" y="167"/>
                      <a:pt x="228" y="154"/>
                      <a:pt x="228" y="80"/>
                    </a:cubicBezTo>
                    <a:cubicBezTo>
                      <a:pt x="228" y="30"/>
                      <a:pt x="178" y="9"/>
                      <a:pt x="148" y="0"/>
                    </a:cubicBezTo>
                    <a:close/>
                    <a:moveTo>
                      <a:pt x="114" y="151"/>
                    </a:moveTo>
                    <a:cubicBezTo>
                      <a:pt x="101" y="132"/>
                      <a:pt x="101" y="132"/>
                      <a:pt x="101" y="132"/>
                    </a:cubicBezTo>
                    <a:cubicBezTo>
                      <a:pt x="87" y="112"/>
                      <a:pt x="87" y="112"/>
                      <a:pt x="87" y="112"/>
                    </a:cubicBezTo>
                    <a:cubicBezTo>
                      <a:pt x="114" y="13"/>
                      <a:pt x="114" y="13"/>
                      <a:pt x="114" y="13"/>
                    </a:cubicBezTo>
                    <a:cubicBezTo>
                      <a:pt x="141" y="112"/>
                      <a:pt x="141" y="112"/>
                      <a:pt x="141" y="112"/>
                    </a:cubicBezTo>
                    <a:lnTo>
                      <a:pt x="11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7" name="Oval 457"/>
              <p:cNvSpPr>
                <a:spLocks noChangeArrowheads="1"/>
              </p:cNvSpPr>
              <p:nvPr/>
            </p:nvSpPr>
            <p:spPr bwMode="auto">
              <a:xfrm>
                <a:off x="10371712" y="3597432"/>
                <a:ext cx="195467" cy="22792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Freeform 458"/>
              <p:cNvSpPr/>
              <p:nvPr/>
            </p:nvSpPr>
            <p:spPr bwMode="auto">
              <a:xfrm>
                <a:off x="10241882" y="4125408"/>
                <a:ext cx="108913" cy="109634"/>
              </a:xfrm>
              <a:custGeom>
                <a:avLst/>
                <a:gdLst>
                  <a:gd name="T0" fmla="*/ 20 w 64"/>
                  <a:gd name="T1" fmla="*/ 2 h 64"/>
                  <a:gd name="T2" fmla="*/ 0 w 64"/>
                  <a:gd name="T3" fmla="*/ 32 h 64"/>
                  <a:gd name="T4" fmla="*/ 32 w 64"/>
                  <a:gd name="T5" fmla="*/ 64 h 64"/>
                  <a:gd name="T6" fmla="*/ 64 w 64"/>
                  <a:gd name="T7" fmla="*/ 32 h 64"/>
                  <a:gd name="T8" fmla="*/ 64 w 64"/>
                  <a:gd name="T9" fmla="*/ 31 h 64"/>
                  <a:gd name="T10" fmla="*/ 32 w 64"/>
                  <a:gd name="T11" fmla="*/ 0 h 64"/>
                  <a:gd name="T12" fmla="*/ 20 w 64"/>
                  <a:gd name="T13" fmla="*/ 2 h 64"/>
                </a:gdLst>
                <a:ahLst/>
                <a:cxnLst>
                  <a:cxn ang="0">
                    <a:pos x="T0" y="T1"/>
                  </a:cxn>
                  <a:cxn ang="0">
                    <a:pos x="T2" y="T3"/>
                  </a:cxn>
                  <a:cxn ang="0">
                    <a:pos x="T4" y="T5"/>
                  </a:cxn>
                  <a:cxn ang="0">
                    <a:pos x="T6" y="T7"/>
                  </a:cxn>
                  <a:cxn ang="0">
                    <a:pos x="T8" y="T9"/>
                  </a:cxn>
                  <a:cxn ang="0">
                    <a:pos x="T10" y="T11"/>
                  </a:cxn>
                  <a:cxn ang="0">
                    <a:pos x="T12" y="T13"/>
                  </a:cxn>
                </a:cxnLst>
                <a:rect l="0" t="0" r="r" b="b"/>
                <a:pathLst>
                  <a:path w="64" h="64">
                    <a:moveTo>
                      <a:pt x="20" y="2"/>
                    </a:moveTo>
                    <a:cubicBezTo>
                      <a:pt x="8" y="7"/>
                      <a:pt x="0" y="18"/>
                      <a:pt x="0" y="32"/>
                    </a:cubicBezTo>
                    <a:cubicBezTo>
                      <a:pt x="0" y="49"/>
                      <a:pt x="14" y="64"/>
                      <a:pt x="32" y="64"/>
                    </a:cubicBezTo>
                    <a:cubicBezTo>
                      <a:pt x="50" y="64"/>
                      <a:pt x="64" y="49"/>
                      <a:pt x="64" y="32"/>
                    </a:cubicBezTo>
                    <a:cubicBezTo>
                      <a:pt x="64" y="32"/>
                      <a:pt x="64" y="31"/>
                      <a:pt x="64" y="31"/>
                    </a:cubicBezTo>
                    <a:cubicBezTo>
                      <a:pt x="64" y="14"/>
                      <a:pt x="49" y="0"/>
                      <a:pt x="32" y="0"/>
                    </a:cubicBezTo>
                    <a:cubicBezTo>
                      <a:pt x="28" y="0"/>
                      <a:pt x="24" y="1"/>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Freeform 459"/>
              <p:cNvSpPr>
                <a:spLocks noEditPoints="1"/>
              </p:cNvSpPr>
              <p:nvPr/>
            </p:nvSpPr>
            <p:spPr bwMode="auto">
              <a:xfrm>
                <a:off x="10182016" y="4011446"/>
                <a:ext cx="228646" cy="305101"/>
              </a:xfrm>
              <a:custGeom>
                <a:avLst/>
                <a:gdLst>
                  <a:gd name="T0" fmla="*/ 66 w 134"/>
                  <a:gd name="T1" fmla="*/ 0 h 179"/>
                  <a:gd name="T2" fmla="*/ 54 w 134"/>
                  <a:gd name="T3" fmla="*/ 18 h 179"/>
                  <a:gd name="T4" fmla="*/ 0 w 134"/>
                  <a:gd name="T5" fmla="*/ 48 h 179"/>
                  <a:gd name="T6" fmla="*/ 0 w 134"/>
                  <a:gd name="T7" fmla="*/ 117 h 179"/>
                  <a:gd name="T8" fmla="*/ 66 w 134"/>
                  <a:gd name="T9" fmla="*/ 179 h 179"/>
                  <a:gd name="T10" fmla="*/ 134 w 134"/>
                  <a:gd name="T11" fmla="*/ 116 h 179"/>
                  <a:gd name="T12" fmla="*/ 134 w 134"/>
                  <a:gd name="T13" fmla="*/ 104 h 179"/>
                  <a:gd name="T14" fmla="*/ 134 w 134"/>
                  <a:gd name="T15" fmla="*/ 48 h 179"/>
                  <a:gd name="T16" fmla="*/ 66 w 134"/>
                  <a:gd name="T17" fmla="*/ 0 h 179"/>
                  <a:gd name="T18" fmla="*/ 107 w 134"/>
                  <a:gd name="T19" fmla="*/ 99 h 179"/>
                  <a:gd name="T20" fmla="*/ 107 w 134"/>
                  <a:gd name="T21" fmla="*/ 100 h 179"/>
                  <a:gd name="T22" fmla="*/ 67 w 134"/>
                  <a:gd name="T23" fmla="*/ 139 h 179"/>
                  <a:gd name="T24" fmla="*/ 27 w 134"/>
                  <a:gd name="T25" fmla="*/ 99 h 179"/>
                  <a:gd name="T26" fmla="*/ 54 w 134"/>
                  <a:gd name="T27" fmla="*/ 60 h 179"/>
                  <a:gd name="T28" fmla="*/ 67 w 134"/>
                  <a:gd name="T29" fmla="*/ 58 h 179"/>
                  <a:gd name="T30" fmla="*/ 107 w 134"/>
                  <a:gd name="T31" fmla="*/ 9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79">
                    <a:moveTo>
                      <a:pt x="66" y="0"/>
                    </a:moveTo>
                    <a:cubicBezTo>
                      <a:pt x="66" y="0"/>
                      <a:pt x="62" y="9"/>
                      <a:pt x="54" y="18"/>
                    </a:cubicBezTo>
                    <a:cubicBezTo>
                      <a:pt x="44" y="30"/>
                      <a:pt x="27" y="45"/>
                      <a:pt x="0" y="48"/>
                    </a:cubicBezTo>
                    <a:cubicBezTo>
                      <a:pt x="0" y="117"/>
                      <a:pt x="0" y="117"/>
                      <a:pt x="0" y="117"/>
                    </a:cubicBezTo>
                    <a:cubicBezTo>
                      <a:pt x="0" y="153"/>
                      <a:pt x="66" y="179"/>
                      <a:pt x="66" y="179"/>
                    </a:cubicBezTo>
                    <a:cubicBezTo>
                      <a:pt x="124" y="164"/>
                      <a:pt x="134" y="116"/>
                      <a:pt x="134" y="116"/>
                    </a:cubicBezTo>
                    <a:cubicBezTo>
                      <a:pt x="134" y="104"/>
                      <a:pt x="134" y="104"/>
                      <a:pt x="134" y="104"/>
                    </a:cubicBezTo>
                    <a:cubicBezTo>
                      <a:pt x="134" y="48"/>
                      <a:pt x="134" y="48"/>
                      <a:pt x="134" y="48"/>
                    </a:cubicBezTo>
                    <a:cubicBezTo>
                      <a:pt x="81" y="46"/>
                      <a:pt x="66" y="0"/>
                      <a:pt x="66" y="0"/>
                    </a:cubicBezTo>
                    <a:close/>
                    <a:moveTo>
                      <a:pt x="107" y="99"/>
                    </a:moveTo>
                    <a:cubicBezTo>
                      <a:pt x="107" y="99"/>
                      <a:pt x="107" y="100"/>
                      <a:pt x="107" y="100"/>
                    </a:cubicBezTo>
                    <a:cubicBezTo>
                      <a:pt x="106" y="122"/>
                      <a:pt x="89" y="139"/>
                      <a:pt x="67" y="139"/>
                    </a:cubicBezTo>
                    <a:cubicBezTo>
                      <a:pt x="45" y="139"/>
                      <a:pt x="27" y="121"/>
                      <a:pt x="27" y="99"/>
                    </a:cubicBezTo>
                    <a:cubicBezTo>
                      <a:pt x="27" y="81"/>
                      <a:pt x="38" y="66"/>
                      <a:pt x="54" y="60"/>
                    </a:cubicBezTo>
                    <a:cubicBezTo>
                      <a:pt x="58" y="59"/>
                      <a:pt x="63" y="58"/>
                      <a:pt x="67" y="58"/>
                    </a:cubicBezTo>
                    <a:cubicBezTo>
                      <a:pt x="89" y="58"/>
                      <a:pt x="107" y="76"/>
                      <a:pt x="107"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64" name="文本框 63"/>
          <p:cNvSpPr txBox="1"/>
          <p:nvPr/>
        </p:nvSpPr>
        <p:spPr>
          <a:xfrm>
            <a:off x="2315637"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609205"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8899314"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Text Box 4">
            <a:extLst>
              <a:ext uri="{FF2B5EF4-FFF2-40B4-BE49-F238E27FC236}">
                <a16:creationId xmlns:a16="http://schemas.microsoft.com/office/drawing/2014/main" id="{F89D8395-E6C2-BA47-9C9D-E6CA04A3CC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7" name="Half Frame 12">
            <a:extLst>
              <a:ext uri="{FF2B5EF4-FFF2-40B4-BE49-F238E27FC236}">
                <a16:creationId xmlns:a16="http://schemas.microsoft.com/office/drawing/2014/main" id="{CA96F347-7A26-DA46-89F7-BA6D581E492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78" name="直线连接符 77">
            <a:extLst>
              <a:ext uri="{FF2B5EF4-FFF2-40B4-BE49-F238E27FC236}">
                <a16:creationId xmlns:a16="http://schemas.microsoft.com/office/drawing/2014/main" id="{C850FD13-973C-B842-9F12-680FE8141D3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14:presetBounceEnd="4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14:presetBounceEnd="40000">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1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14:presetBounceEnd="40000">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14:bounceEnd="40000">
                                          <p:cBhvr additive="base">
                                            <p:cTn id="15"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14:bounceEnd="40000">
                                          <p:cBhvr additive="base">
                                            <p:cTn id="19" dur="1500" fill="hold"/>
                                            <p:tgtEl>
                                              <p:spTgt spid="53"/>
                                            </p:tgtEl>
                                            <p:attrNameLst>
                                              <p:attrName>ppt_x</p:attrName>
                                            </p:attrNameLst>
                                          </p:cBhvr>
                                          <p:tavLst>
                                            <p:tav tm="0">
                                              <p:val>
                                                <p:strVal val="0-#ppt_w/2"/>
                                              </p:val>
                                            </p:tav>
                                            <p:tav tm="100000">
                                              <p:val>
                                                <p:strVal val="#ppt_x"/>
                                              </p:val>
                                            </p:tav>
                                          </p:tavLst>
                                        </p:anim>
                                        <p:anim calcmode="lin" valueType="num" p14:bounceEnd="40000">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14:presetBounceEnd="40000">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14:bounceEnd="40000">
                                          <p:cBhvr additive="base">
                                            <p:cTn id="23" dur="1500" fill="hold"/>
                                            <p:tgtEl>
                                              <p:spTgt spid="30"/>
                                            </p:tgtEl>
                                            <p:attrNameLst>
                                              <p:attrName>ppt_x</p:attrName>
                                            </p:attrNameLst>
                                          </p:cBhvr>
                                          <p:tavLst>
                                            <p:tav tm="0">
                                              <p:val>
                                                <p:strVal val="0-#ppt_w/2"/>
                                              </p:val>
                                            </p:tav>
                                            <p:tav tm="100000">
                                              <p:val>
                                                <p:strVal val="#ppt_x"/>
                                              </p:val>
                                            </p:tav>
                                          </p:tavLst>
                                        </p:anim>
                                        <p:anim calcmode="lin" valueType="num" p14:bounceEnd="40000">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14:presetBounceEnd="40000">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14:bounceEnd="40000">
                                          <p:cBhvr additive="base">
                                            <p:cTn id="27" dur="1500" fill="hold"/>
                                            <p:tgtEl>
                                              <p:spTgt spid="16"/>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14:presetBounceEnd="81000">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14:bounceEnd="81000">
                                          <p:cBhvr additive="base">
                                            <p:cTn id="53" dur="1000" fill="hold"/>
                                            <p:tgtEl>
                                              <p:spTgt spid="76"/>
                                            </p:tgtEl>
                                            <p:attrNameLst>
                                              <p:attrName>ppt_x</p:attrName>
                                            </p:attrNameLst>
                                          </p:cBhvr>
                                          <p:tavLst>
                                            <p:tav tm="0">
                                              <p:val>
                                                <p:strVal val="#ppt_x"/>
                                              </p:val>
                                            </p:tav>
                                            <p:tav tm="100000">
                                              <p:val>
                                                <p:strVal val="#ppt_x"/>
                                              </p:val>
                                            </p:tav>
                                          </p:tavLst>
                                        </p:anim>
                                        <p:anim calcmode="lin" valueType="num" p14:bounceEnd="81000">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0-#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500" fill="hold"/>
                                            <p:tgtEl>
                                              <p:spTgt spid="5"/>
                                            </p:tgtEl>
                                            <p:attrNameLst>
                                              <p:attrName>ppt_x</p:attrName>
                                            </p:attrNameLst>
                                          </p:cBhvr>
                                          <p:tavLst>
                                            <p:tav tm="0">
                                              <p:val>
                                                <p:strVal val="0-#ppt_w/2"/>
                                              </p:val>
                                            </p:tav>
                                            <p:tav tm="100000">
                                              <p:val>
                                                <p:strVal val="#ppt_x"/>
                                              </p:val>
                                            </p:tav>
                                          </p:tavLst>
                                        </p:anim>
                                        <p:anim calcmode="lin" valueType="num">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500" fill="hold"/>
                                            <p:tgtEl>
                                              <p:spTgt spid="3"/>
                                            </p:tgtEl>
                                            <p:attrNameLst>
                                              <p:attrName>ppt_x</p:attrName>
                                            </p:attrNameLst>
                                          </p:cBhvr>
                                          <p:tavLst>
                                            <p:tav tm="0">
                                              <p:val>
                                                <p:strVal val="0-#ppt_w/2"/>
                                              </p:val>
                                            </p:tav>
                                            <p:tav tm="100000">
                                              <p:val>
                                                <p:strVal val="#ppt_x"/>
                                              </p:val>
                                            </p:tav>
                                          </p:tavLst>
                                        </p:anim>
                                        <p:anim calcmode="lin" valueType="num">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1500" fill="hold"/>
                                            <p:tgtEl>
                                              <p:spTgt spid="53"/>
                                            </p:tgtEl>
                                            <p:attrNameLst>
                                              <p:attrName>ppt_x</p:attrName>
                                            </p:attrNameLst>
                                          </p:cBhvr>
                                          <p:tavLst>
                                            <p:tav tm="0">
                                              <p:val>
                                                <p:strVal val="0-#ppt_w/2"/>
                                              </p:val>
                                            </p:tav>
                                            <p:tav tm="100000">
                                              <p:val>
                                                <p:strVal val="#ppt_x"/>
                                              </p:val>
                                            </p:tav>
                                          </p:tavLst>
                                        </p:anim>
                                        <p:anim calcmode="lin" valueType="num">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500" fill="hold"/>
                                            <p:tgtEl>
                                              <p:spTgt spid="30"/>
                                            </p:tgtEl>
                                            <p:attrNameLst>
                                              <p:attrName>ppt_x</p:attrName>
                                            </p:attrNameLst>
                                          </p:cBhvr>
                                          <p:tavLst>
                                            <p:tav tm="0">
                                              <p:val>
                                                <p:strVal val="0-#ppt_w/2"/>
                                              </p:val>
                                            </p:tav>
                                            <p:tav tm="100000">
                                              <p:val>
                                                <p:strVal val="#ppt_x"/>
                                              </p:val>
                                            </p:tav>
                                          </p:tavLst>
                                        </p:anim>
                                        <p:anim calcmode="lin" valueType="num">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500" fill="hold"/>
                                            <p:tgtEl>
                                              <p:spTgt spid="16"/>
                                            </p:tgtEl>
                                            <p:attrNameLst>
                                              <p:attrName>ppt_x</p:attrName>
                                            </p:attrNameLst>
                                          </p:cBhvr>
                                          <p:tavLst>
                                            <p:tav tm="0">
                                              <p:val>
                                                <p:strVal val="0-#ppt_w/2"/>
                                              </p:val>
                                            </p:tav>
                                            <p:tav tm="100000">
                                              <p:val>
                                                <p:strVal val="#ppt_x"/>
                                              </p:val>
                                            </p:tav>
                                          </p:tavLst>
                                        </p:anim>
                                        <p:anim calcmode="lin" valueType="num">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cBhvr additive="base">
                                            <p:cTn id="53" dur="1000" fill="hold"/>
                                            <p:tgtEl>
                                              <p:spTgt spid="76"/>
                                            </p:tgtEl>
                                            <p:attrNameLst>
                                              <p:attrName>ppt_x</p:attrName>
                                            </p:attrNameLst>
                                          </p:cBhvr>
                                          <p:tavLst>
                                            <p:tav tm="0">
                                              <p:val>
                                                <p:strVal val="#ppt_x"/>
                                              </p:val>
                                            </p:tav>
                                            <p:tav tm="100000">
                                              <p:val>
                                                <p:strVal val="#ppt_x"/>
                                              </p:val>
                                            </p:tav>
                                          </p:tavLst>
                                        </p:anim>
                                        <p:anim calcmode="lin" valueType="num">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2162148"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7740910"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141818" y="1610725"/>
            <a:ext cx="2329599" cy="2329599"/>
            <a:chOff x="4184106" y="2952206"/>
            <a:chExt cx="3823790" cy="3823790"/>
          </a:xfrm>
        </p:grpSpPr>
        <p:sp>
          <p:nvSpPr>
            <p:cNvPr id="8" name="椭圆 7"/>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710169" y="3478269"/>
              <a:ext cx="2771663" cy="2771663"/>
              <a:chOff x="2193191" y="1899415"/>
              <a:chExt cx="2421376" cy="2421376"/>
            </a:xfrm>
            <a:effectLst/>
          </p:grpSpPr>
          <p:sp>
            <p:nvSpPr>
              <p:cNvPr id="10" name="椭圆 9"/>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13" name="文本框 12"/>
          <p:cNvSpPr txBox="1"/>
          <p:nvPr/>
        </p:nvSpPr>
        <p:spPr bwMode="auto">
          <a:xfrm>
            <a:off x="2287152" y="4451630"/>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2490331"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7718934" y="1610725"/>
            <a:ext cx="2329599" cy="2329599"/>
            <a:chOff x="4184106" y="2952206"/>
            <a:chExt cx="3823790" cy="3823790"/>
          </a:xfrm>
        </p:grpSpPr>
        <p:sp>
          <p:nvSpPr>
            <p:cNvPr id="17" name="椭圆 1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4710169" y="3478269"/>
              <a:ext cx="2771663" cy="2771663"/>
              <a:chOff x="2193191" y="1899415"/>
              <a:chExt cx="2421376" cy="2421376"/>
            </a:xfrm>
            <a:effectLst/>
          </p:grpSpPr>
          <p:sp>
            <p:nvSpPr>
              <p:cNvPr id="19" name="椭圆 18"/>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椭圆 1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22" name="文本框 21"/>
          <p:cNvSpPr txBox="1"/>
          <p:nvPr/>
        </p:nvSpPr>
        <p:spPr bwMode="auto">
          <a:xfrm>
            <a:off x="7864269" y="4451627"/>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8067447"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右箭头 24"/>
          <p:cNvSpPr/>
          <p:nvPr/>
        </p:nvSpPr>
        <p:spPr>
          <a:xfrm flipH="1">
            <a:off x="4905969" y="2576403"/>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右箭头 25"/>
          <p:cNvSpPr/>
          <p:nvPr/>
        </p:nvSpPr>
        <p:spPr>
          <a:xfrm>
            <a:off x="4905969" y="4579961"/>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4958618" y="3195915"/>
            <a:ext cx="2274767" cy="1227362"/>
            <a:chOff x="1502659" y="4629752"/>
            <a:chExt cx="2067969" cy="1227359"/>
          </a:xfrm>
        </p:grpSpPr>
        <p:sp>
          <p:nvSpPr>
            <p:cNvPr id="28" name="文本框 27"/>
            <p:cNvSpPr txBox="1"/>
            <p:nvPr/>
          </p:nvSpPr>
          <p:spPr bwMode="auto">
            <a:xfrm>
              <a:off x="1502659" y="5008098"/>
              <a:ext cx="2067969" cy="849013"/>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bwMode="auto">
            <a:xfrm>
              <a:off x="1555947" y="4629752"/>
              <a:ext cx="1961390" cy="460374"/>
            </a:xfrm>
            <a:prstGeom prst="rect">
              <a:avLst/>
            </a:prstGeom>
            <a:noFill/>
          </p:spPr>
          <p:txBody>
            <a:bodyPr wrap="square">
              <a:spAutoFit/>
            </a:bodyPr>
            <a:lstStyle/>
            <a:p>
              <a:pPr algn="ctr">
                <a:defRPr/>
              </a:pPr>
              <a:r>
                <a:rPr lang="zh-CN" altLang="en-US" sz="2400" spc="1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30" name="组合 29"/>
          <p:cNvGrpSpPr/>
          <p:nvPr/>
        </p:nvGrpSpPr>
        <p:grpSpPr>
          <a:xfrm>
            <a:off x="8562660" y="2472581"/>
            <a:ext cx="642147" cy="605887"/>
            <a:chOff x="3098700" y="5569159"/>
            <a:chExt cx="642147" cy="605886"/>
          </a:xfrm>
          <a:solidFill>
            <a:schemeClr val="accent1">
              <a:lumMod val="75000"/>
            </a:schemeClr>
          </a:solidFill>
        </p:grpSpPr>
        <p:sp>
          <p:nvSpPr>
            <p:cNvPr id="31" name="Freeform 349"/>
            <p:cNvSpPr/>
            <p:nvPr/>
          </p:nvSpPr>
          <p:spPr bwMode="auto">
            <a:xfrm>
              <a:off x="3119543" y="5569159"/>
              <a:ext cx="621304" cy="392027"/>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2" name="Freeform 350"/>
            <p:cNvSpPr/>
            <p:nvPr/>
          </p:nvSpPr>
          <p:spPr bwMode="auto">
            <a:xfrm>
              <a:off x="3098700" y="5880953"/>
              <a:ext cx="565341" cy="294092"/>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351"/>
            <p:cNvSpPr>
              <a:spLocks noEditPoints="1"/>
            </p:cNvSpPr>
            <p:nvPr/>
          </p:nvSpPr>
          <p:spPr bwMode="auto">
            <a:xfrm>
              <a:off x="3217193" y="5689366"/>
              <a:ext cx="380606" cy="371184"/>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352"/>
            <p:cNvSpPr>
              <a:spLocks noEditPoints="1"/>
            </p:cNvSpPr>
            <p:nvPr/>
          </p:nvSpPr>
          <p:spPr bwMode="auto">
            <a:xfrm>
              <a:off x="3319126" y="5787872"/>
              <a:ext cx="176170" cy="174742"/>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Oval 353"/>
            <p:cNvSpPr>
              <a:spLocks noChangeArrowheads="1"/>
            </p:cNvSpPr>
            <p:nvPr/>
          </p:nvSpPr>
          <p:spPr bwMode="auto">
            <a:xfrm>
              <a:off x="3375945" y="5844406"/>
              <a:ext cx="62530" cy="608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3075189" y="2485317"/>
            <a:ext cx="517287" cy="580417"/>
            <a:chOff x="3199776" y="780891"/>
            <a:chExt cx="470261" cy="527652"/>
          </a:xfrm>
          <a:solidFill>
            <a:schemeClr val="accent1">
              <a:lumMod val="75000"/>
            </a:schemeClr>
          </a:solidFill>
        </p:grpSpPr>
        <p:sp>
          <p:nvSpPr>
            <p:cNvPr id="37" name="Freeform 433"/>
            <p:cNvSpPr>
              <a:spLocks noEditPoints="1"/>
            </p:cNvSpPr>
            <p:nvPr/>
          </p:nvSpPr>
          <p:spPr bwMode="auto">
            <a:xfrm>
              <a:off x="3262591" y="927080"/>
              <a:ext cx="64814" cy="65671"/>
            </a:xfrm>
            <a:custGeom>
              <a:avLst/>
              <a:gdLst>
                <a:gd name="T0" fmla="*/ 96 w 96"/>
                <a:gd name="T1" fmla="*/ 48 h 97"/>
                <a:gd name="T2" fmla="*/ 48 w 96"/>
                <a:gd name="T3" fmla="*/ 0 h 97"/>
                <a:gd name="T4" fmla="*/ 0 w 96"/>
                <a:gd name="T5" fmla="*/ 48 h 97"/>
                <a:gd name="T6" fmla="*/ 48 w 96"/>
                <a:gd name="T7" fmla="*/ 97 h 97"/>
                <a:gd name="T8" fmla="*/ 96 w 96"/>
                <a:gd name="T9" fmla="*/ 48 h 97"/>
                <a:gd name="T10" fmla="*/ 28 w 96"/>
                <a:gd name="T11" fmla="*/ 71 h 97"/>
                <a:gd name="T12" fmla="*/ 31 w 96"/>
                <a:gd name="T13" fmla="*/ 61 h 97"/>
                <a:gd name="T14" fmla="*/ 45 w 96"/>
                <a:gd name="T15" fmla="*/ 65 h 97"/>
                <a:gd name="T16" fmla="*/ 53 w 96"/>
                <a:gd name="T17" fmla="*/ 60 h 97"/>
                <a:gd name="T18" fmla="*/ 44 w 96"/>
                <a:gd name="T19" fmla="*/ 52 h 97"/>
                <a:gd name="T20" fmla="*/ 29 w 96"/>
                <a:gd name="T21" fmla="*/ 37 h 97"/>
                <a:gd name="T22" fmla="*/ 43 w 96"/>
                <a:gd name="T23" fmla="*/ 21 h 97"/>
                <a:gd name="T24" fmla="*/ 43 w 96"/>
                <a:gd name="T25" fmla="*/ 13 h 97"/>
                <a:gd name="T26" fmla="*/ 52 w 96"/>
                <a:gd name="T27" fmla="*/ 13 h 97"/>
                <a:gd name="T28" fmla="*/ 52 w 96"/>
                <a:gd name="T29" fmla="*/ 21 h 97"/>
                <a:gd name="T30" fmla="*/ 64 w 96"/>
                <a:gd name="T31" fmla="*/ 24 h 97"/>
                <a:gd name="T32" fmla="*/ 62 w 96"/>
                <a:gd name="T33" fmla="*/ 33 h 97"/>
                <a:gd name="T34" fmla="*/ 49 w 96"/>
                <a:gd name="T35" fmla="*/ 30 h 97"/>
                <a:gd name="T36" fmla="*/ 42 w 96"/>
                <a:gd name="T37" fmla="*/ 35 h 97"/>
                <a:gd name="T38" fmla="*/ 52 w 96"/>
                <a:gd name="T39" fmla="*/ 42 h 97"/>
                <a:gd name="T40" fmla="*/ 66 w 96"/>
                <a:gd name="T41" fmla="*/ 58 h 97"/>
                <a:gd name="T42" fmla="*/ 51 w 96"/>
                <a:gd name="T43" fmla="*/ 74 h 97"/>
                <a:gd name="T44" fmla="*/ 51 w 96"/>
                <a:gd name="T45" fmla="*/ 83 h 97"/>
                <a:gd name="T46" fmla="*/ 43 w 96"/>
                <a:gd name="T47" fmla="*/ 83 h 97"/>
                <a:gd name="T48" fmla="*/ 43 w 96"/>
                <a:gd name="T49" fmla="*/ 75 h 97"/>
                <a:gd name="T50" fmla="*/ 28 w 96"/>
                <a:gd name="T5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97">
                  <a:moveTo>
                    <a:pt x="96" y="48"/>
                  </a:moveTo>
                  <a:cubicBezTo>
                    <a:pt x="96" y="21"/>
                    <a:pt x="75" y="0"/>
                    <a:pt x="48" y="0"/>
                  </a:cubicBezTo>
                  <a:cubicBezTo>
                    <a:pt x="22" y="0"/>
                    <a:pt x="0" y="21"/>
                    <a:pt x="0" y="48"/>
                  </a:cubicBezTo>
                  <a:cubicBezTo>
                    <a:pt x="0" y="75"/>
                    <a:pt x="22" y="97"/>
                    <a:pt x="48" y="97"/>
                  </a:cubicBezTo>
                  <a:cubicBezTo>
                    <a:pt x="75" y="97"/>
                    <a:pt x="96" y="75"/>
                    <a:pt x="96" y="48"/>
                  </a:cubicBezTo>
                  <a:close/>
                  <a:moveTo>
                    <a:pt x="28" y="71"/>
                  </a:moveTo>
                  <a:cubicBezTo>
                    <a:pt x="31" y="61"/>
                    <a:pt x="31" y="61"/>
                    <a:pt x="31" y="61"/>
                  </a:cubicBezTo>
                  <a:cubicBezTo>
                    <a:pt x="34" y="63"/>
                    <a:pt x="39" y="65"/>
                    <a:pt x="45" y="65"/>
                  </a:cubicBezTo>
                  <a:cubicBezTo>
                    <a:pt x="50" y="65"/>
                    <a:pt x="53" y="63"/>
                    <a:pt x="53" y="60"/>
                  </a:cubicBezTo>
                  <a:cubicBezTo>
                    <a:pt x="53" y="56"/>
                    <a:pt x="51" y="54"/>
                    <a:pt x="44" y="52"/>
                  </a:cubicBezTo>
                  <a:cubicBezTo>
                    <a:pt x="35" y="49"/>
                    <a:pt x="29" y="45"/>
                    <a:pt x="29" y="37"/>
                  </a:cubicBezTo>
                  <a:cubicBezTo>
                    <a:pt x="29" y="29"/>
                    <a:pt x="34" y="23"/>
                    <a:pt x="43" y="21"/>
                  </a:cubicBezTo>
                  <a:cubicBezTo>
                    <a:pt x="43" y="13"/>
                    <a:pt x="43" y="13"/>
                    <a:pt x="43" y="13"/>
                  </a:cubicBezTo>
                  <a:cubicBezTo>
                    <a:pt x="52" y="13"/>
                    <a:pt x="52" y="13"/>
                    <a:pt x="52" y="13"/>
                  </a:cubicBezTo>
                  <a:cubicBezTo>
                    <a:pt x="52" y="21"/>
                    <a:pt x="52" y="21"/>
                    <a:pt x="52" y="21"/>
                  </a:cubicBezTo>
                  <a:cubicBezTo>
                    <a:pt x="57" y="21"/>
                    <a:pt x="61" y="22"/>
                    <a:pt x="64" y="24"/>
                  </a:cubicBezTo>
                  <a:cubicBezTo>
                    <a:pt x="62" y="33"/>
                    <a:pt x="62" y="33"/>
                    <a:pt x="62" y="33"/>
                  </a:cubicBezTo>
                  <a:cubicBezTo>
                    <a:pt x="59" y="32"/>
                    <a:pt x="55" y="30"/>
                    <a:pt x="49" y="30"/>
                  </a:cubicBezTo>
                  <a:cubicBezTo>
                    <a:pt x="44" y="30"/>
                    <a:pt x="42" y="33"/>
                    <a:pt x="42" y="35"/>
                  </a:cubicBezTo>
                  <a:cubicBezTo>
                    <a:pt x="42" y="38"/>
                    <a:pt x="45" y="40"/>
                    <a:pt x="52" y="42"/>
                  </a:cubicBezTo>
                  <a:cubicBezTo>
                    <a:pt x="62" y="46"/>
                    <a:pt x="66" y="51"/>
                    <a:pt x="66" y="58"/>
                  </a:cubicBezTo>
                  <a:cubicBezTo>
                    <a:pt x="66" y="66"/>
                    <a:pt x="61" y="73"/>
                    <a:pt x="51" y="74"/>
                  </a:cubicBezTo>
                  <a:cubicBezTo>
                    <a:pt x="51" y="83"/>
                    <a:pt x="51" y="83"/>
                    <a:pt x="51" y="83"/>
                  </a:cubicBezTo>
                  <a:cubicBezTo>
                    <a:pt x="43" y="83"/>
                    <a:pt x="43" y="83"/>
                    <a:pt x="43" y="83"/>
                  </a:cubicBezTo>
                  <a:cubicBezTo>
                    <a:pt x="43" y="75"/>
                    <a:pt x="43" y="75"/>
                    <a:pt x="43" y="75"/>
                  </a:cubicBezTo>
                  <a:cubicBezTo>
                    <a:pt x="37" y="75"/>
                    <a:pt x="32" y="73"/>
                    <a:pt x="28"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34"/>
            <p:cNvSpPr>
              <a:spLocks noEditPoints="1"/>
            </p:cNvSpPr>
            <p:nvPr/>
          </p:nvSpPr>
          <p:spPr bwMode="auto">
            <a:xfrm>
              <a:off x="3367094" y="867120"/>
              <a:ext cx="140479" cy="141621"/>
            </a:xfrm>
            <a:custGeom>
              <a:avLst/>
              <a:gdLst>
                <a:gd name="T0" fmla="*/ 104 w 208"/>
                <a:gd name="T1" fmla="*/ 0 h 210"/>
                <a:gd name="T2" fmla="*/ 0 w 208"/>
                <a:gd name="T3" fmla="*/ 105 h 210"/>
                <a:gd name="T4" fmla="*/ 104 w 208"/>
                <a:gd name="T5" fmla="*/ 210 h 210"/>
                <a:gd name="T6" fmla="*/ 208 w 208"/>
                <a:gd name="T7" fmla="*/ 105 h 210"/>
                <a:gd name="T8" fmla="*/ 104 w 208"/>
                <a:gd name="T9" fmla="*/ 0 h 210"/>
                <a:gd name="T10" fmla="*/ 111 w 208"/>
                <a:gd name="T11" fmla="*/ 161 h 210"/>
                <a:gd name="T12" fmla="*/ 111 w 208"/>
                <a:gd name="T13" fmla="*/ 180 h 210"/>
                <a:gd name="T14" fmla="*/ 92 w 208"/>
                <a:gd name="T15" fmla="*/ 180 h 210"/>
                <a:gd name="T16" fmla="*/ 92 w 208"/>
                <a:gd name="T17" fmla="*/ 163 h 210"/>
                <a:gd name="T18" fmla="*/ 61 w 208"/>
                <a:gd name="T19" fmla="*/ 155 h 210"/>
                <a:gd name="T20" fmla="*/ 66 w 208"/>
                <a:gd name="T21" fmla="*/ 133 h 210"/>
                <a:gd name="T22" fmla="*/ 97 w 208"/>
                <a:gd name="T23" fmla="*/ 141 h 210"/>
                <a:gd name="T24" fmla="*/ 115 w 208"/>
                <a:gd name="T25" fmla="*/ 130 h 210"/>
                <a:gd name="T26" fmla="*/ 95 w 208"/>
                <a:gd name="T27" fmla="*/ 114 h 210"/>
                <a:gd name="T28" fmla="*/ 62 w 208"/>
                <a:gd name="T29" fmla="*/ 80 h 210"/>
                <a:gd name="T30" fmla="*/ 93 w 208"/>
                <a:gd name="T31" fmla="*/ 47 h 210"/>
                <a:gd name="T32" fmla="*/ 93 w 208"/>
                <a:gd name="T33" fmla="*/ 30 h 210"/>
                <a:gd name="T34" fmla="*/ 111 w 208"/>
                <a:gd name="T35" fmla="*/ 30 h 210"/>
                <a:gd name="T36" fmla="*/ 111 w 208"/>
                <a:gd name="T37" fmla="*/ 46 h 210"/>
                <a:gd name="T38" fmla="*/ 138 w 208"/>
                <a:gd name="T39" fmla="*/ 52 h 210"/>
                <a:gd name="T40" fmla="*/ 133 w 208"/>
                <a:gd name="T41" fmla="*/ 73 h 210"/>
                <a:gd name="T42" fmla="*/ 106 w 208"/>
                <a:gd name="T43" fmla="*/ 66 h 210"/>
                <a:gd name="T44" fmla="*/ 90 w 208"/>
                <a:gd name="T45" fmla="*/ 77 h 210"/>
                <a:gd name="T46" fmla="*/ 113 w 208"/>
                <a:gd name="T47" fmla="*/ 93 h 210"/>
                <a:gd name="T48" fmla="*/ 143 w 208"/>
                <a:gd name="T49" fmla="*/ 127 h 210"/>
                <a:gd name="T50" fmla="*/ 111 w 208"/>
                <a:gd name="T51" fmla="*/ 16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210">
                  <a:moveTo>
                    <a:pt x="104" y="0"/>
                  </a:moveTo>
                  <a:cubicBezTo>
                    <a:pt x="47" y="0"/>
                    <a:pt x="0" y="47"/>
                    <a:pt x="0" y="105"/>
                  </a:cubicBezTo>
                  <a:cubicBezTo>
                    <a:pt x="0" y="163"/>
                    <a:pt x="47" y="210"/>
                    <a:pt x="104" y="210"/>
                  </a:cubicBezTo>
                  <a:cubicBezTo>
                    <a:pt x="162" y="210"/>
                    <a:pt x="208" y="163"/>
                    <a:pt x="208" y="105"/>
                  </a:cubicBezTo>
                  <a:cubicBezTo>
                    <a:pt x="208" y="47"/>
                    <a:pt x="162" y="0"/>
                    <a:pt x="104" y="0"/>
                  </a:cubicBezTo>
                  <a:close/>
                  <a:moveTo>
                    <a:pt x="111" y="161"/>
                  </a:moveTo>
                  <a:cubicBezTo>
                    <a:pt x="111" y="180"/>
                    <a:pt x="111" y="180"/>
                    <a:pt x="111" y="180"/>
                  </a:cubicBezTo>
                  <a:cubicBezTo>
                    <a:pt x="92" y="180"/>
                    <a:pt x="92" y="180"/>
                    <a:pt x="92" y="180"/>
                  </a:cubicBezTo>
                  <a:cubicBezTo>
                    <a:pt x="92" y="163"/>
                    <a:pt x="92" y="163"/>
                    <a:pt x="92" y="163"/>
                  </a:cubicBezTo>
                  <a:cubicBezTo>
                    <a:pt x="80" y="162"/>
                    <a:pt x="68" y="159"/>
                    <a:pt x="61" y="155"/>
                  </a:cubicBezTo>
                  <a:cubicBezTo>
                    <a:pt x="66" y="133"/>
                    <a:pt x="66" y="133"/>
                    <a:pt x="66" y="133"/>
                  </a:cubicBezTo>
                  <a:cubicBezTo>
                    <a:pt x="74" y="138"/>
                    <a:pt x="85" y="141"/>
                    <a:pt x="97" y="141"/>
                  </a:cubicBezTo>
                  <a:cubicBezTo>
                    <a:pt x="108" y="141"/>
                    <a:pt x="115" y="137"/>
                    <a:pt x="115" y="130"/>
                  </a:cubicBezTo>
                  <a:cubicBezTo>
                    <a:pt x="115" y="123"/>
                    <a:pt x="109" y="118"/>
                    <a:pt x="95" y="114"/>
                  </a:cubicBezTo>
                  <a:cubicBezTo>
                    <a:pt x="76" y="107"/>
                    <a:pt x="62" y="98"/>
                    <a:pt x="62" y="80"/>
                  </a:cubicBezTo>
                  <a:cubicBezTo>
                    <a:pt x="62" y="64"/>
                    <a:pt x="74" y="51"/>
                    <a:pt x="93" y="47"/>
                  </a:cubicBezTo>
                  <a:cubicBezTo>
                    <a:pt x="93" y="30"/>
                    <a:pt x="93" y="30"/>
                    <a:pt x="93" y="30"/>
                  </a:cubicBezTo>
                  <a:cubicBezTo>
                    <a:pt x="111" y="30"/>
                    <a:pt x="111" y="30"/>
                    <a:pt x="111" y="30"/>
                  </a:cubicBezTo>
                  <a:cubicBezTo>
                    <a:pt x="111" y="46"/>
                    <a:pt x="111" y="46"/>
                    <a:pt x="111" y="46"/>
                  </a:cubicBezTo>
                  <a:cubicBezTo>
                    <a:pt x="124" y="46"/>
                    <a:pt x="132" y="49"/>
                    <a:pt x="138" y="52"/>
                  </a:cubicBezTo>
                  <a:cubicBezTo>
                    <a:pt x="133" y="73"/>
                    <a:pt x="133" y="73"/>
                    <a:pt x="133" y="73"/>
                  </a:cubicBezTo>
                  <a:cubicBezTo>
                    <a:pt x="128" y="71"/>
                    <a:pt x="120" y="66"/>
                    <a:pt x="106" y="66"/>
                  </a:cubicBezTo>
                  <a:cubicBezTo>
                    <a:pt x="94" y="66"/>
                    <a:pt x="90" y="72"/>
                    <a:pt x="90" y="77"/>
                  </a:cubicBezTo>
                  <a:cubicBezTo>
                    <a:pt x="90" y="83"/>
                    <a:pt x="97" y="87"/>
                    <a:pt x="113" y="93"/>
                  </a:cubicBezTo>
                  <a:cubicBezTo>
                    <a:pt x="135" y="100"/>
                    <a:pt x="143" y="111"/>
                    <a:pt x="143" y="127"/>
                  </a:cubicBezTo>
                  <a:cubicBezTo>
                    <a:pt x="143" y="144"/>
                    <a:pt x="132" y="158"/>
                    <a:pt x="111"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35"/>
            <p:cNvSpPr>
              <a:spLocks noEditPoints="1"/>
            </p:cNvSpPr>
            <p:nvPr/>
          </p:nvSpPr>
          <p:spPr bwMode="auto">
            <a:xfrm>
              <a:off x="3282007" y="1022446"/>
              <a:ext cx="89941" cy="91083"/>
            </a:xfrm>
            <a:custGeom>
              <a:avLst/>
              <a:gdLst>
                <a:gd name="T0" fmla="*/ 67 w 133"/>
                <a:gd name="T1" fmla="*/ 0 h 135"/>
                <a:gd name="T2" fmla="*/ 0 w 133"/>
                <a:gd name="T3" fmla="*/ 68 h 135"/>
                <a:gd name="T4" fmla="*/ 67 w 133"/>
                <a:gd name="T5" fmla="*/ 135 h 135"/>
                <a:gd name="T6" fmla="*/ 133 w 133"/>
                <a:gd name="T7" fmla="*/ 68 h 135"/>
                <a:gd name="T8" fmla="*/ 67 w 133"/>
                <a:gd name="T9" fmla="*/ 0 h 135"/>
                <a:gd name="T10" fmla="*/ 71 w 133"/>
                <a:gd name="T11" fmla="*/ 104 h 135"/>
                <a:gd name="T12" fmla="*/ 71 w 133"/>
                <a:gd name="T13" fmla="*/ 116 h 135"/>
                <a:gd name="T14" fmla="*/ 59 w 133"/>
                <a:gd name="T15" fmla="*/ 116 h 135"/>
                <a:gd name="T16" fmla="*/ 59 w 133"/>
                <a:gd name="T17" fmla="*/ 105 h 135"/>
                <a:gd name="T18" fmla="*/ 39 w 133"/>
                <a:gd name="T19" fmla="*/ 100 h 135"/>
                <a:gd name="T20" fmla="*/ 43 w 133"/>
                <a:gd name="T21" fmla="*/ 86 h 135"/>
                <a:gd name="T22" fmla="*/ 62 w 133"/>
                <a:gd name="T23" fmla="*/ 91 h 135"/>
                <a:gd name="T24" fmla="*/ 74 w 133"/>
                <a:gd name="T25" fmla="*/ 84 h 135"/>
                <a:gd name="T26" fmla="*/ 61 w 133"/>
                <a:gd name="T27" fmla="*/ 73 h 135"/>
                <a:gd name="T28" fmla="*/ 40 w 133"/>
                <a:gd name="T29" fmla="*/ 52 h 135"/>
                <a:gd name="T30" fmla="*/ 60 w 133"/>
                <a:gd name="T31" fmla="*/ 31 h 135"/>
                <a:gd name="T32" fmla="*/ 60 w 133"/>
                <a:gd name="T33" fmla="*/ 20 h 135"/>
                <a:gd name="T34" fmla="*/ 72 w 133"/>
                <a:gd name="T35" fmla="*/ 20 h 135"/>
                <a:gd name="T36" fmla="*/ 72 w 133"/>
                <a:gd name="T37" fmla="*/ 30 h 135"/>
                <a:gd name="T38" fmla="*/ 89 w 133"/>
                <a:gd name="T39" fmla="*/ 34 h 135"/>
                <a:gd name="T40" fmla="*/ 85 w 133"/>
                <a:gd name="T41" fmla="*/ 47 h 135"/>
                <a:gd name="T42" fmla="*/ 68 w 133"/>
                <a:gd name="T43" fmla="*/ 43 h 135"/>
                <a:gd name="T44" fmla="*/ 58 w 133"/>
                <a:gd name="T45" fmla="*/ 50 h 135"/>
                <a:gd name="T46" fmla="*/ 72 w 133"/>
                <a:gd name="T47" fmla="*/ 60 h 135"/>
                <a:gd name="T48" fmla="*/ 92 w 133"/>
                <a:gd name="T49" fmla="*/ 82 h 135"/>
                <a:gd name="T50" fmla="*/ 71 w 133"/>
                <a:gd name="T51" fmla="*/ 10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 h="135">
                  <a:moveTo>
                    <a:pt x="67" y="0"/>
                  </a:moveTo>
                  <a:cubicBezTo>
                    <a:pt x="30" y="0"/>
                    <a:pt x="0" y="31"/>
                    <a:pt x="0" y="68"/>
                  </a:cubicBezTo>
                  <a:cubicBezTo>
                    <a:pt x="0" y="105"/>
                    <a:pt x="30" y="135"/>
                    <a:pt x="67" y="135"/>
                  </a:cubicBezTo>
                  <a:cubicBezTo>
                    <a:pt x="104" y="135"/>
                    <a:pt x="133" y="105"/>
                    <a:pt x="133" y="68"/>
                  </a:cubicBezTo>
                  <a:cubicBezTo>
                    <a:pt x="133" y="31"/>
                    <a:pt x="104" y="0"/>
                    <a:pt x="67" y="0"/>
                  </a:cubicBezTo>
                  <a:close/>
                  <a:moveTo>
                    <a:pt x="71" y="104"/>
                  </a:moveTo>
                  <a:cubicBezTo>
                    <a:pt x="71" y="116"/>
                    <a:pt x="71" y="116"/>
                    <a:pt x="71" y="116"/>
                  </a:cubicBezTo>
                  <a:cubicBezTo>
                    <a:pt x="59" y="116"/>
                    <a:pt x="59" y="116"/>
                    <a:pt x="59" y="116"/>
                  </a:cubicBezTo>
                  <a:cubicBezTo>
                    <a:pt x="59" y="105"/>
                    <a:pt x="59" y="105"/>
                    <a:pt x="59" y="105"/>
                  </a:cubicBezTo>
                  <a:cubicBezTo>
                    <a:pt x="51" y="104"/>
                    <a:pt x="44" y="102"/>
                    <a:pt x="39" y="100"/>
                  </a:cubicBezTo>
                  <a:cubicBezTo>
                    <a:pt x="43" y="86"/>
                    <a:pt x="43" y="86"/>
                    <a:pt x="43" y="86"/>
                  </a:cubicBezTo>
                  <a:cubicBezTo>
                    <a:pt x="48" y="88"/>
                    <a:pt x="55" y="91"/>
                    <a:pt x="62" y="91"/>
                  </a:cubicBezTo>
                  <a:cubicBezTo>
                    <a:pt x="69" y="91"/>
                    <a:pt x="74" y="88"/>
                    <a:pt x="74" y="84"/>
                  </a:cubicBezTo>
                  <a:cubicBezTo>
                    <a:pt x="74" y="79"/>
                    <a:pt x="70" y="76"/>
                    <a:pt x="61" y="73"/>
                  </a:cubicBezTo>
                  <a:cubicBezTo>
                    <a:pt x="49" y="69"/>
                    <a:pt x="40" y="63"/>
                    <a:pt x="40" y="52"/>
                  </a:cubicBezTo>
                  <a:cubicBezTo>
                    <a:pt x="40" y="41"/>
                    <a:pt x="47" y="33"/>
                    <a:pt x="60" y="31"/>
                  </a:cubicBezTo>
                  <a:cubicBezTo>
                    <a:pt x="60" y="20"/>
                    <a:pt x="60" y="20"/>
                    <a:pt x="60" y="20"/>
                  </a:cubicBezTo>
                  <a:cubicBezTo>
                    <a:pt x="72" y="20"/>
                    <a:pt x="72" y="20"/>
                    <a:pt x="72" y="20"/>
                  </a:cubicBezTo>
                  <a:cubicBezTo>
                    <a:pt x="72" y="30"/>
                    <a:pt x="72" y="30"/>
                    <a:pt x="72" y="30"/>
                  </a:cubicBezTo>
                  <a:cubicBezTo>
                    <a:pt x="79" y="30"/>
                    <a:pt x="85" y="32"/>
                    <a:pt x="89" y="34"/>
                  </a:cubicBezTo>
                  <a:cubicBezTo>
                    <a:pt x="85" y="47"/>
                    <a:pt x="85" y="47"/>
                    <a:pt x="85" y="47"/>
                  </a:cubicBezTo>
                  <a:cubicBezTo>
                    <a:pt x="82" y="46"/>
                    <a:pt x="77" y="43"/>
                    <a:pt x="68" y="43"/>
                  </a:cubicBezTo>
                  <a:cubicBezTo>
                    <a:pt x="61" y="43"/>
                    <a:pt x="58" y="46"/>
                    <a:pt x="58" y="50"/>
                  </a:cubicBezTo>
                  <a:cubicBezTo>
                    <a:pt x="58" y="54"/>
                    <a:pt x="62" y="56"/>
                    <a:pt x="72" y="60"/>
                  </a:cubicBezTo>
                  <a:cubicBezTo>
                    <a:pt x="86" y="65"/>
                    <a:pt x="92" y="71"/>
                    <a:pt x="92" y="82"/>
                  </a:cubicBezTo>
                  <a:cubicBezTo>
                    <a:pt x="92" y="93"/>
                    <a:pt x="85" y="101"/>
                    <a:pt x="71"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36"/>
            <p:cNvSpPr>
              <a:spLocks noEditPoints="1"/>
            </p:cNvSpPr>
            <p:nvPr/>
          </p:nvSpPr>
          <p:spPr bwMode="auto">
            <a:xfrm>
              <a:off x="3199776" y="780891"/>
              <a:ext cx="470261" cy="527652"/>
            </a:xfrm>
            <a:custGeom>
              <a:avLst/>
              <a:gdLst>
                <a:gd name="T0" fmla="*/ 652 w 697"/>
                <a:gd name="T1" fmla="*/ 426 h 782"/>
                <a:gd name="T2" fmla="*/ 601 w 697"/>
                <a:gd name="T3" fmla="*/ 366 h 782"/>
                <a:gd name="T4" fmla="*/ 603 w 697"/>
                <a:gd name="T5" fmla="*/ 267 h 782"/>
                <a:gd name="T6" fmla="*/ 585 w 697"/>
                <a:gd name="T7" fmla="*/ 182 h 782"/>
                <a:gd name="T8" fmla="*/ 509 w 697"/>
                <a:gd name="T9" fmla="*/ 80 h 782"/>
                <a:gd name="T10" fmla="*/ 298 w 697"/>
                <a:gd name="T11" fmla="*/ 0 h 782"/>
                <a:gd name="T12" fmla="*/ 0 w 697"/>
                <a:gd name="T13" fmla="*/ 273 h 782"/>
                <a:gd name="T14" fmla="*/ 2 w 697"/>
                <a:gd name="T15" fmla="*/ 302 h 782"/>
                <a:gd name="T16" fmla="*/ 82 w 697"/>
                <a:gd name="T17" fmla="*/ 533 h 782"/>
                <a:gd name="T18" fmla="*/ 0 w 697"/>
                <a:gd name="T19" fmla="*/ 781 h 782"/>
                <a:gd name="T20" fmla="*/ 362 w 697"/>
                <a:gd name="T21" fmla="*/ 782 h 782"/>
                <a:gd name="T22" fmla="*/ 433 w 697"/>
                <a:gd name="T23" fmla="*/ 674 h 782"/>
                <a:gd name="T24" fmla="*/ 545 w 697"/>
                <a:gd name="T25" fmla="*/ 675 h 782"/>
                <a:gd name="T26" fmla="*/ 563 w 697"/>
                <a:gd name="T27" fmla="*/ 673 h 782"/>
                <a:gd name="T28" fmla="*/ 564 w 697"/>
                <a:gd name="T29" fmla="*/ 673 h 782"/>
                <a:gd name="T30" fmla="*/ 564 w 697"/>
                <a:gd name="T31" fmla="*/ 673 h 782"/>
                <a:gd name="T32" fmla="*/ 571 w 697"/>
                <a:gd name="T33" fmla="*/ 601 h 782"/>
                <a:gd name="T34" fmla="*/ 595 w 697"/>
                <a:gd name="T35" fmla="*/ 577 h 782"/>
                <a:gd name="T36" fmla="*/ 595 w 697"/>
                <a:gd name="T37" fmla="*/ 575 h 782"/>
                <a:gd name="T38" fmla="*/ 561 w 697"/>
                <a:gd name="T39" fmla="*/ 554 h 782"/>
                <a:gd name="T40" fmla="*/ 570 w 697"/>
                <a:gd name="T41" fmla="*/ 554 h 782"/>
                <a:gd name="T42" fmla="*/ 598 w 697"/>
                <a:gd name="T43" fmla="*/ 536 h 782"/>
                <a:gd name="T44" fmla="*/ 598 w 697"/>
                <a:gd name="T45" fmla="*/ 535 h 782"/>
                <a:gd name="T46" fmla="*/ 595 w 697"/>
                <a:gd name="T47" fmla="*/ 527 h 782"/>
                <a:gd name="T48" fmla="*/ 611 w 697"/>
                <a:gd name="T49" fmla="*/ 461 h 782"/>
                <a:gd name="T50" fmla="*/ 652 w 697"/>
                <a:gd name="T51" fmla="*/ 426 h 782"/>
                <a:gd name="T52" fmla="*/ 78 w 697"/>
                <a:gd name="T53" fmla="*/ 265 h 782"/>
                <a:gd name="T54" fmla="*/ 141 w 697"/>
                <a:gd name="T55" fmla="*/ 201 h 782"/>
                <a:gd name="T56" fmla="*/ 205 w 697"/>
                <a:gd name="T57" fmla="*/ 265 h 782"/>
                <a:gd name="T58" fmla="*/ 141 w 697"/>
                <a:gd name="T59" fmla="*/ 329 h 782"/>
                <a:gd name="T60" fmla="*/ 78 w 697"/>
                <a:gd name="T61" fmla="*/ 265 h 782"/>
                <a:gd name="T62" fmla="*/ 189 w 697"/>
                <a:gd name="T63" fmla="*/ 514 h 782"/>
                <a:gd name="T64" fmla="*/ 101 w 697"/>
                <a:gd name="T65" fmla="*/ 426 h 782"/>
                <a:gd name="T66" fmla="*/ 189 w 697"/>
                <a:gd name="T67" fmla="*/ 337 h 782"/>
                <a:gd name="T68" fmla="*/ 276 w 697"/>
                <a:gd name="T69" fmla="*/ 426 h 782"/>
                <a:gd name="T70" fmla="*/ 189 w 697"/>
                <a:gd name="T71" fmla="*/ 514 h 782"/>
                <a:gd name="T72" fmla="*/ 352 w 697"/>
                <a:gd name="T73" fmla="*/ 371 h 782"/>
                <a:gd name="T74" fmla="*/ 215 w 697"/>
                <a:gd name="T75" fmla="*/ 233 h 782"/>
                <a:gd name="T76" fmla="*/ 352 w 697"/>
                <a:gd name="T77" fmla="*/ 95 h 782"/>
                <a:gd name="T78" fmla="*/ 489 w 697"/>
                <a:gd name="T79" fmla="*/ 233 h 782"/>
                <a:gd name="T80" fmla="*/ 352 w 697"/>
                <a:gd name="T81" fmla="*/ 371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7" h="782">
                  <a:moveTo>
                    <a:pt x="652" y="426"/>
                  </a:moveTo>
                  <a:cubicBezTo>
                    <a:pt x="636" y="408"/>
                    <a:pt x="611" y="388"/>
                    <a:pt x="601" y="366"/>
                  </a:cubicBezTo>
                  <a:cubicBezTo>
                    <a:pt x="587" y="333"/>
                    <a:pt x="603" y="301"/>
                    <a:pt x="603" y="267"/>
                  </a:cubicBezTo>
                  <a:cubicBezTo>
                    <a:pt x="602" y="240"/>
                    <a:pt x="594" y="207"/>
                    <a:pt x="585" y="182"/>
                  </a:cubicBezTo>
                  <a:cubicBezTo>
                    <a:pt x="570" y="141"/>
                    <a:pt x="543" y="107"/>
                    <a:pt x="509" y="80"/>
                  </a:cubicBezTo>
                  <a:cubicBezTo>
                    <a:pt x="456" y="31"/>
                    <a:pt x="381" y="0"/>
                    <a:pt x="298" y="0"/>
                  </a:cubicBezTo>
                  <a:cubicBezTo>
                    <a:pt x="133" y="0"/>
                    <a:pt x="0" y="122"/>
                    <a:pt x="0" y="273"/>
                  </a:cubicBezTo>
                  <a:cubicBezTo>
                    <a:pt x="0" y="283"/>
                    <a:pt x="1" y="293"/>
                    <a:pt x="2" y="302"/>
                  </a:cubicBezTo>
                  <a:cubicBezTo>
                    <a:pt x="3" y="368"/>
                    <a:pt x="23" y="446"/>
                    <a:pt x="82" y="533"/>
                  </a:cubicBezTo>
                  <a:cubicBezTo>
                    <a:pt x="82" y="533"/>
                    <a:pt x="164" y="697"/>
                    <a:pt x="0" y="781"/>
                  </a:cubicBezTo>
                  <a:cubicBezTo>
                    <a:pt x="362" y="782"/>
                    <a:pt x="362" y="782"/>
                    <a:pt x="362" y="782"/>
                  </a:cubicBezTo>
                  <a:cubicBezTo>
                    <a:pt x="362" y="782"/>
                    <a:pt x="389" y="674"/>
                    <a:pt x="433" y="674"/>
                  </a:cubicBezTo>
                  <a:cubicBezTo>
                    <a:pt x="470" y="674"/>
                    <a:pt x="508" y="677"/>
                    <a:pt x="545" y="675"/>
                  </a:cubicBezTo>
                  <a:cubicBezTo>
                    <a:pt x="553" y="676"/>
                    <a:pt x="558" y="675"/>
                    <a:pt x="563" y="673"/>
                  </a:cubicBezTo>
                  <a:cubicBezTo>
                    <a:pt x="564" y="673"/>
                    <a:pt x="564" y="673"/>
                    <a:pt x="564" y="673"/>
                  </a:cubicBezTo>
                  <a:cubicBezTo>
                    <a:pt x="564" y="673"/>
                    <a:pt x="564" y="673"/>
                    <a:pt x="564" y="673"/>
                  </a:cubicBezTo>
                  <a:cubicBezTo>
                    <a:pt x="589" y="660"/>
                    <a:pt x="571" y="601"/>
                    <a:pt x="571" y="601"/>
                  </a:cubicBezTo>
                  <a:cubicBezTo>
                    <a:pt x="586" y="595"/>
                    <a:pt x="595" y="585"/>
                    <a:pt x="595" y="577"/>
                  </a:cubicBezTo>
                  <a:cubicBezTo>
                    <a:pt x="595" y="575"/>
                    <a:pt x="595" y="575"/>
                    <a:pt x="595" y="575"/>
                  </a:cubicBezTo>
                  <a:cubicBezTo>
                    <a:pt x="595" y="565"/>
                    <a:pt x="581" y="557"/>
                    <a:pt x="561" y="554"/>
                  </a:cubicBezTo>
                  <a:cubicBezTo>
                    <a:pt x="570" y="554"/>
                    <a:pt x="570" y="554"/>
                    <a:pt x="570" y="554"/>
                  </a:cubicBezTo>
                  <a:cubicBezTo>
                    <a:pt x="585" y="554"/>
                    <a:pt x="598" y="546"/>
                    <a:pt x="598" y="536"/>
                  </a:cubicBezTo>
                  <a:cubicBezTo>
                    <a:pt x="598" y="535"/>
                    <a:pt x="598" y="535"/>
                    <a:pt x="598" y="535"/>
                  </a:cubicBezTo>
                  <a:cubicBezTo>
                    <a:pt x="598" y="532"/>
                    <a:pt x="597" y="529"/>
                    <a:pt x="595" y="527"/>
                  </a:cubicBezTo>
                  <a:cubicBezTo>
                    <a:pt x="598" y="514"/>
                    <a:pt x="609" y="461"/>
                    <a:pt x="611" y="461"/>
                  </a:cubicBezTo>
                  <a:cubicBezTo>
                    <a:pt x="697" y="457"/>
                    <a:pt x="652" y="426"/>
                    <a:pt x="652" y="426"/>
                  </a:cubicBezTo>
                  <a:close/>
                  <a:moveTo>
                    <a:pt x="78" y="265"/>
                  </a:moveTo>
                  <a:cubicBezTo>
                    <a:pt x="78" y="230"/>
                    <a:pt x="106" y="201"/>
                    <a:pt x="141" y="201"/>
                  </a:cubicBezTo>
                  <a:cubicBezTo>
                    <a:pt x="176" y="201"/>
                    <a:pt x="205" y="230"/>
                    <a:pt x="205" y="265"/>
                  </a:cubicBezTo>
                  <a:cubicBezTo>
                    <a:pt x="205" y="300"/>
                    <a:pt x="176" y="329"/>
                    <a:pt x="141" y="329"/>
                  </a:cubicBezTo>
                  <a:cubicBezTo>
                    <a:pt x="106" y="329"/>
                    <a:pt x="78" y="300"/>
                    <a:pt x="78" y="265"/>
                  </a:cubicBezTo>
                  <a:close/>
                  <a:moveTo>
                    <a:pt x="189" y="514"/>
                  </a:moveTo>
                  <a:cubicBezTo>
                    <a:pt x="141" y="514"/>
                    <a:pt x="101" y="474"/>
                    <a:pt x="101" y="426"/>
                  </a:cubicBezTo>
                  <a:cubicBezTo>
                    <a:pt x="101" y="377"/>
                    <a:pt x="141" y="337"/>
                    <a:pt x="189" y="337"/>
                  </a:cubicBezTo>
                  <a:cubicBezTo>
                    <a:pt x="237" y="337"/>
                    <a:pt x="276" y="377"/>
                    <a:pt x="276" y="426"/>
                  </a:cubicBezTo>
                  <a:cubicBezTo>
                    <a:pt x="276" y="474"/>
                    <a:pt x="237" y="514"/>
                    <a:pt x="189" y="514"/>
                  </a:cubicBezTo>
                  <a:close/>
                  <a:moveTo>
                    <a:pt x="352" y="371"/>
                  </a:moveTo>
                  <a:cubicBezTo>
                    <a:pt x="276" y="371"/>
                    <a:pt x="215" y="309"/>
                    <a:pt x="215" y="233"/>
                  </a:cubicBezTo>
                  <a:cubicBezTo>
                    <a:pt x="215" y="157"/>
                    <a:pt x="276" y="95"/>
                    <a:pt x="352" y="95"/>
                  </a:cubicBezTo>
                  <a:cubicBezTo>
                    <a:pt x="428" y="95"/>
                    <a:pt x="489" y="157"/>
                    <a:pt x="489" y="233"/>
                  </a:cubicBezTo>
                  <a:cubicBezTo>
                    <a:pt x="489" y="309"/>
                    <a:pt x="428" y="371"/>
                    <a:pt x="352" y="3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Text Box 4">
            <a:extLst>
              <a:ext uri="{FF2B5EF4-FFF2-40B4-BE49-F238E27FC236}">
                <a16:creationId xmlns:a16="http://schemas.microsoft.com/office/drawing/2014/main" id="{8FD36EDC-221B-654D-B03B-754156E0E03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Half Frame 12">
            <a:extLst>
              <a:ext uri="{FF2B5EF4-FFF2-40B4-BE49-F238E27FC236}">
                <a16:creationId xmlns:a16="http://schemas.microsoft.com/office/drawing/2014/main" id="{F848BD9D-61B2-8249-ACDE-9FC8E9BFF90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7" name="直线连接符 46">
            <a:extLst>
              <a:ext uri="{FF2B5EF4-FFF2-40B4-BE49-F238E27FC236}">
                <a16:creationId xmlns:a16="http://schemas.microsoft.com/office/drawing/2014/main" id="{FDDC6F53-A047-164A-B456-F8D80A34CB45}"/>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14:presetBounceEnd="4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14:presetBounceEnd="40000">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14:presetBounceEnd="81000">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14:bounceEnd="81000">
                                          <p:cBhvr additive="base">
                                            <p:cTn id="56" dur="1000" fill="hold"/>
                                            <p:tgtEl>
                                              <p:spTgt spid="41"/>
                                            </p:tgtEl>
                                            <p:attrNameLst>
                                              <p:attrName>ppt_x</p:attrName>
                                            </p:attrNameLst>
                                          </p:cBhvr>
                                          <p:tavLst>
                                            <p:tav tm="0">
                                              <p:val>
                                                <p:strVal val="#ppt_x"/>
                                              </p:val>
                                            </p:tav>
                                            <p:tav tm="100000">
                                              <p:val>
                                                <p:strVal val="#ppt_x"/>
                                              </p:val>
                                            </p:tav>
                                          </p:tavLst>
                                        </p:anim>
                                        <p:anim calcmode="lin" valueType="num" p14:bounceEnd="81000">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1000" fill="hold"/>
                                            <p:tgtEl>
                                              <p:spTgt spid="41"/>
                                            </p:tgtEl>
                                            <p:attrNameLst>
                                              <p:attrName>ppt_x</p:attrName>
                                            </p:attrNameLst>
                                          </p:cBhvr>
                                          <p:tavLst>
                                            <p:tav tm="0">
                                              <p:val>
                                                <p:strVal val="#ppt_x"/>
                                              </p:val>
                                            </p:tav>
                                            <p:tav tm="100000">
                                              <p:val>
                                                <p:strVal val="#ppt_x"/>
                                              </p:val>
                                            </p:tav>
                                          </p:tavLst>
                                        </p:anim>
                                        <p:anim calcmode="lin" valueType="num">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rot="5400000">
            <a:off x="3427516" y="4143507"/>
            <a:ext cx="2791377"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245857" y="5039524"/>
            <a:ext cx="1182195" cy="1182195"/>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2077955" y="2758411"/>
            <a:ext cx="1548108" cy="3554839"/>
            <a:chOff x="4013612" y="985436"/>
            <a:chExt cx="1443428" cy="3314468"/>
          </a:xfrm>
        </p:grpSpPr>
        <p:sp>
          <p:nvSpPr>
            <p:cNvPr id="9" name="圆角矩形 8"/>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0" name="圆角矩形 9"/>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1" name="椭圆 10"/>
          <p:cNvSpPr/>
          <p:nvPr/>
        </p:nvSpPr>
        <p:spPr>
          <a:xfrm>
            <a:off x="2262598"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2" name="圆角矩形 11"/>
          <p:cNvSpPr/>
          <p:nvPr/>
        </p:nvSpPr>
        <p:spPr>
          <a:xfrm rot="5400000">
            <a:off x="7048706" y="3822309"/>
            <a:ext cx="3433775"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194595" y="5039524"/>
            <a:ext cx="1182195" cy="1182195"/>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6020345" y="2758411"/>
            <a:ext cx="1548108" cy="3554839"/>
            <a:chOff x="4013612" y="985436"/>
            <a:chExt cx="1443428" cy="3314468"/>
          </a:xfrm>
        </p:grpSpPr>
        <p:sp>
          <p:nvSpPr>
            <p:cNvPr id="17" name="圆角矩形 16"/>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8" name="圆角矩形 17"/>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9" name="椭圆 18"/>
          <p:cNvSpPr/>
          <p:nvPr/>
        </p:nvSpPr>
        <p:spPr>
          <a:xfrm>
            <a:off x="6211337"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0" name="TextBox 123"/>
          <p:cNvSpPr txBox="1"/>
          <p:nvPr/>
        </p:nvSpPr>
        <p:spPr>
          <a:xfrm>
            <a:off x="638867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1" name="TextBox 124"/>
          <p:cNvSpPr txBox="1"/>
          <p:nvPr/>
        </p:nvSpPr>
        <p:spPr>
          <a:xfrm>
            <a:off x="244628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2" name="TextBox 127"/>
          <p:cNvSpPr txBox="1"/>
          <p:nvPr/>
        </p:nvSpPr>
        <p:spPr>
          <a:xfrm>
            <a:off x="4417484" y="398376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15%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3" name="TextBox 128"/>
          <p:cNvSpPr txBox="1"/>
          <p:nvPr/>
        </p:nvSpPr>
        <p:spPr>
          <a:xfrm>
            <a:off x="8359873" y="330423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25%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4" name="TextBox 131"/>
          <p:cNvSpPr txBox="1"/>
          <p:nvPr/>
        </p:nvSpPr>
        <p:spPr>
          <a:xfrm>
            <a:off x="2255573" y="1377171"/>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输入内容</a:t>
            </a:r>
          </a:p>
        </p:txBody>
      </p:sp>
      <p:sp>
        <p:nvSpPr>
          <p:cNvPr id="25" name="TextBox 132"/>
          <p:cNvSpPr txBox="1"/>
          <p:nvPr/>
        </p:nvSpPr>
        <p:spPr>
          <a:xfrm>
            <a:off x="2244432" y="1732617"/>
            <a:ext cx="5032147" cy="849848"/>
          </a:xfrm>
          <a:prstGeom prst="rect">
            <a:avLst/>
          </a:prstGeom>
          <a:noFill/>
        </p:spPr>
        <p:txBody>
          <a:bodyPr wrap="none" rtlCol="0">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V="1">
            <a:off x="2084079" y="1390491"/>
            <a:ext cx="0" cy="7686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Text Box 4">
            <a:extLst>
              <a:ext uri="{FF2B5EF4-FFF2-40B4-BE49-F238E27FC236}">
                <a16:creationId xmlns:a16="http://schemas.microsoft.com/office/drawing/2014/main" id="{754035FC-6B53-E34D-874E-57C3E2796F7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Half Frame 12">
            <a:extLst>
              <a:ext uri="{FF2B5EF4-FFF2-40B4-BE49-F238E27FC236}">
                <a16:creationId xmlns:a16="http://schemas.microsoft.com/office/drawing/2014/main" id="{821B955D-7BD8-6248-BBE0-AF5A9E60F52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5" name="直线连接符 34">
            <a:extLst>
              <a:ext uri="{FF2B5EF4-FFF2-40B4-BE49-F238E27FC236}">
                <a16:creationId xmlns:a16="http://schemas.microsoft.com/office/drawing/2014/main" id="{227123E3-65E8-554E-8AE6-7DA39FC5DB1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14:presetBounceEnd="44000">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14:bounceEnd="44000">
                                          <p:cBhvr additive="base">
                                            <p:cTn id="20" dur="300" fill="hold"/>
                                            <p:tgtEl>
                                              <p:spTgt spid="11"/>
                                            </p:tgtEl>
                                            <p:attrNameLst>
                                              <p:attrName>ppt_x</p:attrName>
                                            </p:attrNameLst>
                                          </p:cBhvr>
                                          <p:tavLst>
                                            <p:tav tm="0">
                                              <p:val>
                                                <p:strVal val="#ppt_x"/>
                                              </p:val>
                                            </p:tav>
                                            <p:tav tm="100000">
                                              <p:val>
                                                <p:strVal val="#ppt_x"/>
                                              </p:val>
                                            </p:tav>
                                          </p:tavLst>
                                        </p:anim>
                                        <p:anim calcmode="lin" valueType="num" p14:bounceEnd="44000">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14:presetBounceEnd="44000">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14:bounceEnd="44000">
                                          <p:cBhvr additive="base">
                                            <p:cTn id="24" dur="3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44000">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14:bounceEnd="44000">
                                          <p:cBhvr additive="base">
                                            <p:cTn id="28" dur="300" fill="hold"/>
                                            <p:tgtEl>
                                              <p:spTgt spid="19"/>
                                            </p:tgtEl>
                                            <p:attrNameLst>
                                              <p:attrName>ppt_x</p:attrName>
                                            </p:attrNameLst>
                                          </p:cBhvr>
                                          <p:tavLst>
                                            <p:tav tm="0">
                                              <p:val>
                                                <p:strVal val="#ppt_x"/>
                                              </p:val>
                                            </p:tav>
                                            <p:tav tm="100000">
                                              <p:val>
                                                <p:strVal val="#ppt_x"/>
                                              </p:val>
                                            </p:tav>
                                          </p:tavLst>
                                        </p:anim>
                                        <p:anim calcmode="lin" valueType="num" p14:bounceEnd="44000">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14:presetBounceEnd="44000">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14:bounceEnd="44000">
                                          <p:cBhvr additive="base">
                                            <p:cTn id="32" dur="300" fill="hold"/>
                                            <p:tgtEl>
                                              <p:spTgt spid="13"/>
                                            </p:tgtEl>
                                            <p:attrNameLst>
                                              <p:attrName>ppt_x</p:attrName>
                                            </p:attrNameLst>
                                          </p:cBhvr>
                                          <p:tavLst>
                                            <p:tav tm="0">
                                              <p:val>
                                                <p:strVal val="#ppt_x"/>
                                              </p:val>
                                            </p:tav>
                                            <p:tav tm="100000">
                                              <p:val>
                                                <p:strVal val="#ppt_x"/>
                                              </p:val>
                                            </p:tav>
                                          </p:tavLst>
                                        </p:anim>
                                        <p:anim calcmode="lin" valueType="num" p14:bounceEnd="44000">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14:presetBounceEnd="81000">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14:bounceEnd="81000">
                                          <p:cBhvr additive="base">
                                            <p:cTn id="64" dur="1000" fill="hold"/>
                                            <p:tgtEl>
                                              <p:spTgt spid="33"/>
                                            </p:tgtEl>
                                            <p:attrNameLst>
                                              <p:attrName>ppt_x</p:attrName>
                                            </p:attrNameLst>
                                          </p:cBhvr>
                                          <p:tavLst>
                                            <p:tav tm="0">
                                              <p:val>
                                                <p:strVal val="#ppt_x"/>
                                              </p:val>
                                            </p:tav>
                                            <p:tav tm="100000">
                                              <p:val>
                                                <p:strVal val="#ppt_x"/>
                                              </p:val>
                                            </p:tav>
                                          </p:tavLst>
                                        </p:anim>
                                        <p:anim calcmode="lin" valueType="num" p14:bounceEnd="81000">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300" fill="hold"/>
                                            <p:tgtEl>
                                              <p:spTgt spid="11"/>
                                            </p:tgtEl>
                                            <p:attrNameLst>
                                              <p:attrName>ppt_x</p:attrName>
                                            </p:attrNameLst>
                                          </p:cBhvr>
                                          <p:tavLst>
                                            <p:tav tm="0">
                                              <p:val>
                                                <p:strVal val="#ppt_x"/>
                                              </p:val>
                                            </p:tav>
                                            <p:tav tm="100000">
                                              <p:val>
                                                <p:strVal val="#ppt_x"/>
                                              </p:val>
                                            </p:tav>
                                          </p:tavLst>
                                        </p:anim>
                                        <p:anim calcmode="lin" valueType="num">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300" fill="hold"/>
                                            <p:tgtEl>
                                              <p:spTgt spid="5"/>
                                            </p:tgtEl>
                                            <p:attrNameLst>
                                              <p:attrName>ppt_x</p:attrName>
                                            </p:attrNameLst>
                                          </p:cBhvr>
                                          <p:tavLst>
                                            <p:tav tm="0">
                                              <p:val>
                                                <p:strVal val="#ppt_x"/>
                                              </p:val>
                                            </p:tav>
                                            <p:tav tm="100000">
                                              <p:val>
                                                <p:strVal val="#ppt_x"/>
                                              </p:val>
                                            </p:tav>
                                          </p:tavLst>
                                        </p:anim>
                                        <p:anim calcmode="lin" valueType="num">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300" fill="hold"/>
                                            <p:tgtEl>
                                              <p:spTgt spid="19"/>
                                            </p:tgtEl>
                                            <p:attrNameLst>
                                              <p:attrName>ppt_x</p:attrName>
                                            </p:attrNameLst>
                                          </p:cBhvr>
                                          <p:tavLst>
                                            <p:tav tm="0">
                                              <p:val>
                                                <p:strVal val="#ppt_x"/>
                                              </p:val>
                                            </p:tav>
                                            <p:tav tm="100000">
                                              <p:val>
                                                <p:strVal val="#ppt_x"/>
                                              </p:val>
                                            </p:tav>
                                          </p:tavLst>
                                        </p:anim>
                                        <p:anim calcmode="lin" valueType="num">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300" fill="hold"/>
                                            <p:tgtEl>
                                              <p:spTgt spid="13"/>
                                            </p:tgtEl>
                                            <p:attrNameLst>
                                              <p:attrName>ppt_x</p:attrName>
                                            </p:attrNameLst>
                                          </p:cBhvr>
                                          <p:tavLst>
                                            <p:tav tm="0">
                                              <p:val>
                                                <p:strVal val="#ppt_x"/>
                                              </p:val>
                                            </p:tav>
                                            <p:tav tm="100000">
                                              <p:val>
                                                <p:strVal val="#ppt_x"/>
                                              </p:val>
                                            </p:tav>
                                          </p:tavLst>
                                        </p:anim>
                                        <p:anim calcmode="lin" valueType="num">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1000" fill="hold"/>
                                            <p:tgtEl>
                                              <p:spTgt spid="33"/>
                                            </p:tgtEl>
                                            <p:attrNameLst>
                                              <p:attrName>ppt_x</p:attrName>
                                            </p:attrNameLst>
                                          </p:cBhvr>
                                          <p:tavLst>
                                            <p:tav tm="0">
                                              <p:val>
                                                <p:strVal val="#ppt_x"/>
                                              </p:val>
                                            </p:tav>
                                            <p:tav tm="100000">
                                              <p:val>
                                                <p:strVal val="#ppt_x"/>
                                              </p:val>
                                            </p:tav>
                                          </p:tavLst>
                                        </p:anim>
                                        <p:anim calcmode="lin" valueType="num">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bwMode="auto">
          <a:xfrm flipH="1">
            <a:off x="7505389" y="6160382"/>
            <a:ext cx="893635" cy="19225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55">
              <a:latin typeface="zihun95hao-shoukesong" pitchFamily="2" charset="-122"/>
              <a:ea typeface="zihun95hao-shoukesong" pitchFamily="2" charset="-122"/>
            </a:endParaRPr>
          </a:p>
        </p:txBody>
      </p:sp>
      <p:sp>
        <p:nvSpPr>
          <p:cNvPr id="5" name="Freeform 24"/>
          <p:cNvSpPr/>
          <p:nvPr/>
        </p:nvSpPr>
        <p:spPr>
          <a:xfrm flipH="1">
            <a:off x="7271163" y="5763309"/>
            <a:ext cx="1362084" cy="397072"/>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6" name="Freeform 25"/>
          <p:cNvSpPr/>
          <p:nvPr/>
        </p:nvSpPr>
        <p:spPr>
          <a:xfrm flipH="1">
            <a:off x="7648403" y="6432779"/>
            <a:ext cx="607608" cy="129708"/>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7" name="Freeform 5"/>
          <p:cNvSpPr/>
          <p:nvPr/>
        </p:nvSpPr>
        <p:spPr bwMode="auto">
          <a:xfrm>
            <a:off x="7842902" y="4996094"/>
            <a:ext cx="177753" cy="525327"/>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 name="Freeform 6"/>
          <p:cNvSpPr/>
          <p:nvPr/>
        </p:nvSpPr>
        <p:spPr bwMode="auto">
          <a:xfrm>
            <a:off x="7893687" y="4902455"/>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 name="Freeform 7"/>
          <p:cNvSpPr/>
          <p:nvPr/>
        </p:nvSpPr>
        <p:spPr bwMode="auto">
          <a:xfrm>
            <a:off x="7877817" y="4961176"/>
            <a:ext cx="152360" cy="147600"/>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 name="Freeform 8"/>
          <p:cNvSpPr/>
          <p:nvPr/>
        </p:nvSpPr>
        <p:spPr bwMode="auto">
          <a:xfrm>
            <a:off x="7866707" y="5502374"/>
            <a:ext cx="46027" cy="7618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1" name="Freeform 9"/>
          <p:cNvSpPr/>
          <p:nvPr/>
        </p:nvSpPr>
        <p:spPr bwMode="auto">
          <a:xfrm>
            <a:off x="8027005" y="4994506"/>
            <a:ext cx="176167" cy="525327"/>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2" name="Freeform 10"/>
          <p:cNvSpPr/>
          <p:nvPr/>
        </p:nvSpPr>
        <p:spPr bwMode="auto">
          <a:xfrm>
            <a:off x="8076203" y="4897693"/>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3" name="Freeform 11"/>
          <p:cNvSpPr/>
          <p:nvPr/>
        </p:nvSpPr>
        <p:spPr bwMode="auto">
          <a:xfrm>
            <a:off x="8061919" y="4959590"/>
            <a:ext cx="152360" cy="146012"/>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4" name="Freeform 12"/>
          <p:cNvSpPr/>
          <p:nvPr/>
        </p:nvSpPr>
        <p:spPr bwMode="auto">
          <a:xfrm>
            <a:off x="8050809" y="5497613"/>
            <a:ext cx="46027" cy="7618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5" name="Freeform 13"/>
          <p:cNvSpPr/>
          <p:nvPr/>
        </p:nvSpPr>
        <p:spPr bwMode="auto">
          <a:xfrm>
            <a:off x="8187300" y="4997679"/>
            <a:ext cx="41264" cy="266631"/>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16" name="Group 123"/>
          <p:cNvGrpSpPr/>
          <p:nvPr/>
        </p:nvGrpSpPr>
        <p:grpSpPr>
          <a:xfrm>
            <a:off x="6952546" y="4875079"/>
            <a:ext cx="817351" cy="620552"/>
            <a:chOff x="7170738" y="4168775"/>
            <a:chExt cx="817563" cy="620713"/>
          </a:xfrm>
          <a:solidFill>
            <a:schemeClr val="accent1">
              <a:lumMod val="75000"/>
            </a:schemeClr>
          </a:solidFill>
        </p:grpSpPr>
        <p:sp>
          <p:nvSpPr>
            <p:cNvPr id="17"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8"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9"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0"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1"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2"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23" name="Freeform 20"/>
          <p:cNvSpPr>
            <a:spLocks noEditPoints="1"/>
          </p:cNvSpPr>
          <p:nvPr/>
        </p:nvSpPr>
        <p:spPr bwMode="auto">
          <a:xfrm>
            <a:off x="6287557" y="2756713"/>
            <a:ext cx="477713" cy="503107"/>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4" name="Oval 21"/>
          <p:cNvSpPr>
            <a:spLocks noChangeArrowheads="1"/>
          </p:cNvSpPr>
          <p:nvPr/>
        </p:nvSpPr>
        <p:spPr bwMode="auto">
          <a:xfrm>
            <a:off x="9336351" y="2639268"/>
            <a:ext cx="141251" cy="141251"/>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5" name="Freeform 22"/>
          <p:cNvSpPr/>
          <p:nvPr/>
        </p:nvSpPr>
        <p:spPr bwMode="auto">
          <a:xfrm>
            <a:off x="9387136" y="2744016"/>
            <a:ext cx="222192" cy="463429"/>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p>
        </p:txBody>
      </p:sp>
      <p:sp>
        <p:nvSpPr>
          <p:cNvPr id="26" name="Freeform 23"/>
          <p:cNvSpPr/>
          <p:nvPr/>
        </p:nvSpPr>
        <p:spPr bwMode="auto">
          <a:xfrm>
            <a:off x="9191926" y="2744017"/>
            <a:ext cx="238063" cy="457081"/>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7" name="Freeform 24"/>
          <p:cNvSpPr/>
          <p:nvPr/>
        </p:nvSpPr>
        <p:spPr bwMode="auto">
          <a:xfrm>
            <a:off x="9399834" y="2588481"/>
            <a:ext cx="25393" cy="7935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8" name="Freeform 25"/>
          <p:cNvSpPr>
            <a:spLocks noEditPoints="1"/>
          </p:cNvSpPr>
          <p:nvPr/>
        </p:nvSpPr>
        <p:spPr bwMode="auto">
          <a:xfrm>
            <a:off x="8263481" y="2247260"/>
            <a:ext cx="225367" cy="609441"/>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9" name="Freeform 26"/>
          <p:cNvSpPr>
            <a:spLocks noEditPoints="1"/>
          </p:cNvSpPr>
          <p:nvPr/>
        </p:nvSpPr>
        <p:spPr bwMode="auto">
          <a:xfrm>
            <a:off x="8069855" y="2439295"/>
            <a:ext cx="611029" cy="223780"/>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0" name="Freeform 27"/>
          <p:cNvSpPr>
            <a:spLocks noEditPoints="1"/>
          </p:cNvSpPr>
          <p:nvPr/>
        </p:nvSpPr>
        <p:spPr bwMode="auto">
          <a:xfrm>
            <a:off x="8115881" y="2301221"/>
            <a:ext cx="518977" cy="49834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1" name="Freeform 28"/>
          <p:cNvSpPr>
            <a:spLocks noEditPoints="1"/>
          </p:cNvSpPr>
          <p:nvPr/>
        </p:nvSpPr>
        <p:spPr bwMode="auto">
          <a:xfrm>
            <a:off x="8115881" y="2301221"/>
            <a:ext cx="518977" cy="49834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2" name="Oval 29"/>
          <p:cNvSpPr>
            <a:spLocks noChangeArrowheads="1"/>
          </p:cNvSpPr>
          <p:nvPr/>
        </p:nvSpPr>
        <p:spPr bwMode="auto">
          <a:xfrm>
            <a:off x="8330138" y="2504367"/>
            <a:ext cx="93639" cy="93639"/>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3" name="Freeform 30"/>
          <p:cNvSpPr>
            <a:spLocks noEditPoints="1"/>
          </p:cNvSpPr>
          <p:nvPr/>
        </p:nvSpPr>
        <p:spPr bwMode="auto">
          <a:xfrm>
            <a:off x="9049087" y="2074266"/>
            <a:ext cx="257108" cy="487236"/>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4" name="Rectangle 31"/>
          <p:cNvSpPr>
            <a:spLocks noChangeArrowheads="1"/>
          </p:cNvSpPr>
          <p:nvPr/>
        </p:nvSpPr>
        <p:spPr bwMode="auto">
          <a:xfrm>
            <a:off x="8920534" y="2072679"/>
            <a:ext cx="65071" cy="47454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5" name="Freeform 32"/>
          <p:cNvSpPr>
            <a:spLocks noEditPoints="1"/>
          </p:cNvSpPr>
          <p:nvPr/>
        </p:nvSpPr>
        <p:spPr bwMode="auto">
          <a:xfrm>
            <a:off x="6812883" y="4462832"/>
            <a:ext cx="561829" cy="411056"/>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36" name="Group 127"/>
          <p:cNvGrpSpPr/>
          <p:nvPr/>
        </p:nvGrpSpPr>
        <p:grpSpPr>
          <a:xfrm>
            <a:off x="8392034" y="4873887"/>
            <a:ext cx="507869" cy="653880"/>
            <a:chOff x="8610600" y="4127500"/>
            <a:chExt cx="508001" cy="654050"/>
          </a:xfrm>
          <a:solidFill>
            <a:schemeClr val="accent1">
              <a:lumMod val="75000"/>
            </a:schemeClr>
          </a:solidFill>
        </p:grpSpPr>
        <p:sp>
          <p:nvSpPr>
            <p:cNvPr id="37"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8"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9"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0"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1"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2"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3"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4"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45" name="Freeform 41"/>
          <p:cNvSpPr>
            <a:spLocks noEditPoints="1"/>
          </p:cNvSpPr>
          <p:nvPr/>
        </p:nvSpPr>
        <p:spPr bwMode="auto">
          <a:xfrm>
            <a:off x="8812613" y="4213659"/>
            <a:ext cx="428513" cy="39042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6" name="Freeform 42"/>
          <p:cNvSpPr/>
          <p:nvPr/>
        </p:nvSpPr>
        <p:spPr bwMode="auto">
          <a:xfrm>
            <a:off x="8923708" y="4573927"/>
            <a:ext cx="92051" cy="198387"/>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7" name="Freeform 43"/>
          <p:cNvSpPr/>
          <p:nvPr/>
        </p:nvSpPr>
        <p:spPr bwMode="auto">
          <a:xfrm>
            <a:off x="8885618" y="4634236"/>
            <a:ext cx="130141" cy="268219"/>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8" name="Freeform 44"/>
          <p:cNvSpPr/>
          <p:nvPr/>
        </p:nvSpPr>
        <p:spPr bwMode="auto">
          <a:xfrm>
            <a:off x="7696889" y="1629882"/>
            <a:ext cx="523739" cy="479300"/>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9" name="Freeform 45"/>
          <p:cNvSpPr>
            <a:spLocks noEditPoints="1"/>
          </p:cNvSpPr>
          <p:nvPr/>
        </p:nvSpPr>
        <p:spPr bwMode="auto">
          <a:xfrm>
            <a:off x="7541356" y="4289839"/>
            <a:ext cx="638009" cy="528500"/>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0" name="Freeform 46"/>
          <p:cNvSpPr>
            <a:spLocks noEditPoints="1"/>
          </p:cNvSpPr>
          <p:nvPr/>
        </p:nvSpPr>
        <p:spPr bwMode="auto">
          <a:xfrm>
            <a:off x="8669774" y="3237600"/>
            <a:ext cx="818937" cy="955427"/>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1" name="Freeform 47"/>
          <p:cNvSpPr>
            <a:spLocks noEditPoints="1"/>
          </p:cNvSpPr>
          <p:nvPr/>
        </p:nvSpPr>
        <p:spPr bwMode="auto">
          <a:xfrm>
            <a:off x="9290325" y="3516928"/>
            <a:ext cx="353921" cy="695144"/>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p>
        </p:txBody>
      </p:sp>
      <p:sp>
        <p:nvSpPr>
          <p:cNvPr id="52" name="Freeform 48"/>
          <p:cNvSpPr>
            <a:spLocks noEditPoints="1"/>
          </p:cNvSpPr>
          <p:nvPr/>
        </p:nvSpPr>
        <p:spPr bwMode="auto">
          <a:xfrm>
            <a:off x="8055571" y="3605806"/>
            <a:ext cx="579287" cy="579287"/>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3" name="Freeform 49"/>
          <p:cNvSpPr/>
          <p:nvPr/>
        </p:nvSpPr>
        <p:spPr bwMode="auto">
          <a:xfrm>
            <a:off x="8161908" y="3789907"/>
            <a:ext cx="288849" cy="15236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54" name="Group 126"/>
          <p:cNvGrpSpPr/>
          <p:nvPr/>
        </p:nvGrpSpPr>
        <p:grpSpPr>
          <a:xfrm>
            <a:off x="8287285" y="4351735"/>
            <a:ext cx="453907" cy="431688"/>
            <a:chOff x="8505825" y="3605213"/>
            <a:chExt cx="454025" cy="431800"/>
          </a:xfrm>
        </p:grpSpPr>
        <p:sp>
          <p:nvSpPr>
            <p:cNvPr id="55"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6"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57" name="Freeform 52"/>
          <p:cNvSpPr/>
          <p:nvPr/>
        </p:nvSpPr>
        <p:spPr bwMode="auto">
          <a:xfrm>
            <a:off x="6887476" y="1782241"/>
            <a:ext cx="679273" cy="552307"/>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8" name="Freeform 53"/>
          <p:cNvSpPr/>
          <p:nvPr/>
        </p:nvSpPr>
        <p:spPr bwMode="auto">
          <a:xfrm>
            <a:off x="7403279" y="1752089"/>
            <a:ext cx="187276" cy="257108"/>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9" name="Freeform 54"/>
          <p:cNvSpPr/>
          <p:nvPr/>
        </p:nvSpPr>
        <p:spPr bwMode="auto">
          <a:xfrm>
            <a:off x="6976352" y="1928254"/>
            <a:ext cx="514216" cy="336463"/>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0" name="Freeform 55"/>
          <p:cNvSpPr>
            <a:spLocks noEditPoints="1"/>
          </p:cNvSpPr>
          <p:nvPr/>
        </p:nvSpPr>
        <p:spPr bwMode="auto">
          <a:xfrm>
            <a:off x="6557362" y="2223453"/>
            <a:ext cx="296785" cy="520564"/>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1" name="Freeform 56"/>
          <p:cNvSpPr>
            <a:spLocks noEditPoints="1"/>
          </p:cNvSpPr>
          <p:nvPr/>
        </p:nvSpPr>
        <p:spPr bwMode="auto">
          <a:xfrm>
            <a:off x="6287556" y="3313781"/>
            <a:ext cx="555480" cy="60468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2" name="Freeform 57"/>
          <p:cNvSpPr>
            <a:spLocks noEditPoints="1"/>
          </p:cNvSpPr>
          <p:nvPr/>
        </p:nvSpPr>
        <p:spPr bwMode="auto">
          <a:xfrm>
            <a:off x="8336486" y="1750501"/>
            <a:ext cx="528500" cy="518977"/>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3" name="Freeform 58"/>
          <p:cNvSpPr>
            <a:spLocks noEditPoints="1"/>
          </p:cNvSpPr>
          <p:nvPr/>
        </p:nvSpPr>
        <p:spPr bwMode="auto">
          <a:xfrm>
            <a:off x="6469564" y="3915561"/>
            <a:ext cx="514216" cy="520564"/>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4" name="Rectangle 59"/>
          <p:cNvSpPr>
            <a:spLocks noChangeArrowheads="1"/>
          </p:cNvSpPr>
          <p:nvPr/>
        </p:nvSpPr>
        <p:spPr bwMode="auto">
          <a:xfrm>
            <a:off x="8465039" y="3421703"/>
            <a:ext cx="626900"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5" name="Rectangle 60"/>
          <p:cNvSpPr>
            <a:spLocks noChangeArrowheads="1"/>
          </p:cNvSpPr>
          <p:nvPr/>
        </p:nvSpPr>
        <p:spPr bwMode="auto">
          <a:xfrm>
            <a:off x="8490433" y="33582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6" name="Rectangle 61"/>
          <p:cNvSpPr>
            <a:spLocks noChangeArrowheads="1"/>
          </p:cNvSpPr>
          <p:nvPr/>
        </p:nvSpPr>
        <p:spPr bwMode="auto">
          <a:xfrm>
            <a:off x="8717386"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7" name="Rectangle 62"/>
          <p:cNvSpPr>
            <a:spLocks noChangeArrowheads="1"/>
          </p:cNvSpPr>
          <p:nvPr/>
        </p:nvSpPr>
        <p:spPr bwMode="auto">
          <a:xfrm>
            <a:off x="8739605" y="3059847"/>
            <a:ext cx="77768"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8" name="Rectangle 63"/>
          <p:cNvSpPr>
            <a:spLocks noChangeArrowheads="1"/>
          </p:cNvSpPr>
          <p:nvPr/>
        </p:nvSpPr>
        <p:spPr bwMode="auto">
          <a:xfrm>
            <a:off x="8717386"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9" name="Rectangle 64"/>
          <p:cNvSpPr>
            <a:spLocks noChangeArrowheads="1"/>
          </p:cNvSpPr>
          <p:nvPr/>
        </p:nvSpPr>
        <p:spPr bwMode="auto">
          <a:xfrm>
            <a:off x="8903075" y="3293148"/>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0" name="Rectangle 65"/>
          <p:cNvSpPr>
            <a:spLocks noChangeArrowheads="1"/>
          </p:cNvSpPr>
          <p:nvPr/>
        </p:nvSpPr>
        <p:spPr bwMode="auto">
          <a:xfrm>
            <a:off x="8923707" y="3059847"/>
            <a:ext cx="76180"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1" name="Rectangle 66"/>
          <p:cNvSpPr>
            <a:spLocks noChangeArrowheads="1"/>
          </p:cNvSpPr>
          <p:nvPr/>
        </p:nvSpPr>
        <p:spPr bwMode="auto">
          <a:xfrm>
            <a:off x="8903075" y="3047151"/>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2" name="Rectangle 67"/>
          <p:cNvSpPr>
            <a:spLocks noChangeArrowheads="1"/>
          </p:cNvSpPr>
          <p:nvPr/>
        </p:nvSpPr>
        <p:spPr bwMode="auto">
          <a:xfrm>
            <a:off x="8534871"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3" name="Rectangle 68"/>
          <p:cNvSpPr>
            <a:spLocks noChangeArrowheads="1"/>
          </p:cNvSpPr>
          <p:nvPr/>
        </p:nvSpPr>
        <p:spPr bwMode="auto">
          <a:xfrm>
            <a:off x="8555504" y="3059847"/>
            <a:ext cx="79355"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4" name="Rectangle 69"/>
          <p:cNvSpPr>
            <a:spLocks noChangeArrowheads="1"/>
          </p:cNvSpPr>
          <p:nvPr/>
        </p:nvSpPr>
        <p:spPr bwMode="auto">
          <a:xfrm>
            <a:off x="8534871"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5" name="Rectangle 70"/>
          <p:cNvSpPr>
            <a:spLocks noChangeArrowheads="1"/>
          </p:cNvSpPr>
          <p:nvPr/>
        </p:nvSpPr>
        <p:spPr bwMode="auto">
          <a:xfrm>
            <a:off x="8490433" y="29773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6" name="Freeform 71"/>
          <p:cNvSpPr/>
          <p:nvPr/>
        </p:nvSpPr>
        <p:spPr bwMode="auto">
          <a:xfrm>
            <a:off x="8490433" y="2793217"/>
            <a:ext cx="576113" cy="184103"/>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7" name="Freeform 72"/>
          <p:cNvSpPr>
            <a:spLocks noEditPoints="1"/>
          </p:cNvSpPr>
          <p:nvPr/>
        </p:nvSpPr>
        <p:spPr bwMode="auto">
          <a:xfrm>
            <a:off x="6906521" y="2959860"/>
            <a:ext cx="799892" cy="522152"/>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8" name="Freeform 73"/>
          <p:cNvSpPr>
            <a:spLocks noEditPoints="1"/>
          </p:cNvSpPr>
          <p:nvPr/>
        </p:nvSpPr>
        <p:spPr bwMode="auto">
          <a:xfrm>
            <a:off x="8671361" y="3532799"/>
            <a:ext cx="187276" cy="326940"/>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9" name="Freeform 74"/>
          <p:cNvSpPr>
            <a:spLocks noEditPoints="1"/>
          </p:cNvSpPr>
          <p:nvPr/>
        </p:nvSpPr>
        <p:spPr bwMode="auto">
          <a:xfrm>
            <a:off x="7036661" y="2412317"/>
            <a:ext cx="376140" cy="46025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0" name="Freeform 75"/>
          <p:cNvSpPr>
            <a:spLocks noEditPoints="1"/>
          </p:cNvSpPr>
          <p:nvPr/>
        </p:nvSpPr>
        <p:spPr bwMode="auto">
          <a:xfrm>
            <a:off x="7760374" y="2896377"/>
            <a:ext cx="569764" cy="571351"/>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1" name="Freeform 76"/>
          <p:cNvSpPr>
            <a:spLocks noEditPoints="1"/>
          </p:cNvSpPr>
          <p:nvPr/>
        </p:nvSpPr>
        <p:spPr bwMode="auto">
          <a:xfrm>
            <a:off x="7192195" y="3632786"/>
            <a:ext cx="642771" cy="487236"/>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2" name="Freeform 77"/>
          <p:cNvSpPr/>
          <p:nvPr/>
        </p:nvSpPr>
        <p:spPr bwMode="auto">
          <a:xfrm>
            <a:off x="7473112" y="2918596"/>
            <a:ext cx="214257" cy="160296"/>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3" name="Freeform 78"/>
          <p:cNvSpPr/>
          <p:nvPr/>
        </p:nvSpPr>
        <p:spPr bwMode="auto">
          <a:xfrm>
            <a:off x="7568335" y="2877332"/>
            <a:ext cx="58723" cy="7300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4" name="Freeform 79"/>
          <p:cNvSpPr>
            <a:spLocks noEditPoints="1"/>
          </p:cNvSpPr>
          <p:nvPr/>
        </p:nvSpPr>
        <p:spPr bwMode="auto">
          <a:xfrm>
            <a:off x="7235047" y="4213659"/>
            <a:ext cx="225367" cy="312656"/>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5" name="Freeform 80"/>
          <p:cNvSpPr>
            <a:spLocks noEditPoints="1"/>
          </p:cNvSpPr>
          <p:nvPr/>
        </p:nvSpPr>
        <p:spPr bwMode="auto">
          <a:xfrm>
            <a:off x="8966559" y="2610701"/>
            <a:ext cx="282501" cy="30948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6" name="Freeform 81"/>
          <p:cNvSpPr>
            <a:spLocks noEditPoints="1"/>
          </p:cNvSpPr>
          <p:nvPr/>
        </p:nvSpPr>
        <p:spPr bwMode="auto">
          <a:xfrm>
            <a:off x="7554051" y="2194884"/>
            <a:ext cx="426927" cy="61420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7" name="Freeform 82"/>
          <p:cNvSpPr>
            <a:spLocks noEditPoints="1"/>
          </p:cNvSpPr>
          <p:nvPr/>
        </p:nvSpPr>
        <p:spPr bwMode="auto">
          <a:xfrm>
            <a:off x="7401691" y="2107595"/>
            <a:ext cx="245999" cy="21743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8" name="Freeform 83"/>
          <p:cNvSpPr/>
          <p:nvPr/>
        </p:nvSpPr>
        <p:spPr bwMode="auto">
          <a:xfrm>
            <a:off x="7331860" y="2237736"/>
            <a:ext cx="107921" cy="68245"/>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9" name="Freeform 84"/>
          <p:cNvSpPr/>
          <p:nvPr/>
        </p:nvSpPr>
        <p:spPr bwMode="auto">
          <a:xfrm>
            <a:off x="7263615" y="2247259"/>
            <a:ext cx="146012" cy="88877"/>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0" name="Freeform 85"/>
          <p:cNvSpPr>
            <a:spLocks noEditPoints="1"/>
          </p:cNvSpPr>
          <p:nvPr/>
        </p:nvSpPr>
        <p:spPr bwMode="auto">
          <a:xfrm>
            <a:off x="7179499" y="3405831"/>
            <a:ext cx="445972" cy="158709"/>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1" name="Freeform 86"/>
          <p:cNvSpPr/>
          <p:nvPr/>
        </p:nvSpPr>
        <p:spPr bwMode="auto">
          <a:xfrm>
            <a:off x="9026869" y="3815301"/>
            <a:ext cx="245999" cy="315831"/>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2" name="Freeform 87"/>
          <p:cNvSpPr/>
          <p:nvPr/>
        </p:nvSpPr>
        <p:spPr bwMode="auto">
          <a:xfrm>
            <a:off x="9166532" y="3804191"/>
            <a:ext cx="119032" cy="82528"/>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3" name="Freeform 88"/>
          <p:cNvSpPr/>
          <p:nvPr/>
        </p:nvSpPr>
        <p:spPr bwMode="auto">
          <a:xfrm>
            <a:off x="9074481" y="3869262"/>
            <a:ext cx="163471" cy="22695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4" name="Freeform 89"/>
          <p:cNvSpPr>
            <a:spLocks noEditPoints="1"/>
          </p:cNvSpPr>
          <p:nvPr/>
        </p:nvSpPr>
        <p:spPr bwMode="auto">
          <a:xfrm>
            <a:off x="8693579" y="2577373"/>
            <a:ext cx="222192" cy="161883"/>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5" name="Freeform 90"/>
          <p:cNvSpPr/>
          <p:nvPr/>
        </p:nvSpPr>
        <p:spPr bwMode="auto">
          <a:xfrm>
            <a:off x="6841450" y="3637547"/>
            <a:ext cx="206321" cy="266631"/>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6" name="Freeform 91"/>
          <p:cNvSpPr/>
          <p:nvPr/>
        </p:nvSpPr>
        <p:spPr bwMode="auto">
          <a:xfrm>
            <a:off x="6828754" y="3628024"/>
            <a:ext cx="101573" cy="69832"/>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7" name="Freeform 92"/>
          <p:cNvSpPr/>
          <p:nvPr/>
        </p:nvSpPr>
        <p:spPr bwMode="auto">
          <a:xfrm>
            <a:off x="6870017" y="3685159"/>
            <a:ext cx="139664" cy="192037"/>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8" name="Freeform 93"/>
          <p:cNvSpPr>
            <a:spLocks noEditPoints="1"/>
          </p:cNvSpPr>
          <p:nvPr/>
        </p:nvSpPr>
        <p:spPr bwMode="auto">
          <a:xfrm>
            <a:off x="8201584" y="5288117"/>
            <a:ext cx="219017" cy="239651"/>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9" name="Freeform 94"/>
          <p:cNvSpPr/>
          <p:nvPr/>
        </p:nvSpPr>
        <p:spPr bwMode="auto">
          <a:xfrm>
            <a:off x="7936539" y="3708966"/>
            <a:ext cx="63484" cy="60309"/>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0" name="Freeform 95"/>
          <p:cNvSpPr/>
          <p:nvPr/>
        </p:nvSpPr>
        <p:spPr bwMode="auto">
          <a:xfrm>
            <a:off x="7922255" y="3526451"/>
            <a:ext cx="58723" cy="196799"/>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1" name="Freeform 96"/>
          <p:cNvSpPr/>
          <p:nvPr/>
        </p:nvSpPr>
        <p:spPr bwMode="auto">
          <a:xfrm>
            <a:off x="7963521" y="3558192"/>
            <a:ext cx="126967" cy="169819"/>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2" name="Freeform 97"/>
          <p:cNvSpPr/>
          <p:nvPr/>
        </p:nvSpPr>
        <p:spPr bwMode="auto">
          <a:xfrm>
            <a:off x="7952411" y="3754991"/>
            <a:ext cx="15871" cy="31741"/>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3" name="Freeform 98"/>
          <p:cNvSpPr>
            <a:spLocks noEditPoints="1"/>
          </p:cNvSpPr>
          <p:nvPr/>
        </p:nvSpPr>
        <p:spPr bwMode="auto">
          <a:xfrm>
            <a:off x="7901624" y="2147273"/>
            <a:ext cx="220605" cy="236476"/>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4" name="燕尾形 103"/>
          <p:cNvSpPr/>
          <p:nvPr/>
        </p:nvSpPr>
        <p:spPr>
          <a:xfrm rot="5400000">
            <a:off x="1833411" y="263773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5" name="直接连接符 104"/>
          <p:cNvCxnSpPr/>
          <p:nvPr/>
        </p:nvCxnSpPr>
        <p:spPr>
          <a:xfrm>
            <a:off x="2013385" y="3213644"/>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2350295" y="2117795"/>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07" name="矩形 47"/>
          <p:cNvSpPr>
            <a:spLocks noChangeArrowheads="1"/>
          </p:cNvSpPr>
          <p:nvPr/>
        </p:nvSpPr>
        <p:spPr bwMode="auto">
          <a:xfrm>
            <a:off x="2337337" y="2532424"/>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08" name="燕尾形 107"/>
          <p:cNvSpPr/>
          <p:nvPr/>
        </p:nvSpPr>
        <p:spPr>
          <a:xfrm rot="5400000">
            <a:off x="1833411" y="4005527"/>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9" name="直接连接符 108"/>
          <p:cNvCxnSpPr/>
          <p:nvPr/>
        </p:nvCxnSpPr>
        <p:spPr>
          <a:xfrm>
            <a:off x="2013385" y="4581440"/>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2350295" y="3485591"/>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1" name="矩形 47"/>
          <p:cNvSpPr>
            <a:spLocks noChangeArrowheads="1"/>
          </p:cNvSpPr>
          <p:nvPr/>
        </p:nvSpPr>
        <p:spPr bwMode="auto">
          <a:xfrm>
            <a:off x="2337337" y="3900220"/>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12" name="燕尾形 111"/>
          <p:cNvSpPr/>
          <p:nvPr/>
        </p:nvSpPr>
        <p:spPr>
          <a:xfrm rot="5400000">
            <a:off x="1833411" y="544531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a:off x="2013385" y="6021225"/>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350295" y="4925376"/>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5" name="矩形 47"/>
          <p:cNvSpPr>
            <a:spLocks noChangeArrowheads="1"/>
          </p:cNvSpPr>
          <p:nvPr/>
        </p:nvSpPr>
        <p:spPr bwMode="auto">
          <a:xfrm>
            <a:off x="2337337" y="5340006"/>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22" name="Text Box 4">
            <a:extLst>
              <a:ext uri="{FF2B5EF4-FFF2-40B4-BE49-F238E27FC236}">
                <a16:creationId xmlns:a16="http://schemas.microsoft.com/office/drawing/2014/main" id="{6BE4597B-CAEF-CB44-87B9-FEE2CD05D2A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3" name="Half Frame 12">
            <a:extLst>
              <a:ext uri="{FF2B5EF4-FFF2-40B4-BE49-F238E27FC236}">
                <a16:creationId xmlns:a16="http://schemas.microsoft.com/office/drawing/2014/main" id="{7E0D3E9A-1621-C84A-B1F5-C7AAF2695A3E}"/>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24" name="直线连接符 123">
            <a:extLst>
              <a:ext uri="{FF2B5EF4-FFF2-40B4-BE49-F238E27FC236}">
                <a16:creationId xmlns:a16="http://schemas.microsoft.com/office/drawing/2014/main" id="{E253F40D-58FF-BB4A-9842-6E7D1786834A}"/>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14:presetBounceEnd="81000">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14:bounceEnd="81000">
                                          <p:cBhvr additive="base">
                                            <p:cTn id="397" dur="1000" fill="hold"/>
                                            <p:tgtEl>
                                              <p:spTgt spid="122"/>
                                            </p:tgtEl>
                                            <p:attrNameLst>
                                              <p:attrName>ppt_x</p:attrName>
                                            </p:attrNameLst>
                                          </p:cBhvr>
                                          <p:tavLst>
                                            <p:tav tm="0">
                                              <p:val>
                                                <p:strVal val="#ppt_x"/>
                                              </p:val>
                                            </p:tav>
                                            <p:tav tm="100000">
                                              <p:val>
                                                <p:strVal val="#ppt_x"/>
                                              </p:val>
                                            </p:tav>
                                          </p:tavLst>
                                        </p:anim>
                                        <p:anim calcmode="lin" valueType="num" p14:bounceEnd="81000">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cBhvr additive="base">
                                            <p:cTn id="397" dur="1000" fill="hold"/>
                                            <p:tgtEl>
                                              <p:spTgt spid="122"/>
                                            </p:tgtEl>
                                            <p:attrNameLst>
                                              <p:attrName>ppt_x</p:attrName>
                                            </p:attrNameLst>
                                          </p:cBhvr>
                                          <p:tavLst>
                                            <p:tav tm="0">
                                              <p:val>
                                                <p:strVal val="#ppt_x"/>
                                              </p:val>
                                            </p:tav>
                                            <p:tav tm="100000">
                                              <p:val>
                                                <p:strVal val="#ppt_x"/>
                                              </p:val>
                                            </p:tav>
                                          </p:tavLst>
                                        </p:anim>
                                        <p:anim calcmode="lin" valueType="num">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8151" y="1246255"/>
            <a:ext cx="2014804" cy="2014804"/>
            <a:chOff x="5182632" y="1700808"/>
            <a:chExt cx="2015329" cy="2015329"/>
          </a:xfrm>
        </p:grpSpPr>
        <p:sp>
          <p:nvSpPr>
            <p:cNvPr id="5" name="Oval 6"/>
            <p:cNvSpPr>
              <a:spLocks noChangeArrowheads="1"/>
            </p:cNvSpPr>
            <p:nvPr/>
          </p:nvSpPr>
          <p:spPr bwMode="auto">
            <a:xfrm>
              <a:off x="5182632" y="1700808"/>
              <a:ext cx="201532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6" name="Freeform 7"/>
            <p:cNvSpPr>
              <a:spLocks noEditPoints="1"/>
            </p:cNvSpPr>
            <p:nvPr/>
          </p:nvSpPr>
          <p:spPr bwMode="auto">
            <a:xfrm>
              <a:off x="5769194" y="1999060"/>
              <a:ext cx="886234" cy="1418826"/>
            </a:xfrm>
            <a:custGeom>
              <a:avLst/>
              <a:gdLst>
                <a:gd name="T0" fmla="*/ 74 w 991"/>
                <a:gd name="T1" fmla="*/ 0 h 1589"/>
                <a:gd name="T2" fmla="*/ 0 w 991"/>
                <a:gd name="T3" fmla="*/ 1517 h 1589"/>
                <a:gd name="T4" fmla="*/ 917 w 991"/>
                <a:gd name="T5" fmla="*/ 1589 h 1589"/>
                <a:gd name="T6" fmla="*/ 991 w 991"/>
                <a:gd name="T7" fmla="*/ 72 h 1589"/>
                <a:gd name="T8" fmla="*/ 401 w 991"/>
                <a:gd name="T9" fmla="*/ 38 h 1589"/>
                <a:gd name="T10" fmla="*/ 577 w 991"/>
                <a:gd name="T11" fmla="*/ 38 h 1589"/>
                <a:gd name="T12" fmla="*/ 577 w 991"/>
                <a:gd name="T13" fmla="*/ 88 h 1589"/>
                <a:gd name="T14" fmla="*/ 376 w 991"/>
                <a:gd name="T15" fmla="*/ 63 h 1589"/>
                <a:gd name="T16" fmla="*/ 753 w 991"/>
                <a:gd name="T17" fmla="*/ 1472 h 1589"/>
                <a:gd name="T18" fmla="*/ 722 w 991"/>
                <a:gd name="T19" fmla="*/ 1503 h 1589"/>
                <a:gd name="T20" fmla="*/ 180 w 991"/>
                <a:gd name="T21" fmla="*/ 1472 h 1589"/>
                <a:gd name="T22" fmla="*/ 211 w 991"/>
                <a:gd name="T23" fmla="*/ 1439 h 1589"/>
                <a:gd name="T24" fmla="*/ 753 w 991"/>
                <a:gd name="T25" fmla="*/ 1470 h 1589"/>
                <a:gd name="T26" fmla="*/ 866 w 991"/>
                <a:gd name="T27" fmla="*/ 1503 h 1589"/>
                <a:gd name="T28" fmla="*/ 835 w 991"/>
                <a:gd name="T29" fmla="*/ 1471 h 1589"/>
                <a:gd name="T30" fmla="*/ 898 w 991"/>
                <a:gd name="T31" fmla="*/ 1471 h 1589"/>
                <a:gd name="T32" fmla="*/ 903 w 991"/>
                <a:gd name="T33" fmla="*/ 1349 h 1589"/>
                <a:gd name="T34" fmla="*/ 88 w 991"/>
                <a:gd name="T35" fmla="*/ 1349 h 1589"/>
                <a:gd name="T36" fmla="*/ 903 w 991"/>
                <a:gd name="T37" fmla="*/ 141 h 1589"/>
                <a:gd name="T38" fmla="*/ 211 w 991"/>
                <a:gd name="T39" fmla="*/ 877 h 1589"/>
                <a:gd name="T40" fmla="*/ 347 w 991"/>
                <a:gd name="T41" fmla="*/ 1004 h 1589"/>
                <a:gd name="T42" fmla="*/ 289 w 991"/>
                <a:gd name="T43" fmla="*/ 556 h 1589"/>
                <a:gd name="T44" fmla="*/ 145 w 991"/>
                <a:gd name="T45" fmla="*/ 1004 h 1589"/>
                <a:gd name="T46" fmla="*/ 211 w 991"/>
                <a:gd name="T47" fmla="*/ 877 h 1589"/>
                <a:gd name="T48" fmla="*/ 222 w 991"/>
                <a:gd name="T49" fmla="*/ 823 h 1589"/>
                <a:gd name="T50" fmla="*/ 306 w 991"/>
                <a:gd name="T51" fmla="*/ 823 h 1589"/>
                <a:gd name="T52" fmla="*/ 456 w 991"/>
                <a:gd name="T53" fmla="*/ 818 h 1589"/>
                <a:gd name="T54" fmla="*/ 621 w 991"/>
                <a:gd name="T55" fmla="*/ 684 h 1589"/>
                <a:gd name="T56" fmla="*/ 420 w 991"/>
                <a:gd name="T57" fmla="*/ 556 h 1589"/>
                <a:gd name="T58" fmla="*/ 456 w 991"/>
                <a:gd name="T59" fmla="*/ 1004 h 1589"/>
                <a:gd name="T60" fmla="*/ 456 w 991"/>
                <a:gd name="T61" fmla="*/ 608 h 1589"/>
                <a:gd name="T62" fmla="*/ 584 w 991"/>
                <a:gd name="T63" fmla="*/ 684 h 1589"/>
                <a:gd name="T64" fmla="*/ 456 w 991"/>
                <a:gd name="T65" fmla="*/ 765 h 1589"/>
                <a:gd name="T66" fmla="*/ 690 w 991"/>
                <a:gd name="T67" fmla="*/ 818 h 1589"/>
                <a:gd name="T68" fmla="*/ 856 w 991"/>
                <a:gd name="T69" fmla="*/ 684 h 1589"/>
                <a:gd name="T70" fmla="*/ 654 w 991"/>
                <a:gd name="T71" fmla="*/ 556 h 1589"/>
                <a:gd name="T72" fmla="*/ 690 w 991"/>
                <a:gd name="T73" fmla="*/ 1004 h 1589"/>
                <a:gd name="T74" fmla="*/ 690 w 991"/>
                <a:gd name="T75" fmla="*/ 608 h 1589"/>
                <a:gd name="T76" fmla="*/ 818 w 991"/>
                <a:gd name="T77" fmla="*/ 684 h 1589"/>
                <a:gd name="T78" fmla="*/ 690 w 991"/>
                <a:gd name="T79" fmla="*/ 765 h 1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1" h="1589">
                  <a:moveTo>
                    <a:pt x="917" y="0"/>
                  </a:moveTo>
                  <a:lnTo>
                    <a:pt x="74" y="0"/>
                  </a:lnTo>
                  <a:cubicBezTo>
                    <a:pt x="33" y="0"/>
                    <a:pt x="0" y="32"/>
                    <a:pt x="0" y="72"/>
                  </a:cubicBezTo>
                  <a:lnTo>
                    <a:pt x="0" y="1517"/>
                  </a:lnTo>
                  <a:cubicBezTo>
                    <a:pt x="0" y="1556"/>
                    <a:pt x="33" y="1589"/>
                    <a:pt x="74" y="1589"/>
                  </a:cubicBezTo>
                  <a:lnTo>
                    <a:pt x="917" y="1589"/>
                  </a:lnTo>
                  <a:cubicBezTo>
                    <a:pt x="957" y="1589"/>
                    <a:pt x="991" y="1556"/>
                    <a:pt x="991" y="1517"/>
                  </a:cubicBezTo>
                  <a:lnTo>
                    <a:pt x="991" y="72"/>
                  </a:lnTo>
                  <a:cubicBezTo>
                    <a:pt x="991" y="32"/>
                    <a:pt x="957" y="0"/>
                    <a:pt x="917" y="0"/>
                  </a:cubicBezTo>
                  <a:close/>
                  <a:moveTo>
                    <a:pt x="401" y="38"/>
                  </a:moveTo>
                  <a:lnTo>
                    <a:pt x="401" y="38"/>
                  </a:lnTo>
                  <a:lnTo>
                    <a:pt x="577" y="38"/>
                  </a:lnTo>
                  <a:cubicBezTo>
                    <a:pt x="591" y="38"/>
                    <a:pt x="602" y="49"/>
                    <a:pt x="602" y="63"/>
                  </a:cubicBezTo>
                  <a:cubicBezTo>
                    <a:pt x="602" y="77"/>
                    <a:pt x="591" y="88"/>
                    <a:pt x="577" y="88"/>
                  </a:cubicBezTo>
                  <a:lnTo>
                    <a:pt x="401" y="88"/>
                  </a:lnTo>
                  <a:cubicBezTo>
                    <a:pt x="387" y="88"/>
                    <a:pt x="376" y="77"/>
                    <a:pt x="376" y="63"/>
                  </a:cubicBezTo>
                  <a:cubicBezTo>
                    <a:pt x="376" y="49"/>
                    <a:pt x="387" y="38"/>
                    <a:pt x="401" y="38"/>
                  </a:cubicBezTo>
                  <a:close/>
                  <a:moveTo>
                    <a:pt x="753" y="1472"/>
                  </a:moveTo>
                  <a:lnTo>
                    <a:pt x="753" y="1472"/>
                  </a:lnTo>
                  <a:cubicBezTo>
                    <a:pt x="753" y="1489"/>
                    <a:pt x="739" y="1503"/>
                    <a:pt x="722" y="1503"/>
                  </a:cubicBezTo>
                  <a:lnTo>
                    <a:pt x="211" y="1503"/>
                  </a:lnTo>
                  <a:cubicBezTo>
                    <a:pt x="194" y="1503"/>
                    <a:pt x="180" y="1489"/>
                    <a:pt x="180" y="1472"/>
                  </a:cubicBezTo>
                  <a:lnTo>
                    <a:pt x="180" y="1470"/>
                  </a:lnTo>
                  <a:cubicBezTo>
                    <a:pt x="180" y="1453"/>
                    <a:pt x="194" y="1439"/>
                    <a:pt x="211" y="1439"/>
                  </a:cubicBezTo>
                  <a:lnTo>
                    <a:pt x="722" y="1439"/>
                  </a:lnTo>
                  <a:cubicBezTo>
                    <a:pt x="739" y="1439"/>
                    <a:pt x="753" y="1453"/>
                    <a:pt x="753" y="1470"/>
                  </a:cubicBezTo>
                  <a:lnTo>
                    <a:pt x="753" y="1472"/>
                  </a:lnTo>
                  <a:close/>
                  <a:moveTo>
                    <a:pt x="866" y="1503"/>
                  </a:moveTo>
                  <a:lnTo>
                    <a:pt x="866" y="1503"/>
                  </a:lnTo>
                  <a:cubicBezTo>
                    <a:pt x="849" y="1503"/>
                    <a:pt x="835" y="1488"/>
                    <a:pt x="835" y="1471"/>
                  </a:cubicBezTo>
                  <a:cubicBezTo>
                    <a:pt x="835" y="1453"/>
                    <a:pt x="849" y="1439"/>
                    <a:pt x="866" y="1439"/>
                  </a:cubicBezTo>
                  <a:cubicBezTo>
                    <a:pt x="884" y="1439"/>
                    <a:pt x="898" y="1453"/>
                    <a:pt x="898" y="1471"/>
                  </a:cubicBezTo>
                  <a:cubicBezTo>
                    <a:pt x="898" y="1488"/>
                    <a:pt x="884" y="1503"/>
                    <a:pt x="866" y="1503"/>
                  </a:cubicBezTo>
                  <a:close/>
                  <a:moveTo>
                    <a:pt x="903" y="1349"/>
                  </a:moveTo>
                  <a:lnTo>
                    <a:pt x="903" y="1349"/>
                  </a:lnTo>
                  <a:lnTo>
                    <a:pt x="88" y="1349"/>
                  </a:lnTo>
                  <a:lnTo>
                    <a:pt x="88" y="141"/>
                  </a:lnTo>
                  <a:lnTo>
                    <a:pt x="903" y="141"/>
                  </a:lnTo>
                  <a:lnTo>
                    <a:pt x="903" y="1349"/>
                  </a:lnTo>
                  <a:close/>
                  <a:moveTo>
                    <a:pt x="211" y="877"/>
                  </a:moveTo>
                  <a:lnTo>
                    <a:pt x="320" y="877"/>
                  </a:lnTo>
                  <a:lnTo>
                    <a:pt x="347" y="1004"/>
                  </a:lnTo>
                  <a:lnTo>
                    <a:pt x="387" y="1004"/>
                  </a:lnTo>
                  <a:lnTo>
                    <a:pt x="289" y="556"/>
                  </a:lnTo>
                  <a:lnTo>
                    <a:pt x="247" y="556"/>
                  </a:lnTo>
                  <a:lnTo>
                    <a:pt x="145" y="1004"/>
                  </a:lnTo>
                  <a:lnTo>
                    <a:pt x="183" y="1004"/>
                  </a:lnTo>
                  <a:lnTo>
                    <a:pt x="211" y="877"/>
                  </a:lnTo>
                  <a:close/>
                  <a:moveTo>
                    <a:pt x="306" y="823"/>
                  </a:moveTo>
                  <a:lnTo>
                    <a:pt x="222" y="823"/>
                  </a:lnTo>
                  <a:lnTo>
                    <a:pt x="266" y="623"/>
                  </a:lnTo>
                  <a:lnTo>
                    <a:pt x="306" y="823"/>
                  </a:lnTo>
                  <a:close/>
                  <a:moveTo>
                    <a:pt x="456" y="1004"/>
                  </a:moveTo>
                  <a:lnTo>
                    <a:pt x="456" y="818"/>
                  </a:lnTo>
                  <a:lnTo>
                    <a:pt x="541" y="818"/>
                  </a:lnTo>
                  <a:cubicBezTo>
                    <a:pt x="592" y="815"/>
                    <a:pt x="619" y="770"/>
                    <a:pt x="621" y="684"/>
                  </a:cubicBezTo>
                  <a:cubicBezTo>
                    <a:pt x="619" y="602"/>
                    <a:pt x="592" y="559"/>
                    <a:pt x="541" y="556"/>
                  </a:cubicBezTo>
                  <a:lnTo>
                    <a:pt x="420" y="556"/>
                  </a:lnTo>
                  <a:lnTo>
                    <a:pt x="420" y="1004"/>
                  </a:lnTo>
                  <a:lnTo>
                    <a:pt x="456" y="1004"/>
                  </a:lnTo>
                  <a:close/>
                  <a:moveTo>
                    <a:pt x="456" y="765"/>
                  </a:moveTo>
                  <a:lnTo>
                    <a:pt x="456" y="608"/>
                  </a:lnTo>
                  <a:lnTo>
                    <a:pt x="530" y="608"/>
                  </a:lnTo>
                  <a:cubicBezTo>
                    <a:pt x="566" y="608"/>
                    <a:pt x="584" y="633"/>
                    <a:pt x="584" y="684"/>
                  </a:cubicBezTo>
                  <a:cubicBezTo>
                    <a:pt x="585" y="739"/>
                    <a:pt x="566" y="766"/>
                    <a:pt x="529" y="765"/>
                  </a:cubicBezTo>
                  <a:lnTo>
                    <a:pt x="456" y="765"/>
                  </a:lnTo>
                  <a:close/>
                  <a:moveTo>
                    <a:pt x="690" y="1004"/>
                  </a:moveTo>
                  <a:lnTo>
                    <a:pt x="690" y="818"/>
                  </a:lnTo>
                  <a:lnTo>
                    <a:pt x="775" y="818"/>
                  </a:lnTo>
                  <a:cubicBezTo>
                    <a:pt x="826" y="815"/>
                    <a:pt x="853" y="770"/>
                    <a:pt x="856" y="684"/>
                  </a:cubicBezTo>
                  <a:cubicBezTo>
                    <a:pt x="853" y="602"/>
                    <a:pt x="826" y="559"/>
                    <a:pt x="775" y="556"/>
                  </a:cubicBezTo>
                  <a:lnTo>
                    <a:pt x="654" y="556"/>
                  </a:lnTo>
                  <a:lnTo>
                    <a:pt x="654" y="1004"/>
                  </a:lnTo>
                  <a:lnTo>
                    <a:pt x="690" y="1004"/>
                  </a:lnTo>
                  <a:close/>
                  <a:moveTo>
                    <a:pt x="690" y="765"/>
                  </a:moveTo>
                  <a:lnTo>
                    <a:pt x="690" y="608"/>
                  </a:lnTo>
                  <a:lnTo>
                    <a:pt x="764" y="608"/>
                  </a:lnTo>
                  <a:cubicBezTo>
                    <a:pt x="800" y="608"/>
                    <a:pt x="818" y="633"/>
                    <a:pt x="818" y="684"/>
                  </a:cubicBezTo>
                  <a:cubicBezTo>
                    <a:pt x="819" y="739"/>
                    <a:pt x="801" y="766"/>
                    <a:pt x="763" y="765"/>
                  </a:cubicBezTo>
                  <a:lnTo>
                    <a:pt x="690" y="76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8399656" y="1246255"/>
            <a:ext cx="2016224" cy="2014804"/>
            <a:chOff x="8758812" y="1700808"/>
            <a:chExt cx="2016749" cy="2015329"/>
          </a:xfrm>
        </p:grpSpPr>
        <p:sp>
          <p:nvSpPr>
            <p:cNvPr id="8" name="Oval 8"/>
            <p:cNvSpPr>
              <a:spLocks noChangeArrowheads="1"/>
            </p:cNvSpPr>
            <p:nvPr/>
          </p:nvSpPr>
          <p:spPr bwMode="auto">
            <a:xfrm>
              <a:off x="8758812" y="1700808"/>
              <a:ext cx="201674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9081207" y="2189373"/>
              <a:ext cx="1380479" cy="1038200"/>
            </a:xfrm>
            <a:custGeom>
              <a:avLst/>
              <a:gdLst>
                <a:gd name="T0" fmla="*/ 42 w 1545"/>
                <a:gd name="T1" fmla="*/ 0 h 1162"/>
                <a:gd name="T2" fmla="*/ 0 w 1545"/>
                <a:gd name="T3" fmla="*/ 932 h 1162"/>
                <a:gd name="T4" fmla="*/ 1503 w 1545"/>
                <a:gd name="T5" fmla="*/ 973 h 1162"/>
                <a:gd name="T6" fmla="*/ 1545 w 1545"/>
                <a:gd name="T7" fmla="*/ 41 h 1162"/>
                <a:gd name="T8" fmla="*/ 866 w 1545"/>
                <a:gd name="T9" fmla="*/ 907 h 1162"/>
                <a:gd name="T10" fmla="*/ 850 w 1545"/>
                <a:gd name="T11" fmla="*/ 922 h 1162"/>
                <a:gd name="T12" fmla="*/ 681 w 1545"/>
                <a:gd name="T13" fmla="*/ 907 h 1162"/>
                <a:gd name="T14" fmla="*/ 696 w 1545"/>
                <a:gd name="T15" fmla="*/ 885 h 1162"/>
                <a:gd name="T16" fmla="*/ 866 w 1545"/>
                <a:gd name="T17" fmla="*/ 900 h 1162"/>
                <a:gd name="T18" fmla="*/ 1481 w 1545"/>
                <a:gd name="T19" fmla="*/ 818 h 1162"/>
                <a:gd name="T20" fmla="*/ 64 w 1545"/>
                <a:gd name="T21" fmla="*/ 818 h 1162"/>
                <a:gd name="T22" fmla="*/ 1481 w 1545"/>
                <a:gd name="T23" fmla="*/ 65 h 1162"/>
                <a:gd name="T24" fmla="*/ 1008 w 1545"/>
                <a:gd name="T25" fmla="*/ 1083 h 1162"/>
                <a:gd name="T26" fmla="*/ 648 w 1545"/>
                <a:gd name="T27" fmla="*/ 1000 h 1162"/>
                <a:gd name="T28" fmla="*/ 1008 w 1545"/>
                <a:gd name="T29" fmla="*/ 1083 h 1162"/>
                <a:gd name="T30" fmla="*/ 477 w 1545"/>
                <a:gd name="T31" fmla="*/ 1162 h 1162"/>
                <a:gd name="T32" fmla="*/ 1051 w 1545"/>
                <a:gd name="T33" fmla="*/ 1107 h 1162"/>
                <a:gd name="T34" fmla="*/ 307 w 1545"/>
                <a:gd name="T35" fmla="*/ 550 h 1162"/>
                <a:gd name="T36" fmla="*/ 533 w 1545"/>
                <a:gd name="T37" fmla="*/ 678 h 1162"/>
                <a:gd name="T38" fmla="*/ 437 w 1545"/>
                <a:gd name="T39" fmla="*/ 230 h 1162"/>
                <a:gd name="T40" fmla="*/ 197 w 1545"/>
                <a:gd name="T41" fmla="*/ 678 h 1162"/>
                <a:gd name="T42" fmla="*/ 307 w 1545"/>
                <a:gd name="T43" fmla="*/ 550 h 1162"/>
                <a:gd name="T44" fmla="*/ 325 w 1545"/>
                <a:gd name="T45" fmla="*/ 497 h 1162"/>
                <a:gd name="T46" fmla="*/ 466 w 1545"/>
                <a:gd name="T47" fmla="*/ 497 h 1162"/>
                <a:gd name="T48" fmla="*/ 715 w 1545"/>
                <a:gd name="T49" fmla="*/ 492 h 1162"/>
                <a:gd name="T50" fmla="*/ 991 w 1545"/>
                <a:gd name="T51" fmla="*/ 358 h 1162"/>
                <a:gd name="T52" fmla="*/ 655 w 1545"/>
                <a:gd name="T53" fmla="*/ 230 h 1162"/>
                <a:gd name="T54" fmla="*/ 715 w 1545"/>
                <a:gd name="T55" fmla="*/ 678 h 1162"/>
                <a:gd name="T56" fmla="*/ 715 w 1545"/>
                <a:gd name="T57" fmla="*/ 282 h 1162"/>
                <a:gd name="T58" fmla="*/ 928 w 1545"/>
                <a:gd name="T59" fmla="*/ 358 h 1162"/>
                <a:gd name="T60" fmla="*/ 715 w 1545"/>
                <a:gd name="T61" fmla="*/ 438 h 1162"/>
                <a:gd name="T62" fmla="*/ 1106 w 1545"/>
                <a:gd name="T63" fmla="*/ 492 h 1162"/>
                <a:gd name="T64" fmla="*/ 1381 w 1545"/>
                <a:gd name="T65" fmla="*/ 358 h 1162"/>
                <a:gd name="T66" fmla="*/ 1045 w 1545"/>
                <a:gd name="T67" fmla="*/ 230 h 1162"/>
                <a:gd name="T68" fmla="*/ 1106 w 1545"/>
                <a:gd name="T69" fmla="*/ 678 h 1162"/>
                <a:gd name="T70" fmla="*/ 1106 w 1545"/>
                <a:gd name="T71" fmla="*/ 282 h 1162"/>
                <a:gd name="T72" fmla="*/ 1318 w 1545"/>
                <a:gd name="T73" fmla="*/ 358 h 1162"/>
                <a:gd name="T74" fmla="*/ 1106 w 1545"/>
                <a:gd name="T75" fmla="*/ 438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45" h="1162">
                  <a:moveTo>
                    <a:pt x="1503" y="0"/>
                  </a:moveTo>
                  <a:lnTo>
                    <a:pt x="42" y="0"/>
                  </a:lnTo>
                  <a:cubicBezTo>
                    <a:pt x="19" y="0"/>
                    <a:pt x="0" y="18"/>
                    <a:pt x="0" y="41"/>
                  </a:cubicBezTo>
                  <a:lnTo>
                    <a:pt x="0" y="932"/>
                  </a:lnTo>
                  <a:cubicBezTo>
                    <a:pt x="0" y="955"/>
                    <a:pt x="19" y="973"/>
                    <a:pt x="42" y="973"/>
                  </a:cubicBezTo>
                  <a:lnTo>
                    <a:pt x="1503" y="973"/>
                  </a:lnTo>
                  <a:cubicBezTo>
                    <a:pt x="1526" y="973"/>
                    <a:pt x="1545" y="955"/>
                    <a:pt x="1545" y="932"/>
                  </a:cubicBezTo>
                  <a:lnTo>
                    <a:pt x="1545" y="41"/>
                  </a:lnTo>
                  <a:cubicBezTo>
                    <a:pt x="1545" y="18"/>
                    <a:pt x="1526" y="0"/>
                    <a:pt x="1503" y="0"/>
                  </a:cubicBezTo>
                  <a:close/>
                  <a:moveTo>
                    <a:pt x="866" y="907"/>
                  </a:moveTo>
                  <a:lnTo>
                    <a:pt x="866" y="907"/>
                  </a:lnTo>
                  <a:cubicBezTo>
                    <a:pt x="866" y="915"/>
                    <a:pt x="859" y="922"/>
                    <a:pt x="850" y="922"/>
                  </a:cubicBezTo>
                  <a:lnTo>
                    <a:pt x="696" y="922"/>
                  </a:lnTo>
                  <a:cubicBezTo>
                    <a:pt x="687" y="922"/>
                    <a:pt x="681" y="915"/>
                    <a:pt x="681" y="907"/>
                  </a:cubicBezTo>
                  <a:lnTo>
                    <a:pt x="681" y="900"/>
                  </a:lnTo>
                  <a:cubicBezTo>
                    <a:pt x="681" y="892"/>
                    <a:pt x="687" y="885"/>
                    <a:pt x="696" y="885"/>
                  </a:cubicBezTo>
                  <a:lnTo>
                    <a:pt x="850" y="885"/>
                  </a:lnTo>
                  <a:cubicBezTo>
                    <a:pt x="859" y="885"/>
                    <a:pt x="866" y="892"/>
                    <a:pt x="866" y="900"/>
                  </a:cubicBezTo>
                  <a:lnTo>
                    <a:pt x="866" y="907"/>
                  </a:lnTo>
                  <a:close/>
                  <a:moveTo>
                    <a:pt x="1481" y="818"/>
                  </a:moveTo>
                  <a:lnTo>
                    <a:pt x="1481" y="818"/>
                  </a:lnTo>
                  <a:lnTo>
                    <a:pt x="64" y="818"/>
                  </a:lnTo>
                  <a:lnTo>
                    <a:pt x="64" y="65"/>
                  </a:lnTo>
                  <a:lnTo>
                    <a:pt x="1481" y="65"/>
                  </a:lnTo>
                  <a:lnTo>
                    <a:pt x="1481" y="818"/>
                  </a:lnTo>
                  <a:close/>
                  <a:moveTo>
                    <a:pt x="1008" y="1083"/>
                  </a:moveTo>
                  <a:lnTo>
                    <a:pt x="537" y="1083"/>
                  </a:lnTo>
                  <a:lnTo>
                    <a:pt x="648" y="1000"/>
                  </a:lnTo>
                  <a:lnTo>
                    <a:pt x="897" y="1000"/>
                  </a:lnTo>
                  <a:lnTo>
                    <a:pt x="1008" y="1083"/>
                  </a:lnTo>
                  <a:close/>
                  <a:moveTo>
                    <a:pt x="1051" y="1162"/>
                  </a:moveTo>
                  <a:lnTo>
                    <a:pt x="477" y="1162"/>
                  </a:lnTo>
                  <a:lnTo>
                    <a:pt x="477" y="1107"/>
                  </a:lnTo>
                  <a:lnTo>
                    <a:pt x="1051" y="1107"/>
                  </a:lnTo>
                  <a:lnTo>
                    <a:pt x="1051" y="1162"/>
                  </a:lnTo>
                  <a:close/>
                  <a:moveTo>
                    <a:pt x="307" y="550"/>
                  </a:moveTo>
                  <a:lnTo>
                    <a:pt x="489" y="550"/>
                  </a:lnTo>
                  <a:lnTo>
                    <a:pt x="533" y="678"/>
                  </a:lnTo>
                  <a:lnTo>
                    <a:pt x="600" y="678"/>
                  </a:lnTo>
                  <a:lnTo>
                    <a:pt x="437" y="230"/>
                  </a:lnTo>
                  <a:lnTo>
                    <a:pt x="367" y="230"/>
                  </a:lnTo>
                  <a:lnTo>
                    <a:pt x="197" y="678"/>
                  </a:lnTo>
                  <a:lnTo>
                    <a:pt x="260" y="678"/>
                  </a:lnTo>
                  <a:lnTo>
                    <a:pt x="307" y="550"/>
                  </a:lnTo>
                  <a:close/>
                  <a:moveTo>
                    <a:pt x="466" y="497"/>
                  </a:moveTo>
                  <a:lnTo>
                    <a:pt x="325" y="497"/>
                  </a:lnTo>
                  <a:lnTo>
                    <a:pt x="399" y="297"/>
                  </a:lnTo>
                  <a:lnTo>
                    <a:pt x="466" y="497"/>
                  </a:lnTo>
                  <a:close/>
                  <a:moveTo>
                    <a:pt x="715" y="678"/>
                  </a:moveTo>
                  <a:lnTo>
                    <a:pt x="715" y="492"/>
                  </a:lnTo>
                  <a:lnTo>
                    <a:pt x="856" y="492"/>
                  </a:lnTo>
                  <a:cubicBezTo>
                    <a:pt x="942" y="489"/>
                    <a:pt x="986" y="444"/>
                    <a:pt x="991" y="358"/>
                  </a:cubicBezTo>
                  <a:cubicBezTo>
                    <a:pt x="986" y="276"/>
                    <a:pt x="942" y="233"/>
                    <a:pt x="856" y="230"/>
                  </a:cubicBezTo>
                  <a:lnTo>
                    <a:pt x="655" y="230"/>
                  </a:lnTo>
                  <a:lnTo>
                    <a:pt x="655" y="678"/>
                  </a:lnTo>
                  <a:lnTo>
                    <a:pt x="715" y="678"/>
                  </a:lnTo>
                  <a:close/>
                  <a:moveTo>
                    <a:pt x="715" y="438"/>
                  </a:moveTo>
                  <a:lnTo>
                    <a:pt x="715" y="282"/>
                  </a:lnTo>
                  <a:lnTo>
                    <a:pt x="838" y="282"/>
                  </a:lnTo>
                  <a:cubicBezTo>
                    <a:pt x="898" y="282"/>
                    <a:pt x="928" y="307"/>
                    <a:pt x="928" y="358"/>
                  </a:cubicBezTo>
                  <a:cubicBezTo>
                    <a:pt x="930" y="413"/>
                    <a:pt x="899" y="440"/>
                    <a:pt x="836" y="438"/>
                  </a:cubicBezTo>
                  <a:lnTo>
                    <a:pt x="715" y="438"/>
                  </a:lnTo>
                  <a:close/>
                  <a:moveTo>
                    <a:pt x="1106" y="678"/>
                  </a:moveTo>
                  <a:lnTo>
                    <a:pt x="1106" y="492"/>
                  </a:lnTo>
                  <a:lnTo>
                    <a:pt x="1247" y="492"/>
                  </a:lnTo>
                  <a:cubicBezTo>
                    <a:pt x="1332" y="489"/>
                    <a:pt x="1377" y="444"/>
                    <a:pt x="1381" y="358"/>
                  </a:cubicBezTo>
                  <a:cubicBezTo>
                    <a:pt x="1377" y="276"/>
                    <a:pt x="1332" y="233"/>
                    <a:pt x="1247" y="230"/>
                  </a:cubicBezTo>
                  <a:lnTo>
                    <a:pt x="1045" y="230"/>
                  </a:lnTo>
                  <a:lnTo>
                    <a:pt x="1045" y="678"/>
                  </a:lnTo>
                  <a:lnTo>
                    <a:pt x="1106" y="678"/>
                  </a:lnTo>
                  <a:close/>
                  <a:moveTo>
                    <a:pt x="1106" y="438"/>
                  </a:moveTo>
                  <a:lnTo>
                    <a:pt x="1106" y="282"/>
                  </a:lnTo>
                  <a:lnTo>
                    <a:pt x="1229" y="282"/>
                  </a:lnTo>
                  <a:cubicBezTo>
                    <a:pt x="1289" y="282"/>
                    <a:pt x="1318" y="307"/>
                    <a:pt x="1318" y="358"/>
                  </a:cubicBezTo>
                  <a:cubicBezTo>
                    <a:pt x="1320" y="413"/>
                    <a:pt x="1289" y="440"/>
                    <a:pt x="1227" y="438"/>
                  </a:cubicBezTo>
                  <a:lnTo>
                    <a:pt x="1106" y="43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1833625" y="1246255"/>
            <a:ext cx="2016224" cy="2014804"/>
            <a:chOff x="1204523" y="1700808"/>
            <a:chExt cx="2016749" cy="2015329"/>
          </a:xfrm>
        </p:grpSpPr>
        <p:sp>
          <p:nvSpPr>
            <p:cNvPr id="11" name="Oval 10"/>
            <p:cNvSpPr>
              <a:spLocks noChangeArrowheads="1"/>
            </p:cNvSpPr>
            <p:nvPr/>
          </p:nvSpPr>
          <p:spPr bwMode="auto">
            <a:xfrm>
              <a:off x="1204523" y="1700808"/>
              <a:ext cx="2016749" cy="2015329"/>
            </a:xfrm>
            <a:prstGeom prst="ellipse">
              <a:avLst/>
            </a:pr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2" name="Freeform 11"/>
            <p:cNvSpPr>
              <a:spLocks noEditPoints="1"/>
            </p:cNvSpPr>
            <p:nvPr/>
          </p:nvSpPr>
          <p:spPr bwMode="auto">
            <a:xfrm>
              <a:off x="1453066" y="2193633"/>
              <a:ext cx="1560850" cy="1029678"/>
            </a:xfrm>
            <a:custGeom>
              <a:avLst/>
              <a:gdLst>
                <a:gd name="T0" fmla="*/ 1295 w 1747"/>
                <a:gd name="T1" fmla="*/ 377 h 1154"/>
                <a:gd name="T2" fmla="*/ 1260 w 1747"/>
                <a:gd name="T3" fmla="*/ 0 h 1154"/>
                <a:gd name="T4" fmla="*/ 641 w 1747"/>
                <a:gd name="T5" fmla="*/ 1031 h 1154"/>
                <a:gd name="T6" fmla="*/ 59 w 1747"/>
                <a:gd name="T7" fmla="*/ 1031 h 1154"/>
                <a:gd name="T8" fmla="*/ 1747 w 1747"/>
                <a:gd name="T9" fmla="*/ 1154 h 1154"/>
                <a:gd name="T10" fmla="*/ 371 w 1747"/>
                <a:gd name="T11" fmla="*/ 962 h 1154"/>
                <a:gd name="T12" fmla="*/ 270 w 1747"/>
                <a:gd name="T13" fmla="*/ 863 h 1154"/>
                <a:gd name="T14" fmla="*/ 371 w 1747"/>
                <a:gd name="T15" fmla="*/ 830 h 1154"/>
                <a:gd name="T16" fmla="*/ 270 w 1747"/>
                <a:gd name="T17" fmla="*/ 731 h 1154"/>
                <a:gd name="T18" fmla="*/ 371 w 1747"/>
                <a:gd name="T19" fmla="*/ 691 h 1154"/>
                <a:gd name="T20" fmla="*/ 270 w 1747"/>
                <a:gd name="T21" fmla="*/ 592 h 1154"/>
                <a:gd name="T22" fmla="*/ 371 w 1747"/>
                <a:gd name="T23" fmla="*/ 559 h 1154"/>
                <a:gd name="T24" fmla="*/ 270 w 1747"/>
                <a:gd name="T25" fmla="*/ 460 h 1154"/>
                <a:gd name="T26" fmla="*/ 524 w 1747"/>
                <a:gd name="T27" fmla="*/ 962 h 1154"/>
                <a:gd name="T28" fmla="*/ 422 w 1747"/>
                <a:gd name="T29" fmla="*/ 863 h 1154"/>
                <a:gd name="T30" fmla="*/ 524 w 1747"/>
                <a:gd name="T31" fmla="*/ 830 h 1154"/>
                <a:gd name="T32" fmla="*/ 422 w 1747"/>
                <a:gd name="T33" fmla="*/ 731 h 1154"/>
                <a:gd name="T34" fmla="*/ 524 w 1747"/>
                <a:gd name="T35" fmla="*/ 691 h 1154"/>
                <a:gd name="T36" fmla="*/ 422 w 1747"/>
                <a:gd name="T37" fmla="*/ 592 h 1154"/>
                <a:gd name="T38" fmla="*/ 524 w 1747"/>
                <a:gd name="T39" fmla="*/ 559 h 1154"/>
                <a:gd name="T40" fmla="*/ 422 w 1747"/>
                <a:gd name="T41" fmla="*/ 460 h 1154"/>
                <a:gd name="T42" fmla="*/ 940 w 1747"/>
                <a:gd name="T43" fmla="*/ 938 h 1154"/>
                <a:gd name="T44" fmla="*/ 774 w 1747"/>
                <a:gd name="T45" fmla="*/ 776 h 1154"/>
                <a:gd name="T46" fmla="*/ 940 w 1747"/>
                <a:gd name="T47" fmla="*/ 723 h 1154"/>
                <a:gd name="T48" fmla="*/ 774 w 1747"/>
                <a:gd name="T49" fmla="*/ 561 h 1154"/>
                <a:gd name="T50" fmla="*/ 940 w 1747"/>
                <a:gd name="T51" fmla="*/ 496 h 1154"/>
                <a:gd name="T52" fmla="*/ 774 w 1747"/>
                <a:gd name="T53" fmla="*/ 334 h 1154"/>
                <a:gd name="T54" fmla="*/ 940 w 1747"/>
                <a:gd name="T55" fmla="*/ 281 h 1154"/>
                <a:gd name="T56" fmla="*/ 774 w 1747"/>
                <a:gd name="T57" fmla="*/ 119 h 1154"/>
                <a:gd name="T58" fmla="*/ 1163 w 1747"/>
                <a:gd name="T59" fmla="*/ 938 h 1154"/>
                <a:gd name="T60" fmla="*/ 997 w 1747"/>
                <a:gd name="T61" fmla="*/ 776 h 1154"/>
                <a:gd name="T62" fmla="*/ 1163 w 1747"/>
                <a:gd name="T63" fmla="*/ 723 h 1154"/>
                <a:gd name="T64" fmla="*/ 997 w 1747"/>
                <a:gd name="T65" fmla="*/ 561 h 1154"/>
                <a:gd name="T66" fmla="*/ 1163 w 1747"/>
                <a:gd name="T67" fmla="*/ 496 h 1154"/>
                <a:gd name="T68" fmla="*/ 997 w 1747"/>
                <a:gd name="T69" fmla="*/ 334 h 1154"/>
                <a:gd name="T70" fmla="*/ 1163 w 1747"/>
                <a:gd name="T71" fmla="*/ 281 h 1154"/>
                <a:gd name="T72" fmla="*/ 997 w 1747"/>
                <a:gd name="T73" fmla="*/ 119 h 1154"/>
                <a:gd name="T74" fmla="*/ 1463 w 1747"/>
                <a:gd name="T75" fmla="*/ 950 h 1154"/>
                <a:gd name="T76" fmla="*/ 1361 w 1747"/>
                <a:gd name="T77" fmla="*/ 850 h 1154"/>
                <a:gd name="T78" fmla="*/ 1463 w 1747"/>
                <a:gd name="T79" fmla="*/ 810 h 1154"/>
                <a:gd name="T80" fmla="*/ 1361 w 1747"/>
                <a:gd name="T81" fmla="*/ 711 h 1154"/>
                <a:gd name="T82" fmla="*/ 1463 w 1747"/>
                <a:gd name="T83" fmla="*/ 679 h 1154"/>
                <a:gd name="T84" fmla="*/ 1361 w 1747"/>
                <a:gd name="T85" fmla="*/ 579 h 1154"/>
                <a:gd name="T86" fmla="*/ 1615 w 1747"/>
                <a:gd name="T87" fmla="*/ 950 h 1154"/>
                <a:gd name="T88" fmla="*/ 1514 w 1747"/>
                <a:gd name="T89" fmla="*/ 850 h 1154"/>
                <a:gd name="T90" fmla="*/ 1615 w 1747"/>
                <a:gd name="T91" fmla="*/ 810 h 1154"/>
                <a:gd name="T92" fmla="*/ 1514 w 1747"/>
                <a:gd name="T93" fmla="*/ 711 h 1154"/>
                <a:gd name="T94" fmla="*/ 1615 w 1747"/>
                <a:gd name="T95" fmla="*/ 679 h 1154"/>
                <a:gd name="T96" fmla="*/ 1514 w 1747"/>
                <a:gd name="T97" fmla="*/ 579 h 1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47" h="1154">
                  <a:moveTo>
                    <a:pt x="1689" y="1031"/>
                  </a:moveTo>
                  <a:lnTo>
                    <a:pt x="1689" y="548"/>
                  </a:lnTo>
                  <a:lnTo>
                    <a:pt x="1295" y="377"/>
                  </a:lnTo>
                  <a:lnTo>
                    <a:pt x="1295" y="1031"/>
                  </a:lnTo>
                  <a:lnTo>
                    <a:pt x="1260" y="1031"/>
                  </a:lnTo>
                  <a:lnTo>
                    <a:pt x="1260" y="0"/>
                  </a:lnTo>
                  <a:lnTo>
                    <a:pt x="677" y="0"/>
                  </a:lnTo>
                  <a:lnTo>
                    <a:pt x="677" y="1031"/>
                  </a:lnTo>
                  <a:lnTo>
                    <a:pt x="641" y="1031"/>
                  </a:lnTo>
                  <a:lnTo>
                    <a:pt x="641" y="262"/>
                  </a:lnTo>
                  <a:lnTo>
                    <a:pt x="59" y="463"/>
                  </a:lnTo>
                  <a:lnTo>
                    <a:pt x="59" y="1031"/>
                  </a:lnTo>
                  <a:lnTo>
                    <a:pt x="0" y="1031"/>
                  </a:lnTo>
                  <a:lnTo>
                    <a:pt x="0" y="1154"/>
                  </a:lnTo>
                  <a:lnTo>
                    <a:pt x="1747" y="1154"/>
                  </a:lnTo>
                  <a:lnTo>
                    <a:pt x="1747" y="1031"/>
                  </a:lnTo>
                  <a:lnTo>
                    <a:pt x="1689" y="1031"/>
                  </a:lnTo>
                  <a:close/>
                  <a:moveTo>
                    <a:pt x="371" y="962"/>
                  </a:moveTo>
                  <a:lnTo>
                    <a:pt x="371" y="962"/>
                  </a:lnTo>
                  <a:lnTo>
                    <a:pt x="270" y="962"/>
                  </a:lnTo>
                  <a:lnTo>
                    <a:pt x="270" y="863"/>
                  </a:lnTo>
                  <a:lnTo>
                    <a:pt x="371" y="863"/>
                  </a:lnTo>
                  <a:lnTo>
                    <a:pt x="371" y="962"/>
                  </a:lnTo>
                  <a:close/>
                  <a:moveTo>
                    <a:pt x="371" y="830"/>
                  </a:moveTo>
                  <a:lnTo>
                    <a:pt x="371" y="830"/>
                  </a:lnTo>
                  <a:lnTo>
                    <a:pt x="270" y="830"/>
                  </a:lnTo>
                  <a:lnTo>
                    <a:pt x="270" y="731"/>
                  </a:lnTo>
                  <a:lnTo>
                    <a:pt x="371" y="731"/>
                  </a:lnTo>
                  <a:lnTo>
                    <a:pt x="371" y="830"/>
                  </a:lnTo>
                  <a:close/>
                  <a:moveTo>
                    <a:pt x="371" y="691"/>
                  </a:moveTo>
                  <a:lnTo>
                    <a:pt x="371" y="691"/>
                  </a:lnTo>
                  <a:lnTo>
                    <a:pt x="270" y="691"/>
                  </a:lnTo>
                  <a:lnTo>
                    <a:pt x="270" y="592"/>
                  </a:lnTo>
                  <a:lnTo>
                    <a:pt x="371" y="592"/>
                  </a:lnTo>
                  <a:lnTo>
                    <a:pt x="371" y="691"/>
                  </a:lnTo>
                  <a:close/>
                  <a:moveTo>
                    <a:pt x="371" y="559"/>
                  </a:moveTo>
                  <a:lnTo>
                    <a:pt x="371" y="559"/>
                  </a:lnTo>
                  <a:lnTo>
                    <a:pt x="270" y="559"/>
                  </a:lnTo>
                  <a:lnTo>
                    <a:pt x="270" y="460"/>
                  </a:lnTo>
                  <a:lnTo>
                    <a:pt x="371" y="460"/>
                  </a:lnTo>
                  <a:lnTo>
                    <a:pt x="371" y="559"/>
                  </a:lnTo>
                  <a:close/>
                  <a:moveTo>
                    <a:pt x="524" y="962"/>
                  </a:moveTo>
                  <a:lnTo>
                    <a:pt x="524" y="962"/>
                  </a:lnTo>
                  <a:lnTo>
                    <a:pt x="422" y="962"/>
                  </a:lnTo>
                  <a:lnTo>
                    <a:pt x="422" y="863"/>
                  </a:lnTo>
                  <a:lnTo>
                    <a:pt x="524" y="863"/>
                  </a:lnTo>
                  <a:lnTo>
                    <a:pt x="524" y="962"/>
                  </a:lnTo>
                  <a:close/>
                  <a:moveTo>
                    <a:pt x="524" y="830"/>
                  </a:moveTo>
                  <a:lnTo>
                    <a:pt x="524" y="830"/>
                  </a:lnTo>
                  <a:lnTo>
                    <a:pt x="422" y="830"/>
                  </a:lnTo>
                  <a:lnTo>
                    <a:pt x="422" y="731"/>
                  </a:lnTo>
                  <a:lnTo>
                    <a:pt x="524" y="731"/>
                  </a:lnTo>
                  <a:lnTo>
                    <a:pt x="524" y="830"/>
                  </a:lnTo>
                  <a:close/>
                  <a:moveTo>
                    <a:pt x="524" y="691"/>
                  </a:moveTo>
                  <a:lnTo>
                    <a:pt x="524" y="691"/>
                  </a:lnTo>
                  <a:lnTo>
                    <a:pt x="422" y="691"/>
                  </a:lnTo>
                  <a:lnTo>
                    <a:pt x="422" y="592"/>
                  </a:lnTo>
                  <a:lnTo>
                    <a:pt x="524" y="592"/>
                  </a:lnTo>
                  <a:lnTo>
                    <a:pt x="524" y="691"/>
                  </a:lnTo>
                  <a:close/>
                  <a:moveTo>
                    <a:pt x="524" y="559"/>
                  </a:moveTo>
                  <a:lnTo>
                    <a:pt x="524" y="559"/>
                  </a:lnTo>
                  <a:lnTo>
                    <a:pt x="422" y="559"/>
                  </a:lnTo>
                  <a:lnTo>
                    <a:pt x="422" y="460"/>
                  </a:lnTo>
                  <a:lnTo>
                    <a:pt x="524" y="460"/>
                  </a:lnTo>
                  <a:lnTo>
                    <a:pt x="524" y="559"/>
                  </a:lnTo>
                  <a:close/>
                  <a:moveTo>
                    <a:pt x="940" y="938"/>
                  </a:moveTo>
                  <a:lnTo>
                    <a:pt x="940" y="938"/>
                  </a:lnTo>
                  <a:lnTo>
                    <a:pt x="774" y="938"/>
                  </a:lnTo>
                  <a:lnTo>
                    <a:pt x="774" y="776"/>
                  </a:lnTo>
                  <a:lnTo>
                    <a:pt x="940" y="776"/>
                  </a:lnTo>
                  <a:lnTo>
                    <a:pt x="940" y="938"/>
                  </a:lnTo>
                  <a:close/>
                  <a:moveTo>
                    <a:pt x="940" y="723"/>
                  </a:moveTo>
                  <a:lnTo>
                    <a:pt x="940" y="723"/>
                  </a:lnTo>
                  <a:lnTo>
                    <a:pt x="774" y="723"/>
                  </a:lnTo>
                  <a:lnTo>
                    <a:pt x="774" y="561"/>
                  </a:lnTo>
                  <a:lnTo>
                    <a:pt x="940" y="561"/>
                  </a:lnTo>
                  <a:lnTo>
                    <a:pt x="940" y="723"/>
                  </a:lnTo>
                  <a:close/>
                  <a:moveTo>
                    <a:pt x="940" y="496"/>
                  </a:moveTo>
                  <a:lnTo>
                    <a:pt x="940" y="496"/>
                  </a:lnTo>
                  <a:lnTo>
                    <a:pt x="774" y="496"/>
                  </a:lnTo>
                  <a:lnTo>
                    <a:pt x="774" y="334"/>
                  </a:lnTo>
                  <a:lnTo>
                    <a:pt x="940" y="334"/>
                  </a:lnTo>
                  <a:lnTo>
                    <a:pt x="940" y="496"/>
                  </a:lnTo>
                  <a:close/>
                  <a:moveTo>
                    <a:pt x="940" y="281"/>
                  </a:moveTo>
                  <a:lnTo>
                    <a:pt x="940" y="281"/>
                  </a:lnTo>
                  <a:lnTo>
                    <a:pt x="774" y="281"/>
                  </a:lnTo>
                  <a:lnTo>
                    <a:pt x="774" y="119"/>
                  </a:lnTo>
                  <a:lnTo>
                    <a:pt x="940" y="119"/>
                  </a:lnTo>
                  <a:lnTo>
                    <a:pt x="940" y="281"/>
                  </a:lnTo>
                  <a:close/>
                  <a:moveTo>
                    <a:pt x="1163" y="938"/>
                  </a:moveTo>
                  <a:lnTo>
                    <a:pt x="1163" y="938"/>
                  </a:lnTo>
                  <a:lnTo>
                    <a:pt x="997" y="938"/>
                  </a:lnTo>
                  <a:lnTo>
                    <a:pt x="997" y="776"/>
                  </a:lnTo>
                  <a:lnTo>
                    <a:pt x="1163" y="776"/>
                  </a:lnTo>
                  <a:lnTo>
                    <a:pt x="1163" y="938"/>
                  </a:lnTo>
                  <a:close/>
                  <a:moveTo>
                    <a:pt x="1163" y="723"/>
                  </a:moveTo>
                  <a:lnTo>
                    <a:pt x="1163" y="723"/>
                  </a:lnTo>
                  <a:lnTo>
                    <a:pt x="997" y="723"/>
                  </a:lnTo>
                  <a:lnTo>
                    <a:pt x="997" y="561"/>
                  </a:lnTo>
                  <a:lnTo>
                    <a:pt x="1163" y="561"/>
                  </a:lnTo>
                  <a:lnTo>
                    <a:pt x="1163" y="723"/>
                  </a:lnTo>
                  <a:close/>
                  <a:moveTo>
                    <a:pt x="1163" y="496"/>
                  </a:moveTo>
                  <a:lnTo>
                    <a:pt x="1163" y="496"/>
                  </a:lnTo>
                  <a:lnTo>
                    <a:pt x="997" y="496"/>
                  </a:lnTo>
                  <a:lnTo>
                    <a:pt x="997" y="334"/>
                  </a:lnTo>
                  <a:lnTo>
                    <a:pt x="1163" y="334"/>
                  </a:lnTo>
                  <a:lnTo>
                    <a:pt x="1163" y="496"/>
                  </a:lnTo>
                  <a:close/>
                  <a:moveTo>
                    <a:pt x="1163" y="281"/>
                  </a:moveTo>
                  <a:lnTo>
                    <a:pt x="1163" y="281"/>
                  </a:lnTo>
                  <a:lnTo>
                    <a:pt x="997" y="281"/>
                  </a:lnTo>
                  <a:lnTo>
                    <a:pt x="997" y="119"/>
                  </a:lnTo>
                  <a:lnTo>
                    <a:pt x="1163" y="119"/>
                  </a:lnTo>
                  <a:lnTo>
                    <a:pt x="1163" y="281"/>
                  </a:lnTo>
                  <a:close/>
                  <a:moveTo>
                    <a:pt x="1463" y="950"/>
                  </a:moveTo>
                  <a:lnTo>
                    <a:pt x="1463" y="950"/>
                  </a:lnTo>
                  <a:lnTo>
                    <a:pt x="1361" y="950"/>
                  </a:lnTo>
                  <a:lnTo>
                    <a:pt x="1361" y="850"/>
                  </a:lnTo>
                  <a:lnTo>
                    <a:pt x="1463" y="850"/>
                  </a:lnTo>
                  <a:lnTo>
                    <a:pt x="1463" y="950"/>
                  </a:lnTo>
                  <a:close/>
                  <a:moveTo>
                    <a:pt x="1463" y="810"/>
                  </a:moveTo>
                  <a:lnTo>
                    <a:pt x="1463" y="810"/>
                  </a:lnTo>
                  <a:lnTo>
                    <a:pt x="1361" y="810"/>
                  </a:lnTo>
                  <a:lnTo>
                    <a:pt x="1361" y="711"/>
                  </a:lnTo>
                  <a:lnTo>
                    <a:pt x="1463" y="711"/>
                  </a:lnTo>
                  <a:lnTo>
                    <a:pt x="1463" y="810"/>
                  </a:lnTo>
                  <a:close/>
                  <a:moveTo>
                    <a:pt x="1463" y="679"/>
                  </a:moveTo>
                  <a:lnTo>
                    <a:pt x="1463" y="679"/>
                  </a:lnTo>
                  <a:lnTo>
                    <a:pt x="1361" y="679"/>
                  </a:lnTo>
                  <a:lnTo>
                    <a:pt x="1361" y="579"/>
                  </a:lnTo>
                  <a:lnTo>
                    <a:pt x="1463" y="579"/>
                  </a:lnTo>
                  <a:lnTo>
                    <a:pt x="1463" y="679"/>
                  </a:lnTo>
                  <a:close/>
                  <a:moveTo>
                    <a:pt x="1615" y="950"/>
                  </a:moveTo>
                  <a:lnTo>
                    <a:pt x="1615" y="950"/>
                  </a:lnTo>
                  <a:lnTo>
                    <a:pt x="1514" y="950"/>
                  </a:lnTo>
                  <a:lnTo>
                    <a:pt x="1514" y="850"/>
                  </a:lnTo>
                  <a:lnTo>
                    <a:pt x="1615" y="850"/>
                  </a:lnTo>
                  <a:lnTo>
                    <a:pt x="1615" y="950"/>
                  </a:lnTo>
                  <a:close/>
                  <a:moveTo>
                    <a:pt x="1615" y="810"/>
                  </a:moveTo>
                  <a:lnTo>
                    <a:pt x="1615" y="810"/>
                  </a:lnTo>
                  <a:lnTo>
                    <a:pt x="1514" y="810"/>
                  </a:lnTo>
                  <a:lnTo>
                    <a:pt x="1514" y="711"/>
                  </a:lnTo>
                  <a:lnTo>
                    <a:pt x="1615" y="711"/>
                  </a:lnTo>
                  <a:lnTo>
                    <a:pt x="1615" y="810"/>
                  </a:lnTo>
                  <a:close/>
                  <a:moveTo>
                    <a:pt x="1615" y="679"/>
                  </a:moveTo>
                  <a:lnTo>
                    <a:pt x="1615" y="679"/>
                  </a:lnTo>
                  <a:lnTo>
                    <a:pt x="1514" y="679"/>
                  </a:lnTo>
                  <a:lnTo>
                    <a:pt x="1514" y="579"/>
                  </a:lnTo>
                  <a:lnTo>
                    <a:pt x="1615" y="579"/>
                  </a:lnTo>
                  <a:lnTo>
                    <a:pt x="1615" y="67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sp>
        <p:nvSpPr>
          <p:cNvPr id="13" name="Freeform 12"/>
          <p:cNvSpPr/>
          <p:nvPr/>
        </p:nvSpPr>
        <p:spPr bwMode="auto">
          <a:xfrm>
            <a:off x="4216626" y="1932056"/>
            <a:ext cx="583569" cy="583569"/>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4" name="Freeform 13"/>
          <p:cNvSpPr/>
          <p:nvPr/>
        </p:nvSpPr>
        <p:spPr bwMode="auto">
          <a:xfrm>
            <a:off x="7535786" y="1932056"/>
            <a:ext cx="583569" cy="583569"/>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5" name="矩形 83"/>
          <p:cNvSpPr>
            <a:spLocks noChangeArrowheads="1"/>
          </p:cNvSpPr>
          <p:nvPr/>
        </p:nvSpPr>
        <p:spPr bwMode="auto">
          <a:xfrm>
            <a:off x="1551966" y="4350266"/>
            <a:ext cx="9055308" cy="1920796"/>
          </a:xfrm>
          <a:prstGeom prst="rect">
            <a:avLst/>
          </a:prstGeom>
          <a:solidFill>
            <a:srgbClr val="F2F2F2"/>
          </a:solidFill>
          <a:ln w="9525" cmpd="sng">
            <a:solidFill>
              <a:srgbClr val="55735B"/>
            </a:solidFill>
            <a:miter lim="800000"/>
          </a:ln>
        </p:spPr>
        <p:txBody>
          <a:bodyPr/>
          <a:lstStyle/>
          <a:p>
            <a:endParaRPr lang="zh-CN" altLang="en-US" sz="1345" dirty="0">
              <a:latin typeface="微软雅黑" panose="020B0503020204020204" pitchFamily="34" charset="-122"/>
              <a:ea typeface="微软雅黑" panose="020B0503020204020204" pitchFamily="34" charset="-122"/>
            </a:endParaRPr>
          </a:p>
        </p:txBody>
      </p:sp>
      <p:sp>
        <p:nvSpPr>
          <p:cNvPr id="16" name="TextBox 84"/>
          <p:cNvSpPr txBox="1">
            <a:spLocks noChangeArrowheads="1"/>
          </p:cNvSpPr>
          <p:nvPr/>
        </p:nvSpPr>
        <p:spPr bwMode="auto">
          <a:xfrm>
            <a:off x="1791536" y="4517253"/>
            <a:ext cx="8501945" cy="161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Freeform 12"/>
          <p:cNvSpPr/>
          <p:nvPr/>
        </p:nvSpPr>
        <p:spPr bwMode="auto">
          <a:xfrm>
            <a:off x="1477371" y="4204254"/>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8" name="Freeform 12"/>
          <p:cNvSpPr/>
          <p:nvPr/>
        </p:nvSpPr>
        <p:spPr bwMode="auto">
          <a:xfrm flipH="1" flipV="1">
            <a:off x="10174813" y="5876635"/>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9" name="TextBox 46"/>
          <p:cNvSpPr txBox="1"/>
          <p:nvPr/>
        </p:nvSpPr>
        <p:spPr>
          <a:xfrm>
            <a:off x="1979262"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0" name="TextBox 47"/>
          <p:cNvSpPr txBox="1"/>
          <p:nvPr/>
        </p:nvSpPr>
        <p:spPr>
          <a:xfrm>
            <a:off x="5227179"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1" name="TextBox 48"/>
          <p:cNvSpPr txBox="1"/>
          <p:nvPr/>
        </p:nvSpPr>
        <p:spPr>
          <a:xfrm>
            <a:off x="8633728"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8" name="Text Box 4">
            <a:extLst>
              <a:ext uri="{FF2B5EF4-FFF2-40B4-BE49-F238E27FC236}">
                <a16:creationId xmlns:a16="http://schemas.microsoft.com/office/drawing/2014/main" id="{79E4DCD4-18A3-8143-81CF-F80557365EEC}"/>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Half Frame 12">
            <a:extLst>
              <a:ext uri="{FF2B5EF4-FFF2-40B4-BE49-F238E27FC236}">
                <a16:creationId xmlns:a16="http://schemas.microsoft.com/office/drawing/2014/main" id="{AAA3165C-673C-7548-8C40-A5C43001A69D}"/>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0" name="直线连接符 29">
            <a:extLst>
              <a:ext uri="{FF2B5EF4-FFF2-40B4-BE49-F238E27FC236}">
                <a16:creationId xmlns:a16="http://schemas.microsoft.com/office/drawing/2014/main" id="{685CD0D8-A262-6A42-AFB3-317D7469BCA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31"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300" fill="hold"/>
                                            <p:tgtEl>
                                              <p:spTgt spid="13"/>
                                            </p:tgtEl>
                                            <p:attrNameLst>
                                              <p:attrName>ppt_w</p:attrName>
                                            </p:attrNameLst>
                                          </p:cBhvr>
                                          <p:tavLst>
                                            <p:tav tm="0">
                                              <p:val>
                                                <p:fltVal val="0"/>
                                              </p:val>
                                            </p:tav>
                                            <p:tav tm="100000">
                                              <p:val>
                                                <p:strVal val="#ppt_w"/>
                                              </p:val>
                                            </p:tav>
                                          </p:tavLst>
                                        </p:anim>
                                        <p:anim calcmode="lin" valueType="num">
                                          <p:cBhvr>
                                            <p:cTn id="20" dur="300" fill="hold"/>
                                            <p:tgtEl>
                                              <p:spTgt spid="13"/>
                                            </p:tgtEl>
                                            <p:attrNameLst>
                                              <p:attrName>ppt_h</p:attrName>
                                            </p:attrNameLst>
                                          </p:cBhvr>
                                          <p:tavLst>
                                            <p:tav tm="0">
                                              <p:val>
                                                <p:fltVal val="0"/>
                                              </p:val>
                                            </p:tav>
                                            <p:tav tm="100000">
                                              <p:val>
                                                <p:strVal val="#ppt_h"/>
                                              </p:val>
                                            </p:tav>
                                          </p:tavLst>
                                        </p:anim>
                                        <p:anim calcmode="lin" valueType="num">
                                          <p:cBhvr>
                                            <p:cTn id="21" dur="300" fill="hold"/>
                                            <p:tgtEl>
                                              <p:spTgt spid="13"/>
                                            </p:tgtEl>
                                            <p:attrNameLst>
                                              <p:attrName>style.rotation</p:attrName>
                                            </p:attrNameLst>
                                          </p:cBhvr>
                                          <p:tavLst>
                                            <p:tav tm="0">
                                              <p:val>
                                                <p:fltVal val="90"/>
                                              </p:val>
                                            </p:tav>
                                            <p:tav tm="100000">
                                              <p:val>
                                                <p:fltVal val="0"/>
                                              </p:val>
                                            </p:tav>
                                          </p:tavLst>
                                        </p:anim>
                                        <p:animEffect transition="in" filter="fade">
                                          <p:cBhvr>
                                            <p:cTn id="22" dur="300"/>
                                            <p:tgtEl>
                                              <p:spTgt spid="13"/>
                                            </p:tgtEl>
                                          </p:cBhvr>
                                        </p:animEffect>
                                      </p:childTnLst>
                                    </p:cTn>
                                  </p:par>
                                </p:childTnLst>
                              </p:cTn>
                            </p:par>
                            <p:par>
                              <p:cTn id="23" fill="hold">
                                <p:stCondLst>
                                  <p:cond delay="2000"/>
                                </p:stCondLst>
                                <p:childTnLst>
                                  <p:par>
                                    <p:cTn id="24" presetID="53" presetClass="entr" presetSubtype="1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31"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300" fill="hold"/>
                                            <p:tgtEl>
                                              <p:spTgt spid="14"/>
                                            </p:tgtEl>
                                            <p:attrNameLst>
                                              <p:attrName>ppt_w</p:attrName>
                                            </p:attrNameLst>
                                          </p:cBhvr>
                                          <p:tavLst>
                                            <p:tav tm="0">
                                              <p:val>
                                                <p:fltVal val="0"/>
                                              </p:val>
                                            </p:tav>
                                            <p:tav tm="100000">
                                              <p:val>
                                                <p:strVal val="#ppt_w"/>
                                              </p:val>
                                            </p:tav>
                                          </p:tavLst>
                                        </p:anim>
                                        <p:anim calcmode="lin" valueType="num">
                                          <p:cBhvr>
                                            <p:cTn id="38" dur="300" fill="hold"/>
                                            <p:tgtEl>
                                              <p:spTgt spid="14"/>
                                            </p:tgtEl>
                                            <p:attrNameLst>
                                              <p:attrName>ppt_h</p:attrName>
                                            </p:attrNameLst>
                                          </p:cBhvr>
                                          <p:tavLst>
                                            <p:tav tm="0">
                                              <p:val>
                                                <p:fltVal val="0"/>
                                              </p:val>
                                            </p:tav>
                                            <p:tav tm="100000">
                                              <p:val>
                                                <p:strVal val="#ppt_h"/>
                                              </p:val>
                                            </p:tav>
                                          </p:tavLst>
                                        </p:anim>
                                        <p:anim calcmode="lin" valueType="num">
                                          <p:cBhvr>
                                            <p:cTn id="39" dur="300" fill="hold"/>
                                            <p:tgtEl>
                                              <p:spTgt spid="14"/>
                                            </p:tgtEl>
                                            <p:attrNameLst>
                                              <p:attrName>style.rotation</p:attrName>
                                            </p:attrNameLst>
                                          </p:cBhvr>
                                          <p:tavLst>
                                            <p:tav tm="0">
                                              <p:val>
                                                <p:fltVal val="90"/>
                                              </p:val>
                                            </p:tav>
                                            <p:tav tm="100000">
                                              <p:val>
                                                <p:fltVal val="0"/>
                                              </p:val>
                                            </p:tav>
                                          </p:tavLst>
                                        </p:anim>
                                        <p:animEffect transition="in" filter="fade">
                                          <p:cBhvr>
                                            <p:cTn id="40" dur="300"/>
                                            <p:tgtEl>
                                              <p:spTgt spid="14"/>
                                            </p:tgtEl>
                                          </p:cBhvr>
                                        </p:animEffect>
                                      </p:childTnLst>
                                    </p:cTn>
                                  </p:par>
                                </p:childTnLst>
                              </p:cTn>
                            </p:par>
                            <p:par>
                              <p:cTn id="41" fill="hold">
                                <p:stCondLst>
                                  <p:cond delay="3000"/>
                                </p:stCondLst>
                                <p:childTnLst>
                                  <p:par>
                                    <p:cTn id="42" presetID="53" presetClass="entr" presetSubtype="16"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par>
                                    <p:cTn id="47" presetID="42" presetClass="entr" presetSubtype="0" fill="hold" grpId="0" nodeType="withEffect">
                                      <p:stCondLst>
                                        <p:cond delay="4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childTnLst>
                              </p:cTn>
                            </p:par>
                            <p:par>
                              <p:cTn id="52" fill="hold">
                                <p:stCondLst>
                                  <p:cond delay="3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35" presetClass="path" presetSubtype="0" accel="50000" decel="50000" fill="hold" grpId="1" nodeType="withEffect">
                                      <p:stCondLst>
                                        <p:cond delay="0"/>
                                      </p:stCondLst>
                                      <p:childTnLst>
                                        <p:animMotion origin="layout" path="M -3.56836E-6 -3.7037E-7 L 0.36686 0.15278 " pathEditMode="relative" rAng="0" ptsTypes="AA">
                                          <p:cBhvr>
                                            <p:cTn id="56" dur="500" spd="-99900" fill="hold"/>
                                            <p:tgtEl>
                                              <p:spTgt spid="17"/>
                                            </p:tgtEl>
                                            <p:attrNameLst>
                                              <p:attrName>ppt_x</p:attrName>
                                              <p:attrName>ppt_y</p:attrName>
                                            </p:attrNameLst>
                                          </p:cBhvr>
                                          <p:rCtr x="18343" y="7639"/>
                                        </p:animMotion>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35" presetClass="path" presetSubtype="0" accel="50000" decel="50000" fill="hold" grpId="1" nodeType="withEffect">
                                      <p:stCondLst>
                                        <p:cond delay="0"/>
                                      </p:stCondLst>
                                      <p:childTnLst>
                                        <p:animMotion origin="layout" path="M 7.85742E-7 -3.33333E-6 L -0.39495 -0.11018 " pathEditMode="relative" rAng="0" ptsTypes="AA">
                                          <p:cBhvr>
                                            <p:cTn id="60" dur="500" spd="-99900" fill="hold"/>
                                            <p:tgtEl>
                                              <p:spTgt spid="18"/>
                                            </p:tgtEl>
                                            <p:attrNameLst>
                                              <p:attrName>ppt_x</p:attrName>
                                              <p:attrName>ppt_y</p:attrName>
                                            </p:attrNameLst>
                                          </p:cBhvr>
                                          <p:rCtr x="-19748" y="-5509"/>
                                        </p:animMotion>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Effect transition="in" filter="fade">
                                          <p:cBhvr>
                                            <p:cTn id="65" dur="500"/>
                                            <p:tgtEl>
                                              <p:spTgt spid="15"/>
                                            </p:tgtEl>
                                          </p:cBhvr>
                                        </p:animEffect>
                                      </p:childTnLst>
                                    </p:cTn>
                                  </p:par>
                                </p:childTnLst>
                              </p:cTn>
                            </p:par>
                            <p:par>
                              <p:cTn id="66" fill="hold">
                                <p:stCondLst>
                                  <p:cond delay="4000"/>
                                </p:stCondLst>
                                <p:childTnLst>
                                  <p:par>
                                    <p:cTn id="67" presetID="22" presetClass="entr" presetSubtype="1" fill="hold" nodeType="afterEffect">
                                      <p:stCondLst>
                                        <p:cond delay="0"/>
                                      </p:stCondLst>
                                      <p:childTnLst>
                                        <p:set>
                                          <p:cBhvr>
                                            <p:cTn id="68" dur="1" fill="hold">
                                              <p:stCondLst>
                                                <p:cond delay="0"/>
                                              </p:stCondLst>
                                            </p:cTn>
                                            <p:tgtEl>
                                              <p:spTgt spid="16">
                                                <p:txEl>
                                                  <p:pRg st="0" end="0"/>
                                                </p:txEl>
                                              </p:spTgt>
                                            </p:tgtEl>
                                            <p:attrNameLst>
                                              <p:attrName>style.visibility</p:attrName>
                                            </p:attrNameLst>
                                          </p:cBhvr>
                                          <p:to>
                                            <p:strVal val="visible"/>
                                          </p:to>
                                        </p:set>
                                        <p:animEffect transition="in" filter="wipe(up)">
                                          <p:cBhvr>
                                            <p:cTn id="69" dur="500"/>
                                            <p:tgtEl>
                                              <p:spTgt spid="16">
                                                <p:txEl>
                                                  <p:pRg st="0" end="0"/>
                                                </p:txEl>
                                              </p:spTgt>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16">
                                                <p:txEl>
                                                  <p:pRg st="1" end="1"/>
                                                </p:txEl>
                                              </p:spTgt>
                                            </p:tgtEl>
                                            <p:attrNameLst>
                                              <p:attrName>style.visibility</p:attrName>
                                            </p:attrNameLst>
                                          </p:cBhvr>
                                          <p:to>
                                            <p:strVal val="visible"/>
                                          </p:to>
                                        </p:set>
                                        <p:animEffect transition="in" filter="wipe(up)">
                                          <p:cBhvr>
                                            <p:cTn id="73" dur="500"/>
                                            <p:tgtEl>
                                              <p:spTgt spid="16">
                                                <p:txEl>
                                                  <p:pRg st="1" end="1"/>
                                                </p:txEl>
                                              </p:spTgt>
                                            </p:tgtEl>
                                          </p:cBhvr>
                                        </p:animEffect>
                                      </p:childTnLst>
                                    </p:cTn>
                                  </p:par>
                                </p:childTnLst>
                              </p:cTn>
                            </p:par>
                            <p:par>
                              <p:cTn id="74" fill="hold">
                                <p:stCondLst>
                                  <p:cond delay="5000"/>
                                </p:stCondLst>
                                <p:childTnLst>
                                  <p:par>
                                    <p:cTn id="75" presetID="22" presetClass="entr" presetSubtype="1" fill="hold" nodeType="afterEffect">
                                      <p:stCondLst>
                                        <p:cond delay="0"/>
                                      </p:stCondLst>
                                      <p:childTnLst>
                                        <p:set>
                                          <p:cBhvr>
                                            <p:cTn id="76" dur="1" fill="hold">
                                              <p:stCondLst>
                                                <p:cond delay="0"/>
                                              </p:stCondLst>
                                            </p:cTn>
                                            <p:tgtEl>
                                              <p:spTgt spid="16">
                                                <p:txEl>
                                                  <p:pRg st="2" end="2"/>
                                                </p:txEl>
                                              </p:spTgt>
                                            </p:tgtEl>
                                            <p:attrNameLst>
                                              <p:attrName>style.visibility</p:attrName>
                                            </p:attrNameLst>
                                          </p:cBhvr>
                                          <p:to>
                                            <p:strVal val="visible"/>
                                          </p:to>
                                        </p:set>
                                        <p:animEffect transition="in" filter="wipe(up)">
                                          <p:cBhvr>
                                            <p:cTn id="77" dur="500"/>
                                            <p:tgtEl>
                                              <p:spTgt spid="16">
                                                <p:txEl>
                                                  <p:pRg st="2" end="2"/>
                                                </p:txEl>
                                              </p:spTgt>
                                            </p:tgtEl>
                                          </p:cBhvr>
                                        </p:animEffect>
                                      </p:childTnLst>
                                    </p:cTn>
                                  </p:par>
                                </p:childTnLst>
                              </p:cTn>
                            </p:par>
                            <p:par>
                              <p:cTn id="78" fill="hold">
                                <p:stCondLst>
                                  <p:cond delay="5500"/>
                                </p:stCondLst>
                                <p:childTnLst>
                                  <p:par>
                                    <p:cTn id="79" presetID="22" presetClass="entr" presetSubtype="1" fill="hold" nodeType="afterEffect">
                                      <p:stCondLst>
                                        <p:cond delay="0"/>
                                      </p:stCondLst>
                                      <p:childTnLst>
                                        <p:set>
                                          <p:cBhvr>
                                            <p:cTn id="80" dur="1" fill="hold">
                                              <p:stCondLst>
                                                <p:cond delay="0"/>
                                              </p:stCondLst>
                                            </p:cTn>
                                            <p:tgtEl>
                                              <p:spTgt spid="16">
                                                <p:txEl>
                                                  <p:pRg st="3" end="3"/>
                                                </p:txEl>
                                              </p:spTgt>
                                            </p:tgtEl>
                                            <p:attrNameLst>
                                              <p:attrName>style.visibility</p:attrName>
                                            </p:attrNameLst>
                                          </p:cBhvr>
                                          <p:to>
                                            <p:strVal val="visible"/>
                                          </p:to>
                                        </p:set>
                                        <p:animEffect transition="in" filter="wipe(up)">
                                          <p:cBhvr>
                                            <p:cTn id="81" dur="500"/>
                                            <p:tgtEl>
                                              <p:spTgt spid="16">
                                                <p:txEl>
                                                  <p:pRg st="3" end="3"/>
                                                </p:txEl>
                                              </p:spTgt>
                                            </p:tgtEl>
                                          </p:cBhvr>
                                        </p:animEffect>
                                      </p:childTnLst>
                                    </p:cTn>
                                  </p:par>
                                </p:childTnLst>
                              </p:cTn>
                            </p:par>
                            <p:par>
                              <p:cTn id="82" fill="hold">
                                <p:stCondLst>
                                  <p:cond delay="6000"/>
                                </p:stCondLst>
                                <p:childTnLst>
                                  <p:par>
                                    <p:cTn id="83" presetID="22" presetClass="entr" presetSubtype="1" fill="hold" nodeType="afterEffect">
                                      <p:stCondLst>
                                        <p:cond delay="0"/>
                                      </p:stCondLst>
                                      <p:childTnLst>
                                        <p:set>
                                          <p:cBhvr>
                                            <p:cTn id="84" dur="1" fill="hold">
                                              <p:stCondLst>
                                                <p:cond delay="0"/>
                                              </p:stCondLst>
                                            </p:cTn>
                                            <p:tgtEl>
                                              <p:spTgt spid="16">
                                                <p:txEl>
                                                  <p:pRg st="4" end="4"/>
                                                </p:txEl>
                                              </p:spTgt>
                                            </p:tgtEl>
                                            <p:attrNameLst>
                                              <p:attrName>style.visibility</p:attrName>
                                            </p:attrNameLst>
                                          </p:cBhvr>
                                          <p:to>
                                            <p:strVal val="visible"/>
                                          </p:to>
                                        </p:set>
                                        <p:animEffect transition="in" filter="wipe(up)">
                                          <p:cBhvr>
                                            <p:cTn id="85" dur="500"/>
                                            <p:tgtEl>
                                              <p:spTgt spid="16">
                                                <p:txEl>
                                                  <p:pRg st="4" end="4"/>
                                                </p:txEl>
                                              </p:spTgt>
                                            </p:tgtEl>
                                          </p:cBhvr>
                                        </p:animEffect>
                                      </p:childTnLst>
                                    </p:cTn>
                                  </p:par>
                                  <p:par>
                                    <p:cTn id="86" presetID="2" presetClass="entr" presetSubtype="1" fill="hold" grpId="0" nodeType="withEffect" p14:presetBounceEnd="81000">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14:bounceEnd="81000">
                                          <p:cBhvr additive="base">
                                            <p:cTn id="88"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89" dur="1000" fill="hold"/>
                                            <p:tgtEl>
                                              <p:spTgt spid="28"/>
                                            </p:tgtEl>
                                            <p:attrNameLst>
                                              <p:attrName>ppt_y</p:attrName>
                                            </p:attrNameLst>
                                          </p:cBhvr>
                                          <p:tavLst>
                                            <p:tav tm="0">
                                              <p:val>
                                                <p:strVal val="0-#ppt_h/2"/>
                                              </p:val>
                                            </p:tav>
                                            <p:tav tm="100000">
                                              <p:val>
                                                <p:strVal val="#ppt_y"/>
                                              </p:val>
                                            </p:tav>
                                          </p:tavLst>
                                        </p:anim>
                                      </p:childTnLst>
                                    </p:cTn>
                                  </p:par>
                                </p:childTnLst>
                              </p:cTn>
                            </p:par>
                            <p:par>
                              <p:cTn id="90" fill="hold">
                                <p:stCondLst>
                                  <p:cond delay="7000"/>
                                </p:stCondLst>
                                <p:childTnLst>
                                  <p:par>
                                    <p:cTn id="91" presetID="22" presetClass="entr" presetSubtype="8" fill="hold" nodeType="after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autoUpdateAnimBg="0"/>
          <p:bldP spid="17" grpId="0" animBg="1"/>
          <p:bldP spid="17" grpId="1" animBg="1"/>
          <p:bldP spid="18" grpId="0" animBg="1"/>
          <p:bldP spid="18" grpId="1" animBg="1"/>
          <p:bldP spid="19" grpId="0"/>
          <p:bldP spid="20" grpId="0"/>
          <p:bldP spid="21"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31"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300" fill="hold"/>
                                            <p:tgtEl>
                                              <p:spTgt spid="13"/>
                                            </p:tgtEl>
                                            <p:attrNameLst>
                                              <p:attrName>ppt_w</p:attrName>
                                            </p:attrNameLst>
                                          </p:cBhvr>
                                          <p:tavLst>
                                            <p:tav tm="0">
                                              <p:val>
                                                <p:fltVal val="0"/>
                                              </p:val>
                                            </p:tav>
                                            <p:tav tm="100000">
                                              <p:val>
                                                <p:strVal val="#ppt_w"/>
                                              </p:val>
                                            </p:tav>
                                          </p:tavLst>
                                        </p:anim>
                                        <p:anim calcmode="lin" valueType="num">
                                          <p:cBhvr>
                                            <p:cTn id="20" dur="300" fill="hold"/>
                                            <p:tgtEl>
                                              <p:spTgt spid="13"/>
                                            </p:tgtEl>
                                            <p:attrNameLst>
                                              <p:attrName>ppt_h</p:attrName>
                                            </p:attrNameLst>
                                          </p:cBhvr>
                                          <p:tavLst>
                                            <p:tav tm="0">
                                              <p:val>
                                                <p:fltVal val="0"/>
                                              </p:val>
                                            </p:tav>
                                            <p:tav tm="100000">
                                              <p:val>
                                                <p:strVal val="#ppt_h"/>
                                              </p:val>
                                            </p:tav>
                                          </p:tavLst>
                                        </p:anim>
                                        <p:anim calcmode="lin" valueType="num">
                                          <p:cBhvr>
                                            <p:cTn id="21" dur="300" fill="hold"/>
                                            <p:tgtEl>
                                              <p:spTgt spid="13"/>
                                            </p:tgtEl>
                                            <p:attrNameLst>
                                              <p:attrName>style.rotation</p:attrName>
                                            </p:attrNameLst>
                                          </p:cBhvr>
                                          <p:tavLst>
                                            <p:tav tm="0">
                                              <p:val>
                                                <p:fltVal val="90"/>
                                              </p:val>
                                            </p:tav>
                                            <p:tav tm="100000">
                                              <p:val>
                                                <p:fltVal val="0"/>
                                              </p:val>
                                            </p:tav>
                                          </p:tavLst>
                                        </p:anim>
                                        <p:animEffect transition="in" filter="fade">
                                          <p:cBhvr>
                                            <p:cTn id="22" dur="300"/>
                                            <p:tgtEl>
                                              <p:spTgt spid="13"/>
                                            </p:tgtEl>
                                          </p:cBhvr>
                                        </p:animEffect>
                                      </p:childTnLst>
                                    </p:cTn>
                                  </p:par>
                                </p:childTnLst>
                              </p:cTn>
                            </p:par>
                            <p:par>
                              <p:cTn id="23" fill="hold">
                                <p:stCondLst>
                                  <p:cond delay="2000"/>
                                </p:stCondLst>
                                <p:childTnLst>
                                  <p:par>
                                    <p:cTn id="24" presetID="53" presetClass="entr" presetSubtype="1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31"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300" fill="hold"/>
                                            <p:tgtEl>
                                              <p:spTgt spid="14"/>
                                            </p:tgtEl>
                                            <p:attrNameLst>
                                              <p:attrName>ppt_w</p:attrName>
                                            </p:attrNameLst>
                                          </p:cBhvr>
                                          <p:tavLst>
                                            <p:tav tm="0">
                                              <p:val>
                                                <p:fltVal val="0"/>
                                              </p:val>
                                            </p:tav>
                                            <p:tav tm="100000">
                                              <p:val>
                                                <p:strVal val="#ppt_w"/>
                                              </p:val>
                                            </p:tav>
                                          </p:tavLst>
                                        </p:anim>
                                        <p:anim calcmode="lin" valueType="num">
                                          <p:cBhvr>
                                            <p:cTn id="38" dur="300" fill="hold"/>
                                            <p:tgtEl>
                                              <p:spTgt spid="14"/>
                                            </p:tgtEl>
                                            <p:attrNameLst>
                                              <p:attrName>ppt_h</p:attrName>
                                            </p:attrNameLst>
                                          </p:cBhvr>
                                          <p:tavLst>
                                            <p:tav tm="0">
                                              <p:val>
                                                <p:fltVal val="0"/>
                                              </p:val>
                                            </p:tav>
                                            <p:tav tm="100000">
                                              <p:val>
                                                <p:strVal val="#ppt_h"/>
                                              </p:val>
                                            </p:tav>
                                          </p:tavLst>
                                        </p:anim>
                                        <p:anim calcmode="lin" valueType="num">
                                          <p:cBhvr>
                                            <p:cTn id="39" dur="300" fill="hold"/>
                                            <p:tgtEl>
                                              <p:spTgt spid="14"/>
                                            </p:tgtEl>
                                            <p:attrNameLst>
                                              <p:attrName>style.rotation</p:attrName>
                                            </p:attrNameLst>
                                          </p:cBhvr>
                                          <p:tavLst>
                                            <p:tav tm="0">
                                              <p:val>
                                                <p:fltVal val="90"/>
                                              </p:val>
                                            </p:tav>
                                            <p:tav tm="100000">
                                              <p:val>
                                                <p:fltVal val="0"/>
                                              </p:val>
                                            </p:tav>
                                          </p:tavLst>
                                        </p:anim>
                                        <p:animEffect transition="in" filter="fade">
                                          <p:cBhvr>
                                            <p:cTn id="40" dur="300"/>
                                            <p:tgtEl>
                                              <p:spTgt spid="14"/>
                                            </p:tgtEl>
                                          </p:cBhvr>
                                        </p:animEffect>
                                      </p:childTnLst>
                                    </p:cTn>
                                  </p:par>
                                </p:childTnLst>
                              </p:cTn>
                            </p:par>
                            <p:par>
                              <p:cTn id="41" fill="hold">
                                <p:stCondLst>
                                  <p:cond delay="3000"/>
                                </p:stCondLst>
                                <p:childTnLst>
                                  <p:par>
                                    <p:cTn id="42" presetID="53" presetClass="entr" presetSubtype="16"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par>
                                    <p:cTn id="47" presetID="42" presetClass="entr" presetSubtype="0" fill="hold" grpId="0" nodeType="withEffect">
                                      <p:stCondLst>
                                        <p:cond delay="4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childTnLst>
                              </p:cTn>
                            </p:par>
                            <p:par>
                              <p:cTn id="52" fill="hold">
                                <p:stCondLst>
                                  <p:cond delay="3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35" presetClass="path" presetSubtype="0" accel="50000" decel="50000" fill="hold" grpId="1" nodeType="withEffect">
                                      <p:stCondLst>
                                        <p:cond delay="0"/>
                                      </p:stCondLst>
                                      <p:childTnLst>
                                        <p:animMotion origin="layout" path="M -3.56836E-6 -3.7037E-7 L 0.36686 0.15278 " pathEditMode="relative" rAng="0" ptsTypes="AA">
                                          <p:cBhvr>
                                            <p:cTn id="56" dur="500" spd="-99900" fill="hold"/>
                                            <p:tgtEl>
                                              <p:spTgt spid="17"/>
                                            </p:tgtEl>
                                            <p:attrNameLst>
                                              <p:attrName>ppt_x</p:attrName>
                                              <p:attrName>ppt_y</p:attrName>
                                            </p:attrNameLst>
                                          </p:cBhvr>
                                          <p:rCtr x="18343" y="7639"/>
                                        </p:animMotion>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35" presetClass="path" presetSubtype="0" accel="50000" decel="50000" fill="hold" grpId="1" nodeType="withEffect">
                                      <p:stCondLst>
                                        <p:cond delay="0"/>
                                      </p:stCondLst>
                                      <p:childTnLst>
                                        <p:animMotion origin="layout" path="M 7.85742E-7 -3.33333E-6 L -0.39495 -0.11018 " pathEditMode="relative" rAng="0" ptsTypes="AA">
                                          <p:cBhvr>
                                            <p:cTn id="60" dur="500" spd="-99900" fill="hold"/>
                                            <p:tgtEl>
                                              <p:spTgt spid="18"/>
                                            </p:tgtEl>
                                            <p:attrNameLst>
                                              <p:attrName>ppt_x</p:attrName>
                                              <p:attrName>ppt_y</p:attrName>
                                            </p:attrNameLst>
                                          </p:cBhvr>
                                          <p:rCtr x="-19748" y="-5509"/>
                                        </p:animMotion>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Effect transition="in" filter="fade">
                                          <p:cBhvr>
                                            <p:cTn id="65" dur="500"/>
                                            <p:tgtEl>
                                              <p:spTgt spid="15"/>
                                            </p:tgtEl>
                                          </p:cBhvr>
                                        </p:animEffect>
                                      </p:childTnLst>
                                    </p:cTn>
                                  </p:par>
                                </p:childTnLst>
                              </p:cTn>
                            </p:par>
                            <p:par>
                              <p:cTn id="66" fill="hold">
                                <p:stCondLst>
                                  <p:cond delay="4000"/>
                                </p:stCondLst>
                                <p:childTnLst>
                                  <p:par>
                                    <p:cTn id="67" presetID="22" presetClass="entr" presetSubtype="1" fill="hold" nodeType="afterEffect">
                                      <p:stCondLst>
                                        <p:cond delay="0"/>
                                      </p:stCondLst>
                                      <p:childTnLst>
                                        <p:set>
                                          <p:cBhvr>
                                            <p:cTn id="68" dur="1" fill="hold">
                                              <p:stCondLst>
                                                <p:cond delay="0"/>
                                              </p:stCondLst>
                                            </p:cTn>
                                            <p:tgtEl>
                                              <p:spTgt spid="16">
                                                <p:txEl>
                                                  <p:pRg st="0" end="0"/>
                                                </p:txEl>
                                              </p:spTgt>
                                            </p:tgtEl>
                                            <p:attrNameLst>
                                              <p:attrName>style.visibility</p:attrName>
                                            </p:attrNameLst>
                                          </p:cBhvr>
                                          <p:to>
                                            <p:strVal val="visible"/>
                                          </p:to>
                                        </p:set>
                                        <p:animEffect transition="in" filter="wipe(up)">
                                          <p:cBhvr>
                                            <p:cTn id="69" dur="500"/>
                                            <p:tgtEl>
                                              <p:spTgt spid="16">
                                                <p:txEl>
                                                  <p:pRg st="0" end="0"/>
                                                </p:txEl>
                                              </p:spTgt>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16">
                                                <p:txEl>
                                                  <p:pRg st="1" end="1"/>
                                                </p:txEl>
                                              </p:spTgt>
                                            </p:tgtEl>
                                            <p:attrNameLst>
                                              <p:attrName>style.visibility</p:attrName>
                                            </p:attrNameLst>
                                          </p:cBhvr>
                                          <p:to>
                                            <p:strVal val="visible"/>
                                          </p:to>
                                        </p:set>
                                        <p:animEffect transition="in" filter="wipe(up)">
                                          <p:cBhvr>
                                            <p:cTn id="73" dur="500"/>
                                            <p:tgtEl>
                                              <p:spTgt spid="16">
                                                <p:txEl>
                                                  <p:pRg st="1" end="1"/>
                                                </p:txEl>
                                              </p:spTgt>
                                            </p:tgtEl>
                                          </p:cBhvr>
                                        </p:animEffect>
                                      </p:childTnLst>
                                    </p:cTn>
                                  </p:par>
                                </p:childTnLst>
                              </p:cTn>
                            </p:par>
                            <p:par>
                              <p:cTn id="74" fill="hold">
                                <p:stCondLst>
                                  <p:cond delay="5000"/>
                                </p:stCondLst>
                                <p:childTnLst>
                                  <p:par>
                                    <p:cTn id="75" presetID="22" presetClass="entr" presetSubtype="1" fill="hold" nodeType="afterEffect">
                                      <p:stCondLst>
                                        <p:cond delay="0"/>
                                      </p:stCondLst>
                                      <p:childTnLst>
                                        <p:set>
                                          <p:cBhvr>
                                            <p:cTn id="76" dur="1" fill="hold">
                                              <p:stCondLst>
                                                <p:cond delay="0"/>
                                              </p:stCondLst>
                                            </p:cTn>
                                            <p:tgtEl>
                                              <p:spTgt spid="16">
                                                <p:txEl>
                                                  <p:pRg st="2" end="2"/>
                                                </p:txEl>
                                              </p:spTgt>
                                            </p:tgtEl>
                                            <p:attrNameLst>
                                              <p:attrName>style.visibility</p:attrName>
                                            </p:attrNameLst>
                                          </p:cBhvr>
                                          <p:to>
                                            <p:strVal val="visible"/>
                                          </p:to>
                                        </p:set>
                                        <p:animEffect transition="in" filter="wipe(up)">
                                          <p:cBhvr>
                                            <p:cTn id="77" dur="500"/>
                                            <p:tgtEl>
                                              <p:spTgt spid="16">
                                                <p:txEl>
                                                  <p:pRg st="2" end="2"/>
                                                </p:txEl>
                                              </p:spTgt>
                                            </p:tgtEl>
                                          </p:cBhvr>
                                        </p:animEffect>
                                      </p:childTnLst>
                                    </p:cTn>
                                  </p:par>
                                </p:childTnLst>
                              </p:cTn>
                            </p:par>
                            <p:par>
                              <p:cTn id="78" fill="hold">
                                <p:stCondLst>
                                  <p:cond delay="5500"/>
                                </p:stCondLst>
                                <p:childTnLst>
                                  <p:par>
                                    <p:cTn id="79" presetID="22" presetClass="entr" presetSubtype="1" fill="hold" nodeType="afterEffect">
                                      <p:stCondLst>
                                        <p:cond delay="0"/>
                                      </p:stCondLst>
                                      <p:childTnLst>
                                        <p:set>
                                          <p:cBhvr>
                                            <p:cTn id="80" dur="1" fill="hold">
                                              <p:stCondLst>
                                                <p:cond delay="0"/>
                                              </p:stCondLst>
                                            </p:cTn>
                                            <p:tgtEl>
                                              <p:spTgt spid="16">
                                                <p:txEl>
                                                  <p:pRg st="3" end="3"/>
                                                </p:txEl>
                                              </p:spTgt>
                                            </p:tgtEl>
                                            <p:attrNameLst>
                                              <p:attrName>style.visibility</p:attrName>
                                            </p:attrNameLst>
                                          </p:cBhvr>
                                          <p:to>
                                            <p:strVal val="visible"/>
                                          </p:to>
                                        </p:set>
                                        <p:animEffect transition="in" filter="wipe(up)">
                                          <p:cBhvr>
                                            <p:cTn id="81" dur="500"/>
                                            <p:tgtEl>
                                              <p:spTgt spid="16">
                                                <p:txEl>
                                                  <p:pRg st="3" end="3"/>
                                                </p:txEl>
                                              </p:spTgt>
                                            </p:tgtEl>
                                          </p:cBhvr>
                                        </p:animEffect>
                                      </p:childTnLst>
                                    </p:cTn>
                                  </p:par>
                                </p:childTnLst>
                              </p:cTn>
                            </p:par>
                            <p:par>
                              <p:cTn id="82" fill="hold">
                                <p:stCondLst>
                                  <p:cond delay="6000"/>
                                </p:stCondLst>
                                <p:childTnLst>
                                  <p:par>
                                    <p:cTn id="83" presetID="22" presetClass="entr" presetSubtype="1" fill="hold" nodeType="afterEffect">
                                      <p:stCondLst>
                                        <p:cond delay="0"/>
                                      </p:stCondLst>
                                      <p:childTnLst>
                                        <p:set>
                                          <p:cBhvr>
                                            <p:cTn id="84" dur="1" fill="hold">
                                              <p:stCondLst>
                                                <p:cond delay="0"/>
                                              </p:stCondLst>
                                            </p:cTn>
                                            <p:tgtEl>
                                              <p:spTgt spid="16">
                                                <p:txEl>
                                                  <p:pRg st="4" end="4"/>
                                                </p:txEl>
                                              </p:spTgt>
                                            </p:tgtEl>
                                            <p:attrNameLst>
                                              <p:attrName>style.visibility</p:attrName>
                                            </p:attrNameLst>
                                          </p:cBhvr>
                                          <p:to>
                                            <p:strVal val="visible"/>
                                          </p:to>
                                        </p:set>
                                        <p:animEffect transition="in" filter="wipe(up)">
                                          <p:cBhvr>
                                            <p:cTn id="85" dur="500"/>
                                            <p:tgtEl>
                                              <p:spTgt spid="16">
                                                <p:txEl>
                                                  <p:pRg st="4" end="4"/>
                                                </p:txEl>
                                              </p:spTgt>
                                            </p:tgtEl>
                                          </p:cBhvr>
                                        </p:animEffect>
                                      </p:childTnLst>
                                    </p:cTn>
                                  </p:par>
                                  <p:par>
                                    <p:cTn id="86" presetID="2" presetClass="entr" presetSubtype="1"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1000" fill="hold"/>
                                            <p:tgtEl>
                                              <p:spTgt spid="28"/>
                                            </p:tgtEl>
                                            <p:attrNameLst>
                                              <p:attrName>ppt_x</p:attrName>
                                            </p:attrNameLst>
                                          </p:cBhvr>
                                          <p:tavLst>
                                            <p:tav tm="0">
                                              <p:val>
                                                <p:strVal val="#ppt_x"/>
                                              </p:val>
                                            </p:tav>
                                            <p:tav tm="100000">
                                              <p:val>
                                                <p:strVal val="#ppt_x"/>
                                              </p:val>
                                            </p:tav>
                                          </p:tavLst>
                                        </p:anim>
                                        <p:anim calcmode="lin" valueType="num">
                                          <p:cBhvr additive="base">
                                            <p:cTn id="89" dur="1000" fill="hold"/>
                                            <p:tgtEl>
                                              <p:spTgt spid="28"/>
                                            </p:tgtEl>
                                            <p:attrNameLst>
                                              <p:attrName>ppt_y</p:attrName>
                                            </p:attrNameLst>
                                          </p:cBhvr>
                                          <p:tavLst>
                                            <p:tav tm="0">
                                              <p:val>
                                                <p:strVal val="0-#ppt_h/2"/>
                                              </p:val>
                                            </p:tav>
                                            <p:tav tm="100000">
                                              <p:val>
                                                <p:strVal val="#ppt_y"/>
                                              </p:val>
                                            </p:tav>
                                          </p:tavLst>
                                        </p:anim>
                                      </p:childTnLst>
                                    </p:cTn>
                                  </p:par>
                                </p:childTnLst>
                              </p:cTn>
                            </p:par>
                            <p:par>
                              <p:cTn id="90" fill="hold">
                                <p:stCondLst>
                                  <p:cond delay="7000"/>
                                </p:stCondLst>
                                <p:childTnLst>
                                  <p:par>
                                    <p:cTn id="91" presetID="22" presetClass="entr" presetSubtype="8" fill="hold" nodeType="after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autoUpdateAnimBg="0"/>
          <p:bldP spid="17" grpId="0" animBg="1"/>
          <p:bldP spid="17" grpId="1" animBg="1"/>
          <p:bldP spid="18" grpId="0" animBg="1"/>
          <p:bldP spid="18" grpId="1" animBg="1"/>
          <p:bldP spid="19" grpId="0"/>
          <p:bldP spid="20" grpId="0"/>
          <p:bldP spid="21" grpId="0"/>
          <p:bldP spid="28"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阶段三</a:t>
            </a:r>
            <a:r>
              <a:rPr kumimoji="1" lang="en-US" altLang="zh-CN"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a:t>
            </a:r>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统一后台</a:t>
            </a:r>
            <a:endPar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18928D5-4AB5-4598-BC1A-79B46ADFFD59}"/>
              </a:ext>
            </a:extLst>
          </p:cNvPr>
          <p:cNvSpPr txBox="1"/>
          <p:nvPr/>
        </p:nvSpPr>
        <p:spPr>
          <a:xfrm>
            <a:off x="4440643" y="2199875"/>
            <a:ext cx="3733281"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03</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598D41A6-8E99-4C86-BC05-8B910FF55769}"/>
              </a:ext>
            </a:extLst>
          </p:cNvPr>
          <p:cNvSpPr txBox="1"/>
          <p:nvPr/>
        </p:nvSpPr>
        <p:spPr>
          <a:xfrm>
            <a:off x="3394282" y="3916544"/>
            <a:ext cx="5262979" cy="340221"/>
          </a:xfrm>
          <a:prstGeom prst="rect">
            <a:avLst/>
          </a:prstGeom>
          <a:noFill/>
        </p:spPr>
        <p:txBody>
          <a:bodyPr wrap="square" rtlCol="0">
            <a:spAutoFit/>
          </a:bodyPr>
          <a:lstStyle/>
          <a:p>
            <a:pPr lvl="0" algn="ctr">
              <a:lnSpc>
                <a:spcPct val="150000"/>
              </a:lnSpc>
            </a:pPr>
            <a:r>
              <a:rPr lang="en-US" altLang="zh-CN" sz="1200"/>
              <a:t>Unified admin collaboration</a:t>
            </a:r>
            <a:endParaRPr lang="en" altLang="zh-CN" sz="1200" dirty="0">
              <a:solidFill>
                <a:prstClr val="white">
                  <a:lumMod val="50000"/>
                </a:prst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6648860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barn(outVertical)">
                                      <p:cBhvr>
                                        <p:cTn id="53" dur="500"/>
                                        <p:tgtEl>
                                          <p:spTgt spid="31"/>
                                        </p:tgtEl>
                                      </p:cBhvr>
                                    </p:animEffect>
                                  </p:childTnLst>
                                </p:cTn>
                              </p:par>
                            </p:childTnLst>
                          </p:cTn>
                        </p:par>
                        <p:par>
                          <p:cTn id="54" fill="hold">
                            <p:stCondLst>
                              <p:cond delay="1000"/>
                            </p:stCondLst>
                            <p:childTnLst>
                              <p:par>
                                <p:cTn id="55" presetID="2" presetClass="entr" presetSubtype="4"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31"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71721" y="1456161"/>
            <a:ext cx="710015" cy="771343"/>
            <a:chOff x="3185939" y="1739094"/>
            <a:chExt cx="710200" cy="771543"/>
          </a:xfrm>
        </p:grpSpPr>
        <p:sp>
          <p:nvSpPr>
            <p:cNvPr id="5" name="任意多边形 4"/>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rgbClr val="FF0000"/>
                </a:solidFill>
                <a:latin typeface="微软雅黑" panose="020B0503020204020204" pitchFamily="34" charset="-122"/>
                <a:ea typeface="微软雅黑" panose="020B0503020204020204" pitchFamily="34" charset="-122"/>
              </a:endParaRPr>
            </a:p>
          </p:txBody>
        </p:sp>
        <p:sp>
          <p:nvSpPr>
            <p:cNvPr id="6" name="椭圆 5"/>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7" name="椭圆 6"/>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8"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rgbClr val="FF0000"/>
                </a:solidFill>
                <a:latin typeface="微软雅黑" panose="020B0503020204020204" pitchFamily="34" charset="-122"/>
                <a:ea typeface="微软雅黑" panose="020B0503020204020204" pitchFamily="34" charset="-122"/>
              </a:endParaRPr>
            </a:p>
          </p:txBody>
        </p:sp>
      </p:grpSp>
      <p:sp>
        <p:nvSpPr>
          <p:cNvPr id="9" name="Oval 21"/>
          <p:cNvSpPr/>
          <p:nvPr/>
        </p:nvSpPr>
        <p:spPr>
          <a:xfrm>
            <a:off x="1359839"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3040746"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01</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227825" y="1456161"/>
            <a:ext cx="710015" cy="771343"/>
            <a:chOff x="3185939" y="1739094"/>
            <a:chExt cx="710200" cy="771543"/>
          </a:xfrm>
        </p:grpSpPr>
        <p:sp>
          <p:nvSpPr>
            <p:cNvPr id="22" name="任意多边形 21"/>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6" name="Oval 21"/>
          <p:cNvSpPr/>
          <p:nvPr/>
        </p:nvSpPr>
        <p:spPr>
          <a:xfrm>
            <a:off x="3715943"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28" name="标题 11"/>
          <p:cNvSpPr txBox="1"/>
          <p:nvPr/>
        </p:nvSpPr>
        <p:spPr>
          <a:xfrm>
            <a:off x="5396850"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02</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583930" y="1456161"/>
            <a:ext cx="710015" cy="771343"/>
            <a:chOff x="3185939" y="1739094"/>
            <a:chExt cx="710200" cy="771543"/>
          </a:xfrm>
        </p:grpSpPr>
        <p:sp>
          <p:nvSpPr>
            <p:cNvPr id="39" name="任意多边形 38"/>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椭圆 39"/>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2"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3" name="Oval 21"/>
          <p:cNvSpPr/>
          <p:nvPr/>
        </p:nvSpPr>
        <p:spPr>
          <a:xfrm>
            <a:off x="6072047"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45" name="标题 11"/>
          <p:cNvSpPr txBox="1"/>
          <p:nvPr/>
        </p:nvSpPr>
        <p:spPr>
          <a:xfrm>
            <a:off x="7752954" y="1494437"/>
            <a:ext cx="612119"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03</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55" name="组合 54"/>
          <p:cNvGrpSpPr/>
          <p:nvPr/>
        </p:nvGrpSpPr>
        <p:grpSpPr>
          <a:xfrm>
            <a:off x="9887586" y="1444585"/>
            <a:ext cx="710015" cy="771343"/>
            <a:chOff x="3185939" y="1739094"/>
            <a:chExt cx="710200" cy="771543"/>
          </a:xfrm>
        </p:grpSpPr>
        <p:sp>
          <p:nvSpPr>
            <p:cNvPr id="56" name="任意多边形 55"/>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7" name="椭圆 56"/>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9"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60" name="Oval 21"/>
          <p:cNvSpPr/>
          <p:nvPr/>
        </p:nvSpPr>
        <p:spPr>
          <a:xfrm>
            <a:off x="8375705" y="1899695"/>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62" name="标题 11"/>
          <p:cNvSpPr txBox="1"/>
          <p:nvPr/>
        </p:nvSpPr>
        <p:spPr>
          <a:xfrm>
            <a:off x="10056609" y="1482861"/>
            <a:ext cx="612120"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04</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74" name="组合 73"/>
          <p:cNvGrpSpPr/>
          <p:nvPr/>
        </p:nvGrpSpPr>
        <p:grpSpPr>
          <a:xfrm>
            <a:off x="1286664" y="4352050"/>
            <a:ext cx="2130114" cy="1197716"/>
            <a:chOff x="874712" y="3408258"/>
            <a:chExt cx="2371844" cy="1197716"/>
          </a:xfrm>
        </p:grpSpPr>
        <p:sp>
          <p:nvSpPr>
            <p:cNvPr id="75" name="矩形 74"/>
            <p:cNvSpPr/>
            <p:nvPr/>
          </p:nvSpPr>
          <p:spPr>
            <a:xfrm>
              <a:off x="874712" y="3755869"/>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学生与管理员共用一套登录入口，降低切换成本。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统一登录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3783564" y="4352050"/>
            <a:ext cx="2130114" cy="924240"/>
            <a:chOff x="874712" y="3408258"/>
            <a:chExt cx="2371844" cy="924240"/>
          </a:xfrm>
        </p:grpSpPr>
        <p:sp>
          <p:nvSpPr>
            <p:cNvPr id="78" name="矩形 77"/>
            <p:cNvSpPr/>
            <p:nvPr/>
          </p:nvSpPr>
          <p:spPr>
            <a:xfrm>
              <a:off x="874712" y="3745029"/>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个人资料、账务入口与低碳服务集中展示。</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学生首页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0" name="组合 79"/>
          <p:cNvGrpSpPr/>
          <p:nvPr/>
        </p:nvGrpSpPr>
        <p:grpSpPr>
          <a:xfrm>
            <a:off x="6163831" y="4295218"/>
            <a:ext cx="2130114" cy="986107"/>
            <a:chOff x="847094" y="3408258"/>
            <a:chExt cx="2371844" cy="986107"/>
          </a:xfrm>
        </p:grpSpPr>
        <p:sp>
          <p:nvSpPr>
            <p:cNvPr id="81" name="矩形 80"/>
            <p:cNvSpPr/>
            <p:nvPr/>
          </p:nvSpPr>
          <p:spPr>
            <a:xfrm>
              <a:off x="847094" y="3806896"/>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宿舍管理与餐厅管理在同一后台壳层切换。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统一后台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8563331" y="4352050"/>
            <a:ext cx="2130114" cy="844657"/>
            <a:chOff x="874712" y="3408258"/>
            <a:chExt cx="2371844" cy="844657"/>
          </a:xfrm>
        </p:grpSpPr>
        <p:sp>
          <p:nvSpPr>
            <p:cNvPr id="84" name="矩形 83"/>
            <p:cNvSpPr/>
            <p:nvPr/>
          </p:nvSpPr>
          <p:spPr>
            <a:xfrm>
              <a:off x="874712" y="3806895"/>
              <a:ext cx="2371844" cy="446020"/>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学院碳排汇总、用餐录入、日周月学期年度记录与周期趋势分析。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sp>
          <p:nvSpPr>
            <p:cNvPr id="85" name="矩形 84"/>
            <p:cNvSpPr/>
            <p:nvPr/>
          </p:nvSpPr>
          <p:spPr>
            <a:xfrm>
              <a:off x="874712" y="3408258"/>
              <a:ext cx="2241974" cy="396583"/>
            </a:xfrm>
            <a:prstGeom prst="rect">
              <a:avLst/>
            </a:prstGeom>
          </p:spPr>
          <p:txBody>
            <a:bodyPr wrap="square">
              <a:spAutoFit/>
              <a:scene3d>
                <a:camera prst="orthographicFront"/>
                <a:lightRig rig="threePt" dir="t"/>
              </a:scene3d>
              <a:sp3d contourW="12700"/>
            </a:bodyPr>
            <a:lstStyle/>
            <a:p>
              <a:pPr>
                <a:lnSpc>
                  <a:spcPct val="120000"/>
                </a:lnSpc>
              </a:pPr>
              <a:r>
                <a:rPr lang="zh-CN" altLang="en-US" b="1">
                  <a:solidFill>
                    <a:srgbClr val="1D3D66"/>
                  </a:solidFill>
                  <a:latin typeface="Microsoft YaHei" panose="020B0503020204020204" pitchFamily="34" charset="-122"/>
                  <a:ea typeface="微软雅黑" panose="020B0503020204020204" pitchFamily="34" charset="-122"/>
                </a:rPr>
                <a:t>餐饮模块</a:t>
              </a:r>
              <a:endParaRPr lang="zh-CN" altLang="en-US" b="1" dirty="0">
                <a:solidFill>
                  <a:srgbClr val="1D3D66"/>
                </a:solidFill>
                <a:latin typeface="Microsoft YaHei" panose="020B0503020204020204" pitchFamily="34" charset="-122"/>
                <a:ea typeface="微软雅黑" panose="020B0503020204020204" pitchFamily="34" charset="-122"/>
              </a:endParaRPr>
            </a:p>
          </p:txBody>
        </p:sp>
      </p:grpSp>
      <p:sp>
        <p:nvSpPr>
          <p:cNvPr id="52" name="Text Box 4">
            <a:extLst>
              <a:ext uri="{FF2B5EF4-FFF2-40B4-BE49-F238E27FC236}">
                <a16:creationId xmlns:a16="http://schemas.microsoft.com/office/drawing/2014/main" id="{29A7A92E-FFBF-714B-97D7-92814BFB163C}"/>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阶段三核心界面</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Half Frame 12">
            <a:extLst>
              <a:ext uri="{FF2B5EF4-FFF2-40B4-BE49-F238E27FC236}">
                <a16:creationId xmlns:a16="http://schemas.microsoft.com/office/drawing/2014/main" id="{4CB476A3-49CA-DC4B-89FB-B0C66CF4847B}"/>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1" name="直线连接符 60">
            <a:extLst>
              <a:ext uri="{FF2B5EF4-FFF2-40B4-BE49-F238E27FC236}">
                <a16:creationId xmlns:a16="http://schemas.microsoft.com/office/drawing/2014/main" id="{368ABC77-51B0-1940-B928-22B9F190F7C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6DE869A-6158-CC01-4268-8512B303E0E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47465" y="2098897"/>
            <a:ext cx="1556859" cy="1556859"/>
          </a:xfrm>
          <a:prstGeom prst="rect">
            <a:avLst/>
          </a:prstGeom>
        </p:spPr>
      </p:pic>
      <p:pic>
        <p:nvPicPr>
          <p:cNvPr id="13" name="图片 12">
            <a:extLst>
              <a:ext uri="{FF2B5EF4-FFF2-40B4-BE49-F238E27FC236}">
                <a16:creationId xmlns:a16="http://schemas.microsoft.com/office/drawing/2014/main" id="{F6B7CF2D-61B0-51B1-0140-BB74D877AD5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903569" y="2098897"/>
            <a:ext cx="1556859" cy="1556859"/>
          </a:xfrm>
          <a:prstGeom prst="rect">
            <a:avLst/>
          </a:prstGeom>
        </p:spPr>
      </p:pic>
      <p:pic>
        <p:nvPicPr>
          <p:cNvPr id="15" name="图片 14">
            <a:extLst>
              <a:ext uri="{FF2B5EF4-FFF2-40B4-BE49-F238E27FC236}">
                <a16:creationId xmlns:a16="http://schemas.microsoft.com/office/drawing/2014/main" id="{19A6E948-C063-8AF0-9ED5-0BAB9D39495E}"/>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6259673" y="2098897"/>
            <a:ext cx="1556859" cy="1556859"/>
          </a:xfrm>
          <a:prstGeom prst="rect">
            <a:avLst/>
          </a:prstGeom>
        </p:spPr>
      </p:pic>
      <p:pic>
        <p:nvPicPr>
          <p:cNvPr id="10" name="图片 9">
            <a:extLst>
              <a:ext uri="{FF2B5EF4-FFF2-40B4-BE49-F238E27FC236}">
                <a16:creationId xmlns:a16="http://schemas.microsoft.com/office/drawing/2014/main" id="{10632CB0-1666-61CE-8027-9E725C368BBF}"/>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8563610" y="2087880"/>
            <a:ext cx="1557020" cy="15570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14:presetBounceEnd="81000">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14:bounceEnd="81000">
                                          <p:cBhvr additive="base">
                                            <p:cTn id="83"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1000" fill="hold"/>
                                            <p:tgtEl>
                                              <p:spTgt spid="52"/>
                                            </p:tgtEl>
                                            <p:attrNameLst>
                                              <p:attrName>ppt_x</p:attrName>
                                            </p:attrNameLst>
                                          </p:cBhvr>
                                          <p:tavLst>
                                            <p:tav tm="0">
                                              <p:val>
                                                <p:strVal val="#ppt_x"/>
                                              </p:val>
                                            </p:tav>
                                            <p:tav tm="100000">
                                              <p:val>
                                                <p:strVal val="#ppt_x"/>
                                              </p:val>
                                            </p:tav>
                                          </p:tavLst>
                                        </p:anim>
                                        <p:anim calcmode="lin" valueType="num">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817353" y="3736894"/>
            <a:ext cx="2484641" cy="248464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6" name="椭圆 5"/>
          <p:cNvSpPr/>
          <p:nvPr/>
        </p:nvSpPr>
        <p:spPr>
          <a:xfrm>
            <a:off x="4768911" y="1865172"/>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1</a:t>
            </a:r>
            <a:endParaRPr lang="zh-CN" altLang="en-US" sz="1345" dirty="0">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5345900" y="2169924"/>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8" name="TextBox 22"/>
          <p:cNvSpPr txBox="1"/>
          <p:nvPr/>
        </p:nvSpPr>
        <p:spPr>
          <a:xfrm>
            <a:off x="2056405" y="4772460"/>
            <a:ext cx="2001441" cy="36933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rPr>
              <a:t>后台联动</a:t>
            </a:r>
            <a:endParaRPr lang="en-US" altLang="zh-CN" sz="2400" b="1" dirty="0">
              <a:solidFill>
                <a:schemeClr val="bg1"/>
              </a:solidFill>
            </a:endParaRPr>
          </a:p>
        </p:txBody>
      </p:sp>
      <p:sp>
        <p:nvSpPr>
          <p:cNvPr id="9" name="椭圆 8"/>
          <p:cNvSpPr/>
          <p:nvPr/>
        </p:nvSpPr>
        <p:spPr>
          <a:xfrm>
            <a:off x="1817353" y="1721194"/>
            <a:ext cx="2484641" cy="2484641"/>
          </a:xfrm>
          <a:prstGeom prst="ellipse">
            <a:avLst/>
          </a:prstGeom>
          <a:solidFill>
            <a:schemeClr val="accent1">
              <a:lumMod val="10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latin typeface="微软雅黑" panose="020B0503020204020204" pitchFamily="34" charset="-122"/>
              <a:ea typeface="微软雅黑" panose="020B0503020204020204" pitchFamily="34" charset="-122"/>
            </a:endParaRPr>
          </a:p>
        </p:txBody>
      </p:sp>
      <p:sp>
        <p:nvSpPr>
          <p:cNvPr id="10" name="KSO_Shape"/>
          <p:cNvSpPr/>
          <p:nvPr/>
        </p:nvSpPr>
        <p:spPr bwMode="auto">
          <a:xfrm>
            <a:off x="2221966" y="2429301"/>
            <a:ext cx="1647693" cy="1150640"/>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1345" dirty="0">
              <a:solidFill>
                <a:srgbClr val="FFFFFF"/>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6375171" y="1949394"/>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统一登录壳层</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2" name="椭圆 11"/>
          <p:cNvSpPr/>
          <p:nvPr/>
        </p:nvSpPr>
        <p:spPr>
          <a:xfrm>
            <a:off x="4768912" y="258506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2</a:t>
            </a:r>
            <a:endParaRPr lang="zh-CN" altLang="en-US" sz="1345" dirty="0">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5345901" y="288981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4" name="标题 11"/>
          <p:cNvSpPr txBox="1"/>
          <p:nvPr/>
        </p:nvSpPr>
        <p:spPr>
          <a:xfrm>
            <a:off x="6375173" y="266928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学生首页聚合</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5" name="椭圆 14"/>
          <p:cNvSpPr/>
          <p:nvPr/>
        </p:nvSpPr>
        <p:spPr>
          <a:xfrm>
            <a:off x="4768912" y="3321753"/>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3</a:t>
            </a:r>
            <a:endParaRPr lang="zh-CN" altLang="en-US" sz="1345" dirty="0">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5345901" y="3626505"/>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7" name="标题 11"/>
          <p:cNvSpPr txBox="1"/>
          <p:nvPr/>
        </p:nvSpPr>
        <p:spPr>
          <a:xfrm>
            <a:off x="6375173" y="3405975"/>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宿舍与餐饮后台整合</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18" name="椭圆 17"/>
          <p:cNvSpPr/>
          <p:nvPr/>
        </p:nvSpPr>
        <p:spPr>
          <a:xfrm>
            <a:off x="4768912" y="404164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4</a:t>
            </a:r>
            <a:endParaRPr lang="zh-CN" altLang="en-US" sz="1345"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5345901" y="434639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0" name="标题 11"/>
          <p:cNvSpPr txBox="1"/>
          <p:nvPr/>
        </p:nvSpPr>
        <p:spPr>
          <a:xfrm>
            <a:off x="6375174" y="412586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餐厅总览、记录与趋势分析</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1" name="椭圆 20"/>
          <p:cNvSpPr/>
          <p:nvPr/>
        </p:nvSpPr>
        <p:spPr>
          <a:xfrm>
            <a:off x="4768912" y="4761537"/>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5</a:t>
            </a:r>
            <a:endParaRPr lang="zh-CN" altLang="en-US" sz="1345" dirty="0">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345901" y="5066289"/>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3" name="标题 11"/>
          <p:cNvSpPr txBox="1"/>
          <p:nvPr/>
        </p:nvSpPr>
        <p:spPr>
          <a:xfrm>
            <a:off x="6375173" y="4845761"/>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积分规则、荣誉与扣费闭环</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4" name="椭圆 23"/>
          <p:cNvSpPr/>
          <p:nvPr/>
        </p:nvSpPr>
        <p:spPr>
          <a:xfrm>
            <a:off x="4768912" y="5481431"/>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6</a:t>
            </a:r>
            <a:endParaRPr lang="zh-CN" altLang="en-US" sz="1345" dirty="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5345901" y="5786183"/>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6" name="标题 11"/>
          <p:cNvSpPr txBox="1"/>
          <p:nvPr/>
        </p:nvSpPr>
        <p:spPr>
          <a:xfrm>
            <a:off x="6375174" y="5565653"/>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为移动端直达和统一发布提供入口</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8" name="Text Box 4">
            <a:extLst>
              <a:ext uri="{FF2B5EF4-FFF2-40B4-BE49-F238E27FC236}">
                <a16:creationId xmlns:a16="http://schemas.microsoft.com/office/drawing/2014/main" id="{1A10BB2F-A114-FA4A-B918-550CEA897B2B}"/>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阶段三交付清单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Half Frame 12">
            <a:extLst>
              <a:ext uri="{FF2B5EF4-FFF2-40B4-BE49-F238E27FC236}">
                <a16:creationId xmlns:a16="http://schemas.microsoft.com/office/drawing/2014/main" id="{F9182FFA-C9CD-0448-A10E-0C2F5EF6100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4" name="直线连接符 33">
            <a:extLst>
              <a:ext uri="{FF2B5EF4-FFF2-40B4-BE49-F238E27FC236}">
                <a16:creationId xmlns:a16="http://schemas.microsoft.com/office/drawing/2014/main" id="{814601D5-963F-6F4C-AE3A-CC756A35B20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14:presetBounceEnd="81000">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14:bounceEnd="81000">
                                          <p:cBhvr additive="base">
                                            <p:cTn id="11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cBhvr additive="base">
                                            <p:cTn id="119" dur="1000" fill="hold"/>
                                            <p:tgtEl>
                                              <p:spTgt spid="28"/>
                                            </p:tgtEl>
                                            <p:attrNameLst>
                                              <p:attrName>ppt_x</p:attrName>
                                            </p:attrNameLst>
                                          </p:cBhvr>
                                          <p:tavLst>
                                            <p:tav tm="0">
                                              <p:val>
                                                <p:strVal val="#ppt_x"/>
                                              </p:val>
                                            </p:tav>
                                            <p:tav tm="100000">
                                              <p:val>
                                                <p:strVal val="#ppt_x"/>
                                              </p:val>
                                            </p:tav>
                                          </p:tavLst>
                                        </p:anim>
                                        <p:anim calcmode="lin" valueType="num">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阶段四</a:t>
            </a:r>
            <a:r>
              <a:rPr kumimoji="1" lang="en-US" altLang="zh-CN"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a:t>
            </a:r>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学生体验</a:t>
            </a:r>
            <a:endPar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围绕学生路径，补齐桌面端、移动端与低碳服务的一致体验。</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90712F5-9D0F-48C3-88F6-F504EA8445B7}"/>
              </a:ext>
            </a:extLst>
          </p:cNvPr>
          <p:cNvSpPr txBox="1"/>
          <p:nvPr/>
        </p:nvSpPr>
        <p:spPr>
          <a:xfrm>
            <a:off x="4440644" y="2199875"/>
            <a:ext cx="3715094"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51595365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30131" y="2882371"/>
            <a:ext cx="1285212" cy="1231052"/>
            <a:chOff x="1664154" y="1934950"/>
            <a:chExt cx="963741" cy="897257"/>
          </a:xfrm>
        </p:grpSpPr>
        <p:grpSp>
          <p:nvGrpSpPr>
            <p:cNvPr id="5" name="组合 4"/>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6" name="TextBox 44"/>
            <p:cNvSpPr txBox="1"/>
            <p:nvPr/>
          </p:nvSpPr>
          <p:spPr>
            <a:xfrm>
              <a:off x="1807549" y="2188595"/>
              <a:ext cx="82034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334894" y="2895815"/>
            <a:ext cx="1196553" cy="1231052"/>
            <a:chOff x="3293884" y="1912625"/>
            <a:chExt cx="897259" cy="897258"/>
          </a:xfrm>
        </p:grpSpPr>
        <p:grpSp>
          <p:nvGrpSpPr>
            <p:cNvPr id="10" name="组合 9"/>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椭圆 12"/>
              <p:cNvSpPr/>
              <p:nvPr/>
            </p:nvSpPr>
            <p:spPr>
              <a:xfrm>
                <a:off x="366204" y="734505"/>
                <a:ext cx="3877703" cy="3877691"/>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1" name="TextBox 49"/>
            <p:cNvSpPr txBox="1"/>
            <p:nvPr/>
          </p:nvSpPr>
          <p:spPr>
            <a:xfrm>
              <a:off x="3404406" y="2201081"/>
              <a:ext cx="753231" cy="366443"/>
            </a:xfrm>
            <a:prstGeom prst="rect">
              <a:avLst/>
            </a:prstGeom>
            <a:noFill/>
          </p:spPr>
          <p:txBody>
            <a:bodyPr wrap="square" rtlCol="0">
              <a:spAutoFit/>
            </a:bodyPr>
            <a:lstStyle/>
            <a:p>
              <a:r>
                <a:rPr lang="en-US" altLang="zh-CN" sz="2665" b="1">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6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742604" y="2888462"/>
            <a:ext cx="1256113" cy="1231052"/>
            <a:chOff x="4849324" y="1995712"/>
            <a:chExt cx="941921" cy="897257"/>
          </a:xfrm>
        </p:grpSpPr>
        <p:grpSp>
          <p:nvGrpSpPr>
            <p:cNvPr id="15" name="组合 14"/>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6" name="TextBox 54"/>
            <p:cNvSpPr txBox="1"/>
            <p:nvPr/>
          </p:nvSpPr>
          <p:spPr>
            <a:xfrm>
              <a:off x="4963049" y="2222298"/>
              <a:ext cx="82819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9208332" y="2880438"/>
            <a:ext cx="1268273" cy="1231052"/>
            <a:chOff x="6380261" y="2029113"/>
            <a:chExt cx="951040" cy="897257"/>
          </a:xfrm>
        </p:grpSpPr>
        <p:grpSp>
          <p:nvGrpSpPr>
            <p:cNvPr id="20" name="组合 19"/>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TextBox 59"/>
            <p:cNvSpPr txBox="1"/>
            <p:nvPr/>
          </p:nvSpPr>
          <p:spPr>
            <a:xfrm>
              <a:off x="6501314" y="2303662"/>
              <a:ext cx="829987"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04</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Freeform 8"/>
          <p:cNvSpPr/>
          <p:nvPr/>
        </p:nvSpPr>
        <p:spPr bwMode="auto">
          <a:xfrm rot="18900000">
            <a:off x="1788471" y="3338843"/>
            <a:ext cx="1620740" cy="880972"/>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Freeform 7"/>
          <p:cNvSpPr/>
          <p:nvPr/>
        </p:nvSpPr>
        <p:spPr bwMode="auto">
          <a:xfrm rot="19087048">
            <a:off x="4332980" y="3201498"/>
            <a:ext cx="1583837" cy="107036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Freeform 6"/>
          <p:cNvSpPr/>
          <p:nvPr/>
        </p:nvSpPr>
        <p:spPr bwMode="auto">
          <a:xfrm rot="19290703">
            <a:off x="6653502" y="3013061"/>
            <a:ext cx="1619319" cy="1260987"/>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sp>
        <p:nvSpPr>
          <p:cNvPr id="27" name="Freeform 5"/>
          <p:cNvSpPr/>
          <p:nvPr/>
        </p:nvSpPr>
        <p:spPr bwMode="auto">
          <a:xfrm rot="19810786">
            <a:off x="9052479" y="2751531"/>
            <a:ext cx="1559879" cy="1521925"/>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470119"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29" name="流程图: 可选过程 28"/>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0" name="TextBox 72"/>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学生首页</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4027851" y="1713156"/>
            <a:ext cx="1668139" cy="411324"/>
            <a:chOff x="3477359" y="7989049"/>
            <a:chExt cx="2534423" cy="612407"/>
          </a:xfrm>
          <a:effectLst>
            <a:outerShdw blurRad="203200" dist="114300" dir="5400000" sx="102000" sy="102000" algn="t" rotWithShape="0">
              <a:prstClr val="black">
                <a:alpha val="29000"/>
              </a:prstClr>
            </a:outerShdw>
          </a:effectLst>
        </p:grpSpPr>
        <p:sp>
          <p:nvSpPr>
            <p:cNvPr id="32" name="流程图: 可选过程 31"/>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3" name="TextBox 75"/>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水电账务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6494703"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35" name="流程图: 可选过程 34"/>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6" name="TextBox 78"/>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低碳看板</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9003433" y="1699859"/>
            <a:ext cx="1668139" cy="411324"/>
            <a:chOff x="3477359" y="7989049"/>
            <a:chExt cx="2534423" cy="612407"/>
          </a:xfrm>
          <a:effectLst>
            <a:outerShdw blurRad="203200" dist="114300" dir="5400000" sx="102000" sy="102000" algn="t" rotWithShape="0">
              <a:prstClr val="black">
                <a:alpha val="29000"/>
              </a:prstClr>
            </a:outerShdw>
          </a:effectLst>
        </p:grpSpPr>
        <p:sp>
          <p:nvSpPr>
            <p:cNvPr id="38" name="流程图: 可选过程 37"/>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9" name="TextBox 81"/>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奖励兑换</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40" name="TextBox 83"/>
          <p:cNvSpPr txBox="1"/>
          <p:nvPr/>
        </p:nvSpPr>
        <p:spPr>
          <a:xfrm>
            <a:off x="1489715"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统一承接学生资料、宿舍状态和服务导航。</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TextBox 84"/>
          <p:cNvSpPr txBox="1"/>
          <p:nvPr/>
        </p:nvSpPr>
        <p:spPr>
          <a:xfrm>
            <a:off x="3942583"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展示余额、用量、缴费与历史账单入口。</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TextBox 85"/>
          <p:cNvSpPr txBox="1"/>
          <p:nvPr/>
        </p:nvSpPr>
        <p:spPr>
          <a:xfrm>
            <a:off x="6301552"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把用量、碳排、得分、排名转化为可见结果。</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TextBox 86"/>
          <p:cNvSpPr txBox="1"/>
          <p:nvPr/>
        </p:nvSpPr>
        <p:spPr>
          <a:xfrm>
            <a:off x="8893840"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以积分驱动商品浏览、兑换记录与库存联动。</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Text Box 4">
            <a:extLst>
              <a:ext uri="{FF2B5EF4-FFF2-40B4-BE49-F238E27FC236}">
                <a16:creationId xmlns:a16="http://schemas.microsoft.com/office/drawing/2014/main" id="{050383D1-62F1-CB44-8B7C-6BACBC9DB613}"/>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阶段四能力扩展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5D54B112-BED4-E548-BF73-1CDFA9EEEEB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7DD59470-F0FB-C246-B8A3-99BC18035A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14:presetBounceEnd="81000">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14:bounceEnd="81000">
                                          <p:cBhvr additive="base">
                                            <p:cTn id="78"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cBhvr additive="base">
                                            <p:cTn id="78" dur="1000" fill="hold"/>
                                            <p:tgtEl>
                                              <p:spTgt spid="50"/>
                                            </p:tgtEl>
                                            <p:attrNameLst>
                                              <p:attrName>ppt_x</p:attrName>
                                            </p:attrNameLst>
                                          </p:cBhvr>
                                          <p:tavLst>
                                            <p:tav tm="0">
                                              <p:val>
                                                <p:strVal val="#ppt_x"/>
                                              </p:val>
                                            </p:tav>
                                            <p:tav tm="100000">
                                              <p:val>
                                                <p:strVal val="#ppt_x"/>
                                              </p:val>
                                            </p:tav>
                                          </p:tavLst>
                                        </p:anim>
                                        <p:anim calcmode="lin" valueType="num">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txBox="1"/>
          <p:nvPr/>
        </p:nvSpPr>
        <p:spPr>
          <a:xfrm>
            <a:off x="9192160" y="1702789"/>
            <a:ext cx="1824203" cy="110453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右侧摘要同步展示身份、宿舍和可用服务数量，便于快速判断当前状态。</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TextBox 19"/>
          <p:cNvSpPr txBox="1"/>
          <p:nvPr/>
        </p:nvSpPr>
        <p:spPr>
          <a:xfrm>
            <a:off x="9192160" y="3212957"/>
            <a:ext cx="1824203" cy="849015"/>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页面沿用统一绿色视觉体系，与登录页、后台页保持一致语言。</a:t>
            </a:r>
            <a:endParaRPr lang="en-US" altLang="zh-CN" sz="1400" dirty="0">
              <a:solidFill>
                <a:schemeClr val="tx1">
                  <a:lumMod val="95000"/>
                  <a:lumOff val="5000"/>
                </a:schemeClr>
              </a:solidFill>
            </a:endParaRPr>
          </a:p>
        </p:txBody>
      </p:sp>
      <p:sp>
        <p:nvSpPr>
          <p:cNvPr id="6" name="TextBox 20"/>
          <p:cNvSpPr txBox="1"/>
          <p:nvPr/>
        </p:nvSpPr>
        <p:spPr>
          <a:xfrm>
            <a:off x="9192160" y="4829469"/>
            <a:ext cx="1824203" cy="1104533"/>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后续可继续承接移动端直达页、</a:t>
            </a:r>
            <a:r>
              <a:rPr lang="en-US" altLang="zh-CN" sz="1400">
                <a:solidFill>
                  <a:schemeClr val="tx1">
                    <a:lumMod val="95000"/>
                    <a:lumOff val="5000"/>
                  </a:schemeClr>
                </a:solidFill>
              </a:rPr>
              <a:t>WebView </a:t>
            </a:r>
            <a:r>
              <a:rPr lang="zh-CN" altLang="en-US" sz="1400">
                <a:solidFill>
                  <a:schemeClr val="tx1">
                    <a:lumMod val="95000"/>
                    <a:lumOff val="5000"/>
                  </a:schemeClr>
                </a:solidFill>
              </a:rPr>
              <a:t>链路和更多业务入口。</a:t>
            </a:r>
            <a:endParaRPr lang="en-US" altLang="zh-CN" sz="1400" dirty="0">
              <a:solidFill>
                <a:schemeClr val="tx1">
                  <a:lumMod val="95000"/>
                  <a:lumOff val="5000"/>
                </a:schemeClr>
              </a:solidFill>
            </a:endParaRPr>
          </a:p>
        </p:txBody>
      </p:sp>
      <p:sp>
        <p:nvSpPr>
          <p:cNvPr id="7" name="TextBox 22"/>
          <p:cNvSpPr txBox="1"/>
          <p:nvPr/>
        </p:nvSpPr>
        <p:spPr>
          <a:xfrm>
            <a:off x="654862" y="2158067"/>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学生首页把个人资料、宿舍状态与服务入口收口到同一页面。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668241" y="1497144"/>
            <a:ext cx="1424079" cy="1424079"/>
            <a:chOff x="2492956" y="1106543"/>
            <a:chExt cx="1068059" cy="1068059"/>
          </a:xfrm>
        </p:grpSpPr>
        <p:grpSp>
          <p:nvGrpSpPr>
            <p:cNvPr id="12" name="组合 11"/>
            <p:cNvGrpSpPr/>
            <p:nvPr/>
          </p:nvGrpSpPr>
          <p:grpSpPr>
            <a:xfrm>
              <a:off x="2492956" y="1106543"/>
              <a:ext cx="1068059" cy="1068059"/>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状态摘要</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3" name="TextBox 43"/>
            <p:cNvSpPr txBox="1"/>
            <p:nvPr/>
          </p:nvSpPr>
          <p:spPr>
            <a:xfrm>
              <a:off x="2507080" y="1514942"/>
              <a:ext cx="1053935"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状态摘要</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7690279" y="3138632"/>
            <a:ext cx="1424079" cy="1424079"/>
            <a:chOff x="2509485" y="2337659"/>
            <a:chExt cx="1068059" cy="1068059"/>
          </a:xfrm>
        </p:grpSpPr>
        <p:grpSp>
          <p:nvGrpSpPr>
            <p:cNvPr id="17" name="组合 16"/>
            <p:cNvGrpSpPr/>
            <p:nvPr/>
          </p:nvGrpSpPr>
          <p:grpSpPr>
            <a:xfrm>
              <a:off x="2509485" y="2337659"/>
              <a:ext cx="1068059" cy="1068059"/>
              <a:chOff x="304800" y="673100"/>
              <a:chExt cx="4000500" cy="4000500"/>
            </a:xfrm>
            <a:effectLst>
              <a:outerShdw blurRad="444500" dist="2540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视觉统一</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0" name="椭圆 19"/>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8" name="TextBox 52"/>
            <p:cNvSpPr txBox="1"/>
            <p:nvPr/>
          </p:nvSpPr>
          <p:spPr>
            <a:xfrm>
              <a:off x="2528296" y="2730804"/>
              <a:ext cx="1025937"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视觉统一</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7668242" y="4794902"/>
            <a:ext cx="1434671" cy="1424079"/>
            <a:chOff x="2492957" y="3579862"/>
            <a:chExt cx="1076003" cy="1068059"/>
          </a:xfrm>
        </p:grpSpPr>
        <p:grpSp>
          <p:nvGrpSpPr>
            <p:cNvPr id="22" name="组合 21"/>
            <p:cNvGrpSpPr/>
            <p:nvPr/>
          </p:nvGrpSpPr>
          <p:grpSpPr>
            <a:xfrm>
              <a:off x="2495829" y="3579862"/>
              <a:ext cx="1068059" cy="1068059"/>
              <a:chOff x="304800" y="673100"/>
              <a:chExt cx="4000500" cy="4000500"/>
            </a:xfrm>
            <a:effectLst>
              <a:outerShdw blurRad="444500" dist="254000" dir="8100000" algn="tr" rotWithShape="0">
                <a:prstClr val="black">
                  <a:alpha val="50000"/>
                </a:prstClr>
              </a:outerShdw>
            </a:effectLst>
          </p:grpSpPr>
          <p:sp>
            <p:nvSpPr>
              <p:cNvPr id="24" name="同心圆 2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链路扩展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5" name="椭圆 2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23" name="TextBox 56"/>
            <p:cNvSpPr txBox="1"/>
            <p:nvPr/>
          </p:nvSpPr>
          <p:spPr>
            <a:xfrm>
              <a:off x="2492957" y="3979274"/>
              <a:ext cx="1076003"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链路扩展</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4847861" y="2776753"/>
            <a:ext cx="1944032" cy="1944032"/>
            <a:chOff x="304800" y="673100"/>
            <a:chExt cx="4000500" cy="4000500"/>
          </a:xfrm>
          <a:effectLst>
            <a:outerShdw blurRad="444500" dist="254000" dir="8100000" algn="tr" rotWithShape="0">
              <a:prstClr val="black">
                <a:alpha val="50000"/>
              </a:prstClr>
            </a:outerShdw>
          </a:effectLst>
        </p:grpSpPr>
        <p:sp>
          <p:nvSpPr>
            <p:cNvPr id="29" name="同心圆 2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0" name="椭圆 2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1806989" y="1485994"/>
            <a:ext cx="1808523" cy="576715"/>
            <a:chOff x="814328" y="3219334"/>
            <a:chExt cx="1356392" cy="432536"/>
          </a:xfrm>
        </p:grpSpPr>
        <p:grpSp>
          <p:nvGrpSpPr>
            <p:cNvPr id="32" name="组合 31"/>
            <p:cNvGrpSpPr/>
            <p:nvPr/>
          </p:nvGrpSpPr>
          <p:grpSpPr>
            <a:xfrm>
              <a:off x="814328" y="3219334"/>
              <a:ext cx="1356392" cy="432536"/>
              <a:chOff x="2173927" y="3285519"/>
              <a:chExt cx="1721136" cy="548848"/>
            </a:xfrm>
          </p:grpSpPr>
          <p:grpSp>
            <p:nvGrpSpPr>
              <p:cNvPr id="34" name="组合 33"/>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36" name="圆角矩形 35"/>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35" name="椭圆 34"/>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33" name="TextBox 75"/>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统一导航</a:t>
              </a:r>
              <a:endParaRPr lang="zh-CN" altLang="en-US" sz="2000" dirty="0">
                <a:solidFill>
                  <a:schemeClr val="accent1">
                    <a:lumMod val="100000"/>
                  </a:schemeClr>
                </a:solidFill>
              </a:endParaRPr>
            </a:p>
          </p:txBody>
        </p:sp>
      </p:grpSp>
      <p:sp>
        <p:nvSpPr>
          <p:cNvPr id="38" name="TextBox 81"/>
          <p:cNvSpPr txBox="1"/>
          <p:nvPr/>
        </p:nvSpPr>
        <p:spPr>
          <a:xfrm>
            <a:off x="654862" y="3886259"/>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水电与账单入口集中展示，减少在不同页面间反复跳转。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TextBox 82"/>
          <p:cNvSpPr txBox="1"/>
          <p:nvPr/>
        </p:nvSpPr>
        <p:spPr>
          <a:xfrm>
            <a:off x="654862" y="5518441"/>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积分、规则与奖励兑换并列呈现，形成可见的低碳激励闭环。</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806989" y="3130101"/>
            <a:ext cx="1808523" cy="576715"/>
            <a:chOff x="814328" y="3219334"/>
            <a:chExt cx="1356392" cy="432536"/>
          </a:xfrm>
        </p:grpSpPr>
        <p:grpSp>
          <p:nvGrpSpPr>
            <p:cNvPr id="41" name="组合 40"/>
            <p:cNvGrpSpPr/>
            <p:nvPr/>
          </p:nvGrpSpPr>
          <p:grpSpPr>
            <a:xfrm>
              <a:off x="814328" y="3219334"/>
              <a:ext cx="1356392" cy="432536"/>
              <a:chOff x="2173927" y="3285519"/>
              <a:chExt cx="1721136" cy="548848"/>
            </a:xfrm>
          </p:grpSpPr>
          <p:grpSp>
            <p:nvGrpSpPr>
              <p:cNvPr id="43" name="组合 42"/>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45" name="圆角矩形 4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4" name="椭圆 43"/>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2" name="TextBox 86"/>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账务清晰</a:t>
              </a:r>
              <a:endParaRPr lang="zh-CN" altLang="en-US" sz="2000" dirty="0">
                <a:solidFill>
                  <a:schemeClr val="accent1">
                    <a:lumMod val="100000"/>
                  </a:schemeClr>
                </a:solidFill>
              </a:endParaRPr>
            </a:p>
          </p:txBody>
        </p:sp>
      </p:grpSp>
      <p:grpSp>
        <p:nvGrpSpPr>
          <p:cNvPr id="47" name="组合 46"/>
          <p:cNvGrpSpPr/>
          <p:nvPr/>
        </p:nvGrpSpPr>
        <p:grpSpPr>
          <a:xfrm>
            <a:off x="1806988" y="4759497"/>
            <a:ext cx="1808523" cy="576715"/>
            <a:chOff x="814328" y="3219334"/>
            <a:chExt cx="1356392" cy="432536"/>
          </a:xfrm>
        </p:grpSpPr>
        <p:grpSp>
          <p:nvGrpSpPr>
            <p:cNvPr id="48" name="组合 47"/>
            <p:cNvGrpSpPr/>
            <p:nvPr/>
          </p:nvGrpSpPr>
          <p:grpSpPr>
            <a:xfrm>
              <a:off x="814328" y="3219334"/>
              <a:ext cx="1356392" cy="432536"/>
              <a:chOff x="2173927" y="3285519"/>
              <a:chExt cx="1721136" cy="548848"/>
            </a:xfrm>
          </p:grpSpPr>
          <p:grpSp>
            <p:nvGrpSpPr>
              <p:cNvPr id="50" name="组合 49"/>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52" name="圆角矩形 51"/>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51" name="椭圆 50"/>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9" name="TextBox 93"/>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低碳可视</a:t>
              </a:r>
              <a:endParaRPr lang="zh-CN" altLang="en-US" sz="2000" dirty="0">
                <a:solidFill>
                  <a:schemeClr val="accent1">
                    <a:lumMod val="100000"/>
                  </a:schemeClr>
                </a:solidFill>
              </a:endParaRPr>
            </a:p>
          </p:txBody>
        </p:sp>
      </p:grpSp>
      <p:sp>
        <p:nvSpPr>
          <p:cNvPr id="55" name="Text Box 4">
            <a:extLst>
              <a:ext uri="{FF2B5EF4-FFF2-40B4-BE49-F238E27FC236}">
                <a16:creationId xmlns:a16="http://schemas.microsoft.com/office/drawing/2014/main" id="{41ED4A05-D737-1B47-9E24-71785C9E98D9}"/>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阶段四页面截图</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1" name="Half Frame 12">
            <a:extLst>
              <a:ext uri="{FF2B5EF4-FFF2-40B4-BE49-F238E27FC236}">
                <a16:creationId xmlns:a16="http://schemas.microsoft.com/office/drawing/2014/main" id="{0EFA1DC1-DC92-344F-BFC1-F7D70FD9C05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2" name="直线连接符 61">
            <a:extLst>
              <a:ext uri="{FF2B5EF4-FFF2-40B4-BE49-F238E27FC236}">
                <a16:creationId xmlns:a16="http://schemas.microsoft.com/office/drawing/2014/main" id="{129FC603-7376-A746-8140-50C8CDED2D7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6" name="Isosceles Triangle 15">
            <a:extLst>
              <a:ext uri="{FF2B5EF4-FFF2-40B4-BE49-F238E27FC236}">
                <a16:creationId xmlns:a16="http://schemas.microsoft.com/office/drawing/2014/main" id="{B07BA495-EEE5-4C6E-ABD9-00FA54E4C666}"/>
              </a:ext>
            </a:extLst>
          </p:cNvPr>
          <p:cNvSpPr/>
          <p:nvPr/>
        </p:nvSpPr>
        <p:spPr>
          <a:xfrm rot="3520175">
            <a:off x="7147633" y="2223558"/>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7" name="Isosceles Triangle 15">
            <a:extLst>
              <a:ext uri="{FF2B5EF4-FFF2-40B4-BE49-F238E27FC236}">
                <a16:creationId xmlns:a16="http://schemas.microsoft.com/office/drawing/2014/main" id="{79A270AE-84AF-49DD-A7B8-06AECA2FB87E}"/>
              </a:ext>
            </a:extLst>
          </p:cNvPr>
          <p:cNvSpPr/>
          <p:nvPr/>
        </p:nvSpPr>
        <p:spPr>
          <a:xfrm rot="5400000">
            <a:off x="7215592" y="3333124"/>
            <a:ext cx="65706" cy="956130"/>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8" name="Isosceles Triangle 15">
            <a:extLst>
              <a:ext uri="{FF2B5EF4-FFF2-40B4-BE49-F238E27FC236}">
                <a16:creationId xmlns:a16="http://schemas.microsoft.com/office/drawing/2014/main" id="{A61F94E3-81B1-4D25-8ECD-735C56067DF0}"/>
              </a:ext>
            </a:extLst>
          </p:cNvPr>
          <p:cNvSpPr/>
          <p:nvPr/>
        </p:nvSpPr>
        <p:spPr>
          <a:xfrm rot="7600209">
            <a:off x="7097514" y="4106453"/>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pic>
        <p:nvPicPr>
          <p:cNvPr id="8" name="图片 7">
            <a:extLst>
              <a:ext uri="{FF2B5EF4-FFF2-40B4-BE49-F238E27FC236}">
                <a16:creationId xmlns:a16="http://schemas.microsoft.com/office/drawing/2014/main" id="{C8A4B17F-0C4D-F26A-6C55-5A79384BA80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041448" y="2970340"/>
            <a:ext cx="1556859" cy="155685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14:presetBounceEnd="81000">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14:bounceEnd="81000">
                                          <p:cBhvr additive="base">
                                            <p:cTn id="59" dur="1000" fill="hold"/>
                                            <p:tgtEl>
                                              <p:spTgt spid="55"/>
                                            </p:tgtEl>
                                            <p:attrNameLst>
                                              <p:attrName>ppt_x</p:attrName>
                                            </p:attrNameLst>
                                          </p:cBhvr>
                                          <p:tavLst>
                                            <p:tav tm="0">
                                              <p:val>
                                                <p:strVal val="#ppt_x"/>
                                              </p:val>
                                            </p:tav>
                                            <p:tav tm="100000">
                                              <p:val>
                                                <p:strVal val="#ppt_x"/>
                                              </p:val>
                                            </p:tav>
                                          </p:tavLst>
                                        </p:anim>
                                        <p:anim calcmode="lin" valueType="num" p14:bounceEnd="81000">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800"/>
                                </p:stCondLst>
                                <p:childTnLst>
                                  <p:par>
                                    <p:cTn id="32" presetID="22" presetClass="entr" presetSubtype="8"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par>
                                    <p:cTn id="35" presetID="22" presetClass="entr" presetSubtype="8"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par>
                                    <p:cTn id="38" presetID="22" presetClass="entr" presetSubtype="8"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300"/>
                                </p:stCondLst>
                                <p:childTnLst>
                                  <p:par>
                                    <p:cTn id="42" presetID="53" presetClass="entr" presetSubtype="16"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par>
                                    <p:cTn id="47" presetID="53" presetClass="entr" presetSubtype="16"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2" presetID="53" presetClass="entr" presetSubtype="16"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childTnLst>
                              </p:cTn>
                            </p:par>
                            <p:par>
                              <p:cTn id="57" fill="hold">
                                <p:stCondLst>
                                  <p:cond delay="3800"/>
                                </p:stCondLst>
                                <p:childTnLst>
                                  <p:par>
                                    <p:cTn id="58" presetID="22" presetClass="entr" presetSubtype="8" fill="hold" grpId="0" nodeType="after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left)">
                                          <p:cBhvr>
                                            <p:cTn id="60" dur="500"/>
                                            <p:tgtEl>
                                              <p:spTgt spid="3"/>
                                            </p:tgtEl>
                                          </p:cBhvr>
                                        </p:animEffect>
                                      </p:childTnLst>
                                    </p:cTn>
                                  </p:par>
                                  <p:par>
                                    <p:cTn id="61" presetID="22" presetClass="entr" presetSubtype="8" fill="hold" grpId="0" nodeType="withEffect">
                                      <p:stCondLst>
                                        <p:cond delay="100"/>
                                      </p:stCondLst>
                                      <p:childTnLst>
                                        <p:set>
                                          <p:cBhvr>
                                            <p:cTn id="62" dur="1" fill="hold">
                                              <p:stCondLst>
                                                <p:cond delay="0"/>
                                              </p:stCondLst>
                                            </p:cTn>
                                            <p:tgtEl>
                                              <p:spTgt spid="5"/>
                                            </p:tgtEl>
                                            <p:attrNameLst>
                                              <p:attrName>style.visibility</p:attrName>
                                            </p:attrNameLst>
                                          </p:cBhvr>
                                          <p:to>
                                            <p:strVal val="visible"/>
                                          </p:to>
                                        </p:set>
                                        <p:animEffect transition="in" filter="wipe(left)">
                                          <p:cBhvr>
                                            <p:cTn id="63" dur="500"/>
                                            <p:tgtEl>
                                              <p:spTgt spid="5"/>
                                            </p:tgtEl>
                                          </p:cBhvr>
                                        </p:animEffect>
                                      </p:childTnLst>
                                    </p:cTn>
                                  </p:par>
                                  <p:par>
                                    <p:cTn id="64" presetID="22" presetClass="entr" presetSubtype="8" fill="hold" grpId="0" nodeType="withEffect">
                                      <p:stCondLst>
                                        <p:cond delay="200"/>
                                      </p:stCondLst>
                                      <p:childTnLst>
                                        <p:set>
                                          <p:cBhvr>
                                            <p:cTn id="65" dur="1" fill="hold">
                                              <p:stCondLst>
                                                <p:cond delay="0"/>
                                              </p:stCondLst>
                                            </p:cTn>
                                            <p:tgtEl>
                                              <p:spTgt spid="6"/>
                                            </p:tgtEl>
                                            <p:attrNameLst>
                                              <p:attrName>style.visibility</p:attrName>
                                            </p:attrNameLst>
                                          </p:cBhvr>
                                          <p:to>
                                            <p:strVal val="visible"/>
                                          </p:to>
                                        </p:set>
                                        <p:animEffect transition="in" filter="wipe(left)">
                                          <p:cBhvr>
                                            <p:cTn id="66" dur="500"/>
                                            <p:tgtEl>
                                              <p:spTgt spid="6"/>
                                            </p:tgtEl>
                                          </p:cBhvr>
                                        </p:animEffect>
                                      </p:childTnLst>
                                    </p:cTn>
                                  </p:par>
                                  <p:par>
                                    <p:cTn id="67" presetID="2" presetClass="entr" presetSubtype="1" fill="hold" grpId="0" nodeType="withEffect">
                                      <p:stCondLst>
                                        <p:cond delay="0"/>
                                      </p:stCondLst>
                                      <p:childTnLst>
                                        <p:set>
                                          <p:cBhvr>
                                            <p:cTn id="68" dur="1" fill="hold">
                                              <p:stCondLst>
                                                <p:cond delay="0"/>
                                              </p:stCondLst>
                                            </p:cTn>
                                            <p:tgtEl>
                                              <p:spTgt spid="55"/>
                                            </p:tgtEl>
                                            <p:attrNameLst>
                                              <p:attrName>style.visibility</p:attrName>
                                            </p:attrNameLst>
                                          </p:cBhvr>
                                          <p:to>
                                            <p:strVal val="visible"/>
                                          </p:to>
                                        </p:set>
                                        <p:anim calcmode="lin" valueType="num">
                                          <p:cBhvr additive="base">
                                            <p:cTn id="69" dur="1000" fill="hold"/>
                                            <p:tgtEl>
                                              <p:spTgt spid="55"/>
                                            </p:tgtEl>
                                            <p:attrNameLst>
                                              <p:attrName>ppt_x</p:attrName>
                                            </p:attrNameLst>
                                          </p:cBhvr>
                                          <p:tavLst>
                                            <p:tav tm="0">
                                              <p:val>
                                                <p:strVal val="#ppt_x"/>
                                              </p:val>
                                            </p:tav>
                                            <p:tav tm="100000">
                                              <p:val>
                                                <p:strVal val="#ppt_x"/>
                                              </p:val>
                                            </p:tav>
                                          </p:tavLst>
                                        </p:anim>
                                        <p:anim calcmode="lin" valueType="num">
                                          <p:cBhvr additive="base">
                                            <p:cTn id="70" dur="1000" fill="hold"/>
                                            <p:tgtEl>
                                              <p:spTgt spid="55"/>
                                            </p:tgtEl>
                                            <p:attrNameLst>
                                              <p:attrName>ppt_y</p:attrName>
                                            </p:attrNameLst>
                                          </p:cBhvr>
                                          <p:tavLst>
                                            <p:tav tm="0">
                                              <p:val>
                                                <p:strVal val="0-#ppt_h/2"/>
                                              </p:val>
                                            </p:tav>
                                            <p:tav tm="100000">
                                              <p:val>
                                                <p:strVal val="#ppt_y"/>
                                              </p:val>
                                            </p:tav>
                                          </p:tavLst>
                                        </p:anim>
                                      </p:childTnLst>
                                    </p:cTn>
                                  </p:par>
                                </p:childTnLst>
                              </p:cTn>
                            </p:par>
                            <p:par>
                              <p:cTn id="71" fill="hold">
                                <p:stCondLst>
                                  <p:cond delay="4800"/>
                                </p:stCondLst>
                                <p:childTnLst>
                                  <p:par>
                                    <p:cTn id="72" presetID="22" presetClass="entr" presetSubtype="8" fill="hold" nodeType="after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wipe(left)">
                                          <p:cBhvr>
                                            <p:cTn id="7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阶段五</a:t>
            </a:r>
            <a:r>
              <a:rPr kumimoji="1" lang="en-US" altLang="zh-CN"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a:t>
            </a:r>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发布规范</a:t>
            </a:r>
            <a:endPar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把目录职责、打包产物和风险收口到可维护的交付规范中。</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C435523F-DD49-4C22-B084-A5F92DFA68A3}"/>
              </a:ext>
            </a:extLst>
          </p:cNvPr>
          <p:cNvSpPr txBox="1"/>
          <p:nvPr/>
        </p:nvSpPr>
        <p:spPr>
          <a:xfrm>
            <a:off x="4440643" y="2199875"/>
            <a:ext cx="3656343"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05</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2811402929"/>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barn(outVertical)">
                                      <p:cBhvr>
                                        <p:cTn id="5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7899" y="1796819"/>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809322" y="2088755"/>
            <a:ext cx="828061" cy="828060"/>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Group 41"/>
          <p:cNvGrpSpPr/>
          <p:nvPr/>
        </p:nvGrpSpPr>
        <p:grpSpPr bwMode="auto">
          <a:xfrm>
            <a:off x="3760239" y="2088753"/>
            <a:ext cx="1944228" cy="1066336"/>
            <a:chOff x="0" y="0"/>
            <a:chExt cx="2419" cy="1343"/>
          </a:xfrm>
        </p:grpSpPr>
        <p:sp>
          <p:nvSpPr>
            <p:cNvPr id="1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基础分</a:t>
              </a:r>
              <a:endParaRPr lang="en-US"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1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默认基础分 </a:t>
              </a:r>
              <a:r>
                <a:rPr lang="en-US" altLang="zh-CN" sz="1000">
                  <a:solidFill>
                    <a:srgbClr val="4A4A4A"/>
                  </a:solidFill>
                  <a:latin typeface="Microsoft YaHei" panose="020B0503020204020204" pitchFamily="34" charset="-122"/>
                  <a:ea typeface="微软雅黑" panose="020B0503020204020204" pitchFamily="34" charset="-122"/>
                </a:rPr>
                <a:t>100</a:t>
              </a:r>
              <a:r>
                <a:rPr lang="zh-CN" altLang="en-US" sz="1000">
                  <a:solidFill>
                    <a:srgbClr val="4A4A4A"/>
                  </a:solidFill>
                  <a:latin typeface="Microsoft YaHei" panose="020B0503020204020204" pitchFamily="34" charset="-122"/>
                  <a:ea typeface="微软雅黑" panose="020B0503020204020204" pitchFamily="34" charset="-122"/>
                </a:rPr>
                <a:t>，可按活动周期或运营目标直接调整积分上限。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13" name="Freeform 9"/>
          <p:cNvSpPr>
            <a:spLocks noEditPoints="1"/>
          </p:cNvSpPr>
          <p:nvPr/>
        </p:nvSpPr>
        <p:spPr bwMode="auto">
          <a:xfrm>
            <a:off x="3000648" y="2343079"/>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4" name="组合 13"/>
          <p:cNvGrpSpPr/>
          <p:nvPr/>
        </p:nvGrpSpPr>
        <p:grpSpPr>
          <a:xfrm>
            <a:off x="6384033" y="1796819"/>
            <a:ext cx="3334836" cy="1509992"/>
            <a:chOff x="4304043" y="1286668"/>
            <a:chExt cx="3837944" cy="2757793"/>
          </a:xfrm>
          <a:effectLst>
            <a:outerShdw blurRad="381000" dist="254000" dir="8100000" algn="tr" rotWithShape="0">
              <a:prstClr val="black">
                <a:alpha val="40000"/>
              </a:prstClr>
            </a:outerShdw>
          </a:effectLst>
        </p:grpSpPr>
        <p:sp>
          <p:nvSpPr>
            <p:cNvPr id="15" name="圆角矩形 1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6585455" y="2088755"/>
            <a:ext cx="828061" cy="828060"/>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0" name="Group 41"/>
          <p:cNvGrpSpPr/>
          <p:nvPr/>
        </p:nvGrpSpPr>
        <p:grpSpPr bwMode="auto">
          <a:xfrm>
            <a:off x="7536373" y="2088753"/>
            <a:ext cx="1944228" cy="1066336"/>
            <a:chOff x="0" y="0"/>
            <a:chExt cx="2419" cy="1343"/>
          </a:xfrm>
        </p:grpSpPr>
        <p:sp>
          <p:nvSpPr>
            <p:cNvPr id="2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电碳因子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2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0.785</a:t>
              </a:r>
              <a:r>
                <a:rPr lang="zh-CN" altLang="en-US" sz="1000">
                  <a:solidFill>
                    <a:srgbClr val="4A4A4A"/>
                  </a:solidFill>
                  <a:latin typeface="Microsoft YaHei" panose="020B0503020204020204" pitchFamily="34" charset="-122"/>
                  <a:ea typeface="微软雅黑" panose="020B0503020204020204" pitchFamily="34" charset="-122"/>
                </a:rPr>
                <a:t>，结合电价与电量换算，决定宿舍用电对应的碳排扣减。</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23" name="Freeform 8"/>
          <p:cNvSpPr>
            <a:spLocks noEditPoints="1"/>
          </p:cNvSpPr>
          <p:nvPr/>
        </p:nvSpPr>
        <p:spPr bwMode="auto">
          <a:xfrm>
            <a:off x="6836508" y="2396761"/>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4" name="组合 23"/>
          <p:cNvGrpSpPr/>
          <p:nvPr/>
        </p:nvGrpSpPr>
        <p:grpSpPr>
          <a:xfrm>
            <a:off x="2607899" y="3744152"/>
            <a:ext cx="3334836" cy="1509992"/>
            <a:chOff x="4304043" y="1286668"/>
            <a:chExt cx="3837944" cy="2757793"/>
          </a:xfrm>
          <a:effectLst>
            <a:outerShdw blurRad="381000" dist="254000" dir="8100000" algn="tr" rotWithShape="0">
              <a:prstClr val="black">
                <a:alpha val="40000"/>
              </a:prstClr>
            </a:outerShdw>
          </a:effectLst>
        </p:grpSpPr>
        <p:sp>
          <p:nvSpPr>
            <p:cNvPr id="25" name="圆角矩形 2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2809322" y="4036089"/>
            <a:ext cx="828061" cy="828060"/>
            <a:chOff x="304800" y="673100"/>
            <a:chExt cx="4000500" cy="4000500"/>
          </a:xfrm>
          <a:effectLst>
            <a:outerShdw blurRad="444500" dist="254000" dir="8100000" algn="tr" rotWithShape="0">
              <a:prstClr val="black">
                <a:alpha val="50000"/>
              </a:prstClr>
            </a:outerShdw>
          </a:effectLst>
        </p:grpSpPr>
        <p:sp>
          <p:nvSpPr>
            <p:cNvPr id="28" name="同心圆 2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0" name="Group 41"/>
          <p:cNvGrpSpPr/>
          <p:nvPr/>
        </p:nvGrpSpPr>
        <p:grpSpPr bwMode="auto">
          <a:xfrm>
            <a:off x="3760239" y="4036087"/>
            <a:ext cx="1944228" cy="1066336"/>
            <a:chOff x="0" y="0"/>
            <a:chExt cx="2419" cy="1343"/>
          </a:xfrm>
        </p:grpSpPr>
        <p:sp>
          <p:nvSpPr>
            <p:cNvPr id="3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水碳因子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3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0.91</a:t>
              </a:r>
              <a:r>
                <a:rPr lang="zh-CN" altLang="en-US" sz="1000">
                  <a:solidFill>
                    <a:srgbClr val="4A4A4A"/>
                  </a:solidFill>
                  <a:latin typeface="Microsoft YaHei" panose="020B0503020204020204" pitchFamily="34" charset="-122"/>
                  <a:ea typeface="微软雅黑" panose="020B0503020204020204" pitchFamily="34" charset="-122"/>
                </a:rPr>
                <a:t>，结合水价与水量换算，统一进入低碳积分计算。</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33" name="Freeform 7"/>
          <p:cNvSpPr/>
          <p:nvPr/>
        </p:nvSpPr>
        <p:spPr bwMode="auto">
          <a:xfrm>
            <a:off x="2989981" y="4251580"/>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4" name="组合 33"/>
          <p:cNvGrpSpPr/>
          <p:nvPr/>
        </p:nvGrpSpPr>
        <p:grpSpPr>
          <a:xfrm>
            <a:off x="6385702" y="3744152"/>
            <a:ext cx="3334836" cy="1509992"/>
            <a:chOff x="4304043" y="1286668"/>
            <a:chExt cx="3837944" cy="2757793"/>
          </a:xfrm>
          <a:effectLst>
            <a:outerShdw blurRad="381000" dist="254000" dir="8100000" algn="tr" rotWithShape="0">
              <a:prstClr val="black">
                <a:alpha val="40000"/>
              </a:prstClr>
            </a:outerShdw>
          </a:effectLst>
        </p:grpSpPr>
        <p:sp>
          <p:nvSpPr>
            <p:cNvPr id="35" name="圆角矩形 3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6587124" y="4036089"/>
            <a:ext cx="828061" cy="828060"/>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0" name="Group 41"/>
          <p:cNvGrpSpPr/>
          <p:nvPr/>
        </p:nvGrpSpPr>
        <p:grpSpPr bwMode="auto">
          <a:xfrm>
            <a:off x="7538042" y="4036087"/>
            <a:ext cx="1944228" cy="1066336"/>
            <a:chOff x="0" y="0"/>
            <a:chExt cx="2419" cy="1343"/>
          </a:xfrm>
        </p:grpSpPr>
        <p:sp>
          <p:nvSpPr>
            <p:cNvPr id="4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扣分与荣誉</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4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碳排扣分系数默认 </a:t>
              </a:r>
              <a:r>
                <a:rPr lang="en-US" altLang="zh-CN" sz="1000">
                  <a:solidFill>
                    <a:srgbClr val="4A4A4A"/>
                  </a:solidFill>
                  <a:latin typeface="Microsoft YaHei" panose="020B0503020204020204" pitchFamily="34" charset="-122"/>
                  <a:ea typeface="微软雅黑" panose="020B0503020204020204" pitchFamily="34" charset="-122"/>
                </a:rPr>
                <a:t>1</a:t>
              </a:r>
              <a:r>
                <a:rPr lang="zh-CN" altLang="en-US" sz="1000">
                  <a:solidFill>
                    <a:srgbClr val="4A4A4A"/>
                  </a:solidFill>
                  <a:latin typeface="Microsoft YaHei" panose="020B0503020204020204" pitchFamily="34" charset="-122"/>
                  <a:ea typeface="微软雅黑" panose="020B0503020204020204" pitchFamily="34" charset="-122"/>
                </a:rPr>
                <a:t>，同时支持周</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月、楼栋</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学院</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全校荣誉规则动态配置。</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43" name="Freeform 6"/>
          <p:cNvSpPr>
            <a:spLocks noEditPoints="1"/>
          </p:cNvSpPr>
          <p:nvPr/>
        </p:nvSpPr>
        <p:spPr bwMode="auto">
          <a:xfrm>
            <a:off x="6840927" y="4280226"/>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0" name="Text Box 4">
            <a:extLst>
              <a:ext uri="{FF2B5EF4-FFF2-40B4-BE49-F238E27FC236}">
                <a16:creationId xmlns:a16="http://schemas.microsoft.com/office/drawing/2014/main" id="{A84F8A1F-776B-4F48-A92E-8975C1FA9CCD}"/>
              </a:ext>
            </a:extLst>
          </p:cNvPr>
          <p:cNvSpPr txBox="1">
            <a:spLocks noChangeArrowheads="1"/>
          </p:cNvSpPr>
          <p:nvPr/>
        </p:nvSpPr>
        <p:spPr bwMode="auto">
          <a:xfrm>
            <a:off x="781532" y="270516"/>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400" b="1">
                <a:solidFill>
                  <a:srgbClr val="1D3D66"/>
                </a:solidFill>
                <a:latin typeface="Microsoft YaHei" panose="020B0503020204020204" pitchFamily="34" charset="-122"/>
                <a:ea typeface="微软雅黑" panose="020B0503020204020204" pitchFamily="34" charset="-122"/>
              </a:rPr>
              <a:t>积分规则动态调节</a:t>
            </a:r>
            <a:endParaRPr lang="en-US" altLang="zh-CN" sz="2400" b="1" dirty="0">
              <a:solidFill>
                <a:srgbClr val="1D3D66"/>
              </a:solidFill>
              <a:latin typeface="Microsoft YaHei"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C5F69CE6-C4FA-0347-BE91-F7C44BF0F572}"/>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43F1C61-E48D-1C46-B718-D0BBB7737B9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RuleFormulaBox">
            <a:extLst>
              <a:ext uri="{FF2B5EF4-FFF2-40B4-BE49-F238E27FC236}">
                <a16:creationId xmlns:a16="http://schemas.microsoft.com/office/drawing/2014/main" id="{4D0113E0-0D60-E08B-CCEC-9D768C9DBB8D}"/>
              </a:ext>
            </a:extLst>
          </p:cNvPr>
          <p:cNvSpPr/>
          <p:nvPr/>
        </p:nvSpPr>
        <p:spPr>
          <a:xfrm>
            <a:off x="1778000" y="5562600"/>
            <a:ext cx="8382000" cy="787400"/>
          </a:xfrm>
          <a:prstGeom prst="rect">
            <a:avLst/>
          </a:prstGeom>
          <a:solidFill>
            <a:srgbClr val="F3F7FB"/>
          </a:solidFill>
          <a:ln>
            <a:solidFill>
              <a:srgbClr val="D6E3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uleFormulaText">
            <a:extLst>
              <a:ext uri="{FF2B5EF4-FFF2-40B4-BE49-F238E27FC236}">
                <a16:creationId xmlns:a16="http://schemas.microsoft.com/office/drawing/2014/main" id="{E3507AD6-821D-AD35-A4E1-A9F435BE42A3}"/>
              </a:ext>
            </a:extLst>
          </p:cNvPr>
          <p:cNvSpPr txBox="1"/>
          <p:nvPr/>
        </p:nvSpPr>
        <p:spPr>
          <a:xfrm>
            <a:off x="2032000" y="5664200"/>
            <a:ext cx="7874000" cy="323165"/>
          </a:xfrm>
          <a:prstGeom prst="rect">
            <a:avLst/>
          </a:prstGeom>
          <a:noFill/>
        </p:spPr>
        <p:txBody>
          <a:bodyPr vert="horz" rtlCol="0">
            <a:spAutoFit/>
          </a:bodyPr>
          <a:lstStyle/>
          <a:p>
            <a:pPr algn="ctr"/>
            <a:r>
              <a:rPr lang="zh-CN" altLang="en-US" sz="1500" b="1">
                <a:solidFill>
                  <a:srgbClr val="1D3D66"/>
                </a:solidFill>
                <a:latin typeface="Microsoft YaHei" panose="020B0503020204020204" pitchFamily="34" charset="-122"/>
              </a:rPr>
              <a:t>碳积分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基础分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电价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电碳因子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水价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水碳因子</a:t>
            </a:r>
            <a:r>
              <a:rPr lang="en-US" altLang="zh-CN" sz="1500" b="1">
                <a:solidFill>
                  <a:srgbClr val="1D3D66"/>
                </a:solidFill>
                <a:latin typeface="Microsoft YaHei" panose="020B0503020204020204" pitchFamily="34" charset="-122"/>
              </a:rPr>
              <a:t>) × </a:t>
            </a:r>
            <a:r>
              <a:rPr lang="zh-CN" altLang="en-US" sz="1500" b="1">
                <a:solidFill>
                  <a:srgbClr val="1D3D66"/>
                </a:solidFill>
                <a:latin typeface="Microsoft YaHei" panose="020B0503020204020204" pitchFamily="34" charset="-122"/>
              </a:rPr>
              <a:t>碳排扣分系数</a:t>
            </a:r>
          </a:p>
        </p:txBody>
      </p:sp>
      <p:sp>
        <p:nvSpPr>
          <p:cNvPr id="44" name="RuleNoteText">
            <a:extLst>
              <a:ext uri="{FF2B5EF4-FFF2-40B4-BE49-F238E27FC236}">
                <a16:creationId xmlns:a16="http://schemas.microsoft.com/office/drawing/2014/main" id="{5923FA20-7250-F371-FD7D-27C79D34593B}"/>
              </a:ext>
            </a:extLst>
          </p:cNvPr>
          <p:cNvSpPr txBox="1"/>
          <p:nvPr/>
        </p:nvSpPr>
        <p:spPr>
          <a:xfrm>
            <a:off x="1905000" y="5994400"/>
            <a:ext cx="8128000" cy="230832"/>
          </a:xfrm>
          <a:prstGeom prst="rect">
            <a:avLst/>
          </a:prstGeom>
          <a:noFill/>
        </p:spPr>
        <p:txBody>
          <a:bodyPr vert="horz" rtlCol="0">
            <a:spAutoFit/>
          </a:bodyPr>
          <a:lstStyle/>
          <a:p>
            <a:pPr algn="ctr"/>
            <a:r>
              <a:rPr lang="zh-CN" altLang="en-US" sz="900">
                <a:solidFill>
                  <a:srgbClr val="5C6B7A"/>
                </a:solidFill>
                <a:latin typeface="Microsoft YaHei" panose="020B0503020204020204" pitchFamily="34" charset="-122"/>
              </a:rPr>
              <a:t>规则页支持示例水电费实时预览，配置修改后可立即看到积分与荣誉结果变化。</a:t>
            </a:r>
          </a:p>
        </p:txBody>
      </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14:bounceEnd="81000">
                                          <p:cBhvr additive="base">
                                            <p:cTn id="86"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1000" fill="hold"/>
                                            <p:tgtEl>
                                              <p:spTgt spid="50"/>
                                            </p:tgtEl>
                                            <p:attrNameLst>
                                              <p:attrName>ppt_x</p:attrName>
                                            </p:attrNameLst>
                                          </p:cBhvr>
                                          <p:tavLst>
                                            <p:tav tm="0">
                                              <p:val>
                                                <p:strVal val="#ppt_x"/>
                                              </p:val>
                                            </p:tav>
                                            <p:tav tm="100000">
                                              <p:val>
                                                <p:strVal val="#ppt_x"/>
                                              </p:val>
                                            </p:tav>
                                          </p:tavLst>
                                        </p:anim>
                                        <p:anim calcmode="lin" valueType="num">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8" name="文本框 27">
            <a:extLst>
              <a:ext uri="{FF2B5EF4-FFF2-40B4-BE49-F238E27FC236}">
                <a16:creationId xmlns:a16="http://schemas.microsoft.com/office/drawing/2014/main" id="{C8894F0B-4BAD-8E4B-AEEE-6C205C50BCC3}"/>
              </a:ext>
            </a:extLst>
          </p:cNvPr>
          <p:cNvSpPr txBox="1"/>
          <p:nvPr/>
        </p:nvSpPr>
        <p:spPr>
          <a:xfrm>
            <a:off x="8590900" y="1539605"/>
            <a:ext cx="2579344"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6000" b="0" i="0" u="none" strike="noStrike" kern="1200" cap="none" spc="0" normalizeH="0" baseline="0" noProof="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rPr>
              <a:t>2026</a:t>
            </a:r>
            <a:endParaRPr kumimoji="1" lang="zh-CN" altLang="en-US" sz="60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304092" y="2734294"/>
            <a:ext cx="6023483" cy="49244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600" b="1" i="0" u="none" strike="noStrike" kern="1200" cap="none" spc="0" normalizeH="0" baseline="0" noProof="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rPr>
              <a:t>阶段</a:t>
            </a:r>
            <a:r>
              <a:rPr kumimoji="1" lang="en-US" altLang="zh-CN" sz="2600" b="1" i="0" u="none" strike="noStrike" kern="1200" cap="none" spc="0" normalizeH="0" baseline="0" noProof="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rPr>
              <a:t>3-5</a:t>
            </a:r>
            <a:r>
              <a:rPr kumimoji="1" lang="zh-CN" altLang="en-US" sz="2600" b="1" i="0" u="none" strike="noStrike" kern="1200" cap="none" spc="0" normalizeH="0" baseline="0" noProof="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rPr>
              <a:t>完成</a:t>
            </a:r>
            <a:endParaRPr kumimoji="1" lang="zh-CN" altLang="en-US" sz="26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endParaRPr>
          </a:p>
        </p:txBody>
      </p:sp>
      <p:sp>
        <p:nvSpPr>
          <p:cNvPr id="30" name="文本框 29">
            <a:extLst>
              <a:ext uri="{FF2B5EF4-FFF2-40B4-BE49-F238E27FC236}">
                <a16:creationId xmlns:a16="http://schemas.microsoft.com/office/drawing/2014/main" id="{3FDB1FC5-D9E9-9B4B-A546-A273A91F9F00}"/>
              </a:ext>
            </a:extLst>
          </p:cNvPr>
          <p:cNvSpPr txBox="1"/>
          <p:nvPr/>
        </p:nvSpPr>
        <p:spPr>
          <a:xfrm>
            <a:off x="6405983" y="4260840"/>
            <a:ext cx="4829474" cy="316369"/>
          </a:xfrm>
          <a:prstGeom prst="rect">
            <a:avLst/>
          </a:prstGeom>
          <a:noFill/>
        </p:spPr>
        <p:txBody>
          <a:bodyPr wrap="square" rtlCol="0">
            <a:spAutoFit/>
          </a:bodyPr>
          <a:lstStyle/>
          <a:p>
            <a:pPr lvl="0" algn="r">
              <a:lnSpc>
                <a:spcPct val="150000"/>
              </a:lnSpc>
            </a:pP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31" name="直接连接符 30">
            <a:extLst>
              <a:ext uri="{FF2B5EF4-FFF2-40B4-BE49-F238E27FC236}">
                <a16:creationId xmlns:a16="http://schemas.microsoft.com/office/drawing/2014/main" id="{4DD67D3E-71E8-4634-99E5-40D344914B9C}"/>
              </a:ext>
            </a:extLst>
          </p:cNvPr>
          <p:cNvCxnSpPr/>
          <p:nvPr/>
        </p:nvCxnSpPr>
        <p:spPr>
          <a:xfrm>
            <a:off x="8647782" y="1605999"/>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374571"/>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后台 </a:t>
            </a:r>
            <a:r>
              <a:rPr kumimoji="1" lang="en-US" altLang="zh-CN"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 </a:t>
            </a:r>
            <a:r>
              <a:rPr kumimoji="1" lang="zh-CN" altLang="en-US"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体验 </a:t>
            </a:r>
            <a:r>
              <a:rPr kumimoji="1" lang="en-US" altLang="zh-CN"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 </a:t>
            </a:r>
            <a:r>
              <a:rPr kumimoji="1" lang="zh-CN" altLang="en-US" sz="16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规范</a:t>
            </a:r>
            <a:endParaRPr kumimoji="1" lang="zh-CN" altLang="en-US" sz="1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文本框 34">
            <a:extLst>
              <a:ext uri="{FF2B5EF4-FFF2-40B4-BE49-F238E27FC236}">
                <a16:creationId xmlns:a16="http://schemas.microsoft.com/office/drawing/2014/main" id="{61281355-28D8-4C3B-A490-D90A8631444D}"/>
              </a:ext>
            </a:extLst>
          </p:cNvPr>
          <p:cNvSpPr txBox="1"/>
          <p:nvPr/>
        </p:nvSpPr>
        <p:spPr>
          <a:xfrm>
            <a:off x="5688710" y="3849473"/>
            <a:ext cx="5628973" cy="462819"/>
          </a:xfrm>
          <a:prstGeom prst="rect">
            <a:avLst/>
          </a:prstGeom>
          <a:noFill/>
        </p:spPr>
        <p:txBody>
          <a:bodyPr wrap="square" rtlCol="0">
            <a:spAutoFit/>
          </a:bodyPr>
          <a:lstStyle/>
          <a:p>
            <a:pPr lvl="0" algn="r">
              <a:lnSpc>
                <a:spcPct val="150000"/>
              </a:lnSpc>
            </a:pPr>
            <a:endParaRPr kumimoji="0" lang="en" altLang="zh-CN"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Tree>
    <p:extLst>
      <p:ext uri="{BB962C8B-B14F-4D97-AF65-F5344CB8AC3E}">
        <p14:creationId xmlns:p14="http://schemas.microsoft.com/office/powerpoint/2010/main" val="3930043230"/>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par>
                          <p:cTn id="49" fill="hold">
                            <p:stCondLst>
                              <p:cond delay="2000"/>
                            </p:stCondLst>
                            <p:childTnLst>
                              <p:par>
                                <p:cTn id="50" presetID="22" presetClass="entr" presetSubtype="2"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right)">
                                      <p:cBhvr>
                                        <p:cTn id="52" dur="500"/>
                                        <p:tgtEl>
                                          <p:spTgt spid="28"/>
                                        </p:tgtEl>
                                      </p:cBhvr>
                                    </p:animEffect>
                                  </p:childTnLst>
                                </p:cTn>
                              </p:par>
                              <p:par>
                                <p:cTn id="53" presetID="22" presetClass="entr" presetSubtype="2"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right)">
                                      <p:cBhvr>
                                        <p:cTn id="55" dur="500"/>
                                        <p:tgtEl>
                                          <p:spTgt spid="31"/>
                                        </p:tgtEl>
                                      </p:cBhvr>
                                    </p:animEffect>
                                  </p:childTnLst>
                                </p:cTn>
                              </p:par>
                              <p:par>
                                <p:cTn id="56" presetID="22" presetClass="entr" presetSubtype="2"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right)">
                                      <p:cBhvr>
                                        <p:cTn id="58" dur="500"/>
                                        <p:tgtEl>
                                          <p:spTgt spid="32"/>
                                        </p:tgtEl>
                                      </p:cBhvr>
                                    </p:animEffect>
                                  </p:childTnLst>
                                </p:cTn>
                              </p:par>
                            </p:childTnLst>
                          </p:cTn>
                        </p:par>
                        <p:par>
                          <p:cTn id="59" fill="hold">
                            <p:stCondLst>
                              <p:cond delay="2500"/>
                            </p:stCondLst>
                            <p:childTnLst>
                              <p:par>
                                <p:cTn id="60" presetID="53" presetClass="entr" presetSubtype="16"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fltVal val="0"/>
                                          </p:val>
                                        </p:tav>
                                        <p:tav tm="100000">
                                          <p:val>
                                            <p:strVal val="#ppt_w"/>
                                          </p:val>
                                        </p:tav>
                                      </p:tavLst>
                                    </p:anim>
                                    <p:anim calcmode="lin" valueType="num">
                                      <p:cBhvr>
                                        <p:cTn id="63" dur="500" fill="hold"/>
                                        <p:tgtEl>
                                          <p:spTgt spid="29"/>
                                        </p:tgtEl>
                                        <p:attrNameLst>
                                          <p:attrName>ppt_h</p:attrName>
                                        </p:attrNameLst>
                                      </p:cBhvr>
                                      <p:tavLst>
                                        <p:tav tm="0">
                                          <p:val>
                                            <p:fltVal val="0"/>
                                          </p:val>
                                        </p:tav>
                                        <p:tav tm="100000">
                                          <p:val>
                                            <p:strVal val="#ppt_h"/>
                                          </p:val>
                                        </p:tav>
                                      </p:tavLst>
                                    </p:anim>
                                    <p:animEffect transition="in" filter="fade">
                                      <p:cBhvr>
                                        <p:cTn id="64" dur="5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nodePh="1">
                                  <p:stCondLst>
                                    <p:cond delay="0"/>
                                  </p:stCondLst>
                                  <p:endCondLst>
                                    <p:cond evt="begin" delay="0">
                                      <p:tn val="67"/>
                                    </p:cond>
                                  </p:endCondLst>
                                  <p:childTnLst>
                                    <p:set>
                                      <p:cBhvr>
                                        <p:cTn id="68" dur="1" fill="hold">
                                          <p:stCondLst>
                                            <p:cond delay="0"/>
                                          </p:stCondLst>
                                        </p:cTn>
                                        <p:tgtEl>
                                          <p:spTgt spid="35"/>
                                        </p:tgtEl>
                                        <p:attrNameLst>
                                          <p:attrName>style.visibility</p:attrName>
                                        </p:attrNameLst>
                                      </p:cBhvr>
                                      <p:to>
                                        <p:strVal val="visible"/>
                                      </p:to>
                                    </p:set>
                                    <p:animEffect transition="in" filter="barn(inVertical)">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nodePh="1">
                                  <p:stCondLst>
                                    <p:cond delay="0"/>
                                  </p:stCondLst>
                                  <p:endCondLst>
                                    <p:cond evt="begin" delay="0">
                                      <p:tn val="72"/>
                                    </p:cond>
                                  </p:endCondLst>
                                  <p:childTnLst>
                                    <p:set>
                                      <p:cBhvr>
                                        <p:cTn id="73" dur="1" fill="hold">
                                          <p:stCondLst>
                                            <p:cond delay="0"/>
                                          </p:stCondLst>
                                        </p:cTn>
                                        <p:tgtEl>
                                          <p:spTgt spid="30"/>
                                        </p:tgtEl>
                                        <p:attrNameLst>
                                          <p:attrName>style.visibility</p:attrName>
                                        </p:attrNameLst>
                                      </p:cBhvr>
                                      <p:to>
                                        <p:strVal val="visible"/>
                                      </p:to>
                                    </p:set>
                                    <p:animEffect transition="in" filter="wipe(down)">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 calcmode="lin" valueType="num">
                                      <p:cBhvr>
                                        <p:cTn id="79" dur="500" fill="hold"/>
                                        <p:tgtEl>
                                          <p:spTgt spid="33"/>
                                        </p:tgtEl>
                                        <p:attrNameLst>
                                          <p:attrName>ppt_w</p:attrName>
                                        </p:attrNameLst>
                                      </p:cBhvr>
                                      <p:tavLst>
                                        <p:tav tm="0">
                                          <p:val>
                                            <p:fltVal val="0"/>
                                          </p:val>
                                        </p:tav>
                                        <p:tav tm="100000">
                                          <p:val>
                                            <p:strVal val="#ppt_w"/>
                                          </p:val>
                                        </p:tav>
                                      </p:tavLst>
                                    </p:anim>
                                    <p:anim calcmode="lin" valueType="num">
                                      <p:cBhvr>
                                        <p:cTn id="80" dur="500" fill="hold"/>
                                        <p:tgtEl>
                                          <p:spTgt spid="33"/>
                                        </p:tgtEl>
                                        <p:attrNameLst>
                                          <p:attrName>ppt_h</p:attrName>
                                        </p:attrNameLst>
                                      </p:cBhvr>
                                      <p:tavLst>
                                        <p:tav tm="0">
                                          <p:val>
                                            <p:fltVal val="0"/>
                                          </p:val>
                                        </p:tav>
                                        <p:tav tm="100000">
                                          <p:val>
                                            <p:strVal val="#ppt_h"/>
                                          </p:val>
                                        </p:tav>
                                      </p:tavLst>
                                    </p:anim>
                                    <p:animEffect transition="in" filter="fade">
                                      <p:cBhvr>
                                        <p:cTn id="81" dur="500"/>
                                        <p:tgtEl>
                                          <p:spTgt spid="33"/>
                                        </p:tgtEl>
                                      </p:cBhvr>
                                    </p:animEffect>
                                  </p:childTnLst>
                                </p:cTn>
                              </p:par>
                            </p:childTnLst>
                          </p:cTn>
                        </p:par>
                        <p:par>
                          <p:cTn id="82" fill="hold">
                            <p:stCondLst>
                              <p:cond delay="500"/>
                            </p:stCondLst>
                            <p:childTnLst>
                              <p:par>
                                <p:cTn id="83" presetID="10" presetClass="entr" presetSubtype="0" fill="hold" grpId="0" nodeType="after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8" grpId="0"/>
      <p:bldP spid="29" grpId="0"/>
      <p:bldP spid="30" grpId="0"/>
      <p:bldP spid="33" grpId="0" animBg="1"/>
      <p:bldP spid="35" grpId="0"/>
      <p:bldP spid="2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工作总结汇报公司介绍产品宣传品牌展示企业文化PPT模板.pptx"/>
</p:tagLst>
</file>

<file path=ppt/theme/theme1.xml><?xml version="1.0" encoding="utf-8"?>
<a:theme xmlns:a="http://schemas.openxmlformats.org/drawingml/2006/main" name="第一PPT，www.1ppt.com​​">
  <a:themeElements>
    <a:clrScheme name="自定义 1252">
      <a:dk1>
        <a:sysClr val="windowText" lastClr="000000"/>
      </a:dk1>
      <a:lt1>
        <a:sysClr val="window" lastClr="FFFFFF"/>
      </a:lt1>
      <a:dk2>
        <a:srgbClr val="5A6378"/>
      </a:dk2>
      <a:lt2>
        <a:srgbClr val="7F7F7F"/>
      </a:lt2>
      <a:accent1>
        <a:srgbClr val="5ABA98"/>
      </a:accent1>
      <a:accent2>
        <a:srgbClr val="5ABA98"/>
      </a:accent2>
      <a:accent3>
        <a:srgbClr val="5ABA98"/>
      </a:accent3>
      <a:accent4>
        <a:srgbClr val="5ABA98"/>
      </a:accent4>
      <a:accent5>
        <a:srgbClr val="5ABA98"/>
      </a:accent5>
      <a:accent6>
        <a:srgbClr val="5ABA98"/>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456</TotalTime>
  <Words>1450</Words>
  <Application>Microsoft Office PowerPoint</Application>
  <PresentationFormat>宽屏</PresentationFormat>
  <Paragraphs>234</Paragraphs>
  <Slides>24</Slides>
  <Notes>24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24</vt:i4>
      </vt:variant>
    </vt:vector>
  </HeadingPairs>
  <TitlesOfParts>
    <vt:vector size="38" baseType="lpstr">
      <vt:lpstr>Color Emoji</vt:lpstr>
      <vt:lpstr>zihun95hao-shoukesong</vt:lpstr>
      <vt:lpstr>DengXian</vt:lpstr>
      <vt:lpstr>DengXian</vt:lpstr>
      <vt:lpstr>等线 Light</vt:lpstr>
      <vt:lpstr>思源黑体 CN Heavy</vt:lpstr>
      <vt:lpstr>思源黑体 CN Normal</vt:lpstr>
      <vt:lpstr>思源黑体 HW Bold</vt:lpstr>
      <vt:lpstr>Microsoft YaHei</vt:lpstr>
      <vt:lpstr>Microsoft YaHei</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企业年终总结</dc:title>
  <dc:creator>第一PPT，www.1ppt.com</dc:creator>
  <cp:keywords>www.1ppt.com</cp:keywords>
  <dc:description>第一PPT</dc:description>
  <cp:lastModifiedBy>涛峰 张</cp:lastModifiedBy>
  <cp:revision>39</cp:revision>
  <dcterms:created xsi:type="dcterms:W3CDTF">2018-12-15T23:49:53Z</dcterms:created>
  <dcterms:modified xsi:type="dcterms:W3CDTF">2026-05-14T00:15:35Z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